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slide fills. — That was under a hundred milliseconds. That is not the animation timing; it is the measured cold start of the editor I am presenting. Valence is a code editor written from scratch in C++17 on Qt6. Twenty-two source files, no Electron, no interpreter.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of scope before the argument starts. Valence is a code editor written from scratch in C++17 on Qt6. The left column is what I implemented; the right column is what Qt would have given me for free and I chose not to take. Every item on the right would have saved me time and cost me a performance property I will measure later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drawn to scale — one inch is forty megabytes. VS Code is the wide bar. Valence is the stub below it. Same machine, same ruler. The point is not that VS Code is badly written; it is that it ships a browser engine to render plain text, and you pay for that at idle.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systems, three different answers. Note the memory row — Neovim uses comparable RAM to Valence and I am not going to pretend otherwise. The difference is the paint path. Neovim renders through a terminal emulator and a PTY; Valence draws with QPainter straight onto its own widget surface. And the buffer row is the one I will defend on slide six: I did not build a rope, and that was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objectives, each falsifiable. A goal you cannot fail is not a goal. Note O4 — it is a complexity claim, not a speed claim: paint cost must not grow with file size. That one drove the entire data structure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strict downward dependency. Theme is header-only — colours and font metrics. Core is the document model: buffer, undo, selection. Editor owns rendering and input. UI is the shell. The UI layer never touches TextBuffer directly; every mutation goes through EditorWidget. That constraint is what made the undo system possible to reason about.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entire document model. A vector of strings, one string per line, no newline characters stored. Insert is linear in the length of one line. Random access to any line is a single index. Hold that second property — everything on the next two slides comes out of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forty-three characters, three possible homes. The rope wins on insertion and loses on access. My renderer does fifty line lookups per frame at sixty frames a second — three thousand lookups a second — and mid-line insertion happens at most a few times a second. Access cost dominates. I chose the structure that is O(1) on the hot path, not the one that looks more impressive on a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O(1) access bought. Every frame I compute the first visible row by dividing the scroll offset by the character height — one division, because the font is monospace and every line is the same height. Then I draw only that window. Forty-two lines, whatever the file size. A hundred-thousand-line file costs exactly the same as this one. That is objective four, and it falls straight out of choosing the so-called naive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undo stores copies of the document. Command-pattern undo stores the operation. Eighty bytes an edit instead of the whole file. The part I am proud of is the grouping: five keystrokes inside four hundred milliseconds, adjacent columns, same action type, no whitespace boundary — seven conditions — collapse into one undo unit. So one Ctrl+Z removes the word 'hello', not the letter 'o'. Four hundred milliseconds is the gap between typing bursts; fast typists sit around a hundred.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Feasibility was not a formality here — the schedule row decided the architecture. A rope is one to two weeks of work with tree balancing to debug; a line array is a day. That freed the time to write a real paint loop and a real undo engine instead, which is where the measurable properties came from. Economically there is nothing to report: Qt6 under LGPL, CMake and g++ are all free, and there is no runtime to license.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Rust was the real alternative and I will take questions on it. An intrusive tree with parent pointers fights the borrow checker, and I would have spent this project writing unsafe blocks instead of writing the editor. QTextEdit was the other real alternative — it would have saved seven hundred lines and cost me every performance property on slide ten, because its render pipeline is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one took the longest. The editor would hang for a second or two and then die with no useful stack. The cause was that QAction shortcuts fire before widget event handlers, and sendEvent re-enters the same dispatch pipeline — so the menu shortcut kept catching its own synthetic event. Finding it meant reading Qt's event dispatch order properly. I have also listed the debt I have not paid: the const_cast, the O(N) comment rescan, and the missing tests.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three numbers have been in the corner of every slide for the last six minutes. Here is where the seven milliseconds actually go: paint dominates at five, compositing takes one, and everything I wrote — the buffer insert, the undo record, the comment rescan — comes to two tenths of a millisecond combined. Measured with QElapsedTimer from keyPressEvent entry to paintEvent exit. The honest reading is that I am well inside the frame budget with ten milliseconds spare.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version of the pitch. Sub-seven-millisecond latency does not win a contest — the number is far too small to matter against a two-hour clock. What matters is that the loop never stalls: no garbage collector pause mid-keystroke, and a cold start fast enough that relaunching costs nothing. The compiler is the bottleneck, and it should be. My job was to stop being in the way.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honest limit of what I built. The line array holds to roughly a hundred thousand lines. What breaks first is not the buffer — it is rebuildCommentState, which rescans the whole document after every keystroke to track multi-line comments. At half a million lines that is ten milliseconds a keypress and the frame budget is gone. So the roadmap is ordered by what the measurements say, not by what sounds impressive: incremental rescan first, language server second, piece table last.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objectives met and measured. The conclusion I want to leave you with is the sentence on the bottom half: the speed is not a property of the language. C++ does not make software fast on its own. The speed came from deleting four layers and then measuring what was left, and every number here rebuilds from a clean clone.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of these shaped design decisions directly. Boehm and Crowley are the source for the buffer comparison on slide seven — I read them, and then chose against the rope for reasons I have already given. Gamma is the command pattern behind the undo engine. Aho is the lexer. Happy to take questions on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 — and if nobody starts, the three on the right are the ones I most want to be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9063445" y="365760"/>
            <a:ext cx="2519258" cy="96012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TextBox 3"/>
          <p:cNvSpPr txBox="1"/>
          <p:nvPr/>
        </p:nvSpPr>
        <p:spPr>
          <a:xfrm>
            <a:off x="609904" y="1051560"/>
            <a:ext cx="3657600" cy="434340"/>
          </a:xfrm>
          <a:prstGeom prst="rect">
            <a:avLst/>
          </a:prstGeom>
          <a:noFill/>
        </p:spPr>
        <p:txBody>
          <a:bodyPr wrap="none" lIns="0" rIns="0" tIns="0" bIns="0" anchor="t">
            <a:noAutofit/>
          </a:bodyPr>
          <a:lstStyle/>
          <a:p>
            <a:pPr algn="l">
              <a:lnSpc>
                <a:spcPct val="135000"/>
              </a:lnSpc>
            </a:pPr>
            <a:r>
              <a:rPr sz="2000" b="0">
                <a:solidFill>
                  <a:srgbClr val="A1A1A6"/>
                </a:solidFill>
                <a:latin typeface="JetBrains Mono"/>
                <a:cs typeface="JetBrains Mono"/>
                <a:ea typeface="JetBrains Mono"/>
              </a:rPr>
              <a:t>$ </a:t>
            </a:r>
            <a:r>
              <a:rPr sz="2000" b="0">
                <a:solidFill>
                  <a:srgbClr val="6E6E73"/>
                </a:solidFill>
                <a:latin typeface="JetBrains Mono"/>
                <a:cs typeface="JetBrains Mono"/>
                <a:ea typeface="JetBrains Mono"/>
              </a:rPr>
              <a:t>./valence</a:t>
            </a:r>
          </a:p>
        </p:txBody>
      </p:sp>
      <p:sp>
        <p:nvSpPr>
          <p:cNvPr id="5" name="!!wordmark"/>
          <p:cNvSpPr txBox="1"/>
          <p:nvPr/>
        </p:nvSpPr>
        <p:spPr>
          <a:xfrm>
            <a:off x="609904" y="1645920"/>
            <a:ext cx="7772400" cy="1417320"/>
          </a:xfrm>
          <a:prstGeom prst="rect">
            <a:avLst/>
          </a:prstGeom>
          <a:noFill/>
        </p:spPr>
        <p:txBody>
          <a:bodyPr wrap="none" lIns="0" rIns="0" tIns="0" bIns="0" anchor="t">
            <a:noAutofit/>
          </a:bodyPr>
          <a:lstStyle/>
          <a:p>
            <a:pPr algn="l">
              <a:lnSpc>
                <a:spcPct val="100000"/>
              </a:lnSpc>
            </a:pPr>
            <a:r>
              <a:rPr sz="8800" b="1">
                <a:solidFill>
                  <a:srgbClr val="1D1D1F"/>
                </a:solidFill>
                <a:latin typeface="JetBrains Mono"/>
                <a:cs typeface="JetBrains Mono"/>
                <a:ea typeface="JetBrains Mono"/>
              </a:rPr>
              <a:t>VALENCE</a:t>
            </a:r>
          </a:p>
        </p:txBody>
      </p:sp>
      <p:sp>
        <p:nvSpPr>
          <p:cNvPr id="6" name="TextBox 5"/>
          <p:cNvSpPr txBox="1"/>
          <p:nvPr/>
        </p:nvSpPr>
        <p:spPr>
          <a:xfrm>
            <a:off x="609904" y="3218688"/>
            <a:ext cx="8229600" cy="502920"/>
          </a:xfrm>
          <a:prstGeom prst="rect">
            <a:avLst/>
          </a:prstGeom>
          <a:noFill/>
        </p:spPr>
        <p:txBody>
          <a:bodyPr wrap="none" lIns="0" rIns="0" tIns="0" bIns="0" anchor="t">
            <a:noAutofit/>
          </a:bodyPr>
          <a:lstStyle/>
          <a:p>
            <a:pPr algn="l">
              <a:lnSpc>
                <a:spcPct val="100000"/>
              </a:lnSpc>
            </a:pPr>
            <a:r>
              <a:rPr sz="2600" b="0">
                <a:solidFill>
                  <a:srgbClr val="6E6E73"/>
                </a:solidFill>
                <a:latin typeface="Inter"/>
                <a:cs typeface="Inter"/>
                <a:ea typeface="Inter"/>
              </a:rPr>
              <a:t>A code editor with no runtime.</a:t>
            </a:r>
          </a:p>
        </p:txBody>
      </p:sp>
      <p:sp>
        <p:nvSpPr>
          <p:cNvPr id="7" name="Rectangle 6"/>
          <p:cNvSpPr/>
          <p:nvPr/>
        </p:nvSpPr>
        <p:spPr>
          <a:xfrm>
            <a:off x="609904" y="4023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904" y="4617720"/>
            <a:ext cx="5486400" cy="1122680"/>
          </a:xfrm>
          <a:prstGeom prst="rect">
            <a:avLst/>
          </a:prstGeom>
          <a:noFill/>
        </p:spPr>
        <p:txBody>
          <a:bodyPr wrap="none" lIns="0" rIns="0" tIns="0" bIns="0" anchor="t">
            <a:noAutofit/>
          </a:bodyPr>
          <a:lstStyle/>
          <a:p>
            <a:pPr algn="l">
              <a:lnSpc>
                <a:spcPct val="145000"/>
              </a:lnSpc>
            </a:pPr>
            <a:r>
              <a:rPr sz="1400" b="0">
                <a:solidFill>
                  <a:srgbClr val="A1A1A6"/>
                </a:solidFill>
                <a:latin typeface="JetBrains Mono"/>
                <a:cs typeface="JetBrains Mono"/>
                <a:ea typeface="JetBrains Mono"/>
              </a:rPr>
              <a:t>author    </a:t>
            </a:r>
            <a:r>
              <a:rPr sz="1400" b="0">
                <a:solidFill>
                  <a:srgbClr val="1D1D1F"/>
                </a:solidFill>
                <a:latin typeface="JetBrains Mono"/>
                <a:cs typeface="JetBrains Mono"/>
                <a:ea typeface="JetBrains Mono"/>
              </a:rPr>
              <a:t>Sudhanshu Shukla</a:t>
            </a:r>
          </a:p>
          <a:p>
            <a:pPr algn="l">
              <a:lnSpc>
                <a:spcPct val="145000"/>
              </a:lnSpc>
            </a:pPr>
            <a:r>
              <a:rPr sz="1400" b="0">
                <a:solidFill>
                  <a:srgbClr val="A1A1A6"/>
                </a:solidFill>
                <a:latin typeface="JetBrains Mono"/>
                <a:cs typeface="JetBrains Mono"/>
                <a:ea typeface="JetBrains Mono"/>
              </a:rPr>
              <a:t>roll_no   </a:t>
            </a:r>
            <a:r>
              <a:rPr sz="1400" b="0">
                <a:solidFill>
                  <a:srgbClr val="1D1D1F"/>
                </a:solidFill>
                <a:latin typeface="JetBrains Mono"/>
                <a:cs typeface="JetBrains Mono"/>
                <a:ea typeface="JetBrains Mono"/>
              </a:rPr>
              <a:t>2301331530176</a:t>
            </a:r>
          </a:p>
          <a:p>
            <a:pPr algn="l">
              <a:lnSpc>
                <a:spcPct val="145000"/>
              </a:lnSpc>
            </a:pPr>
            <a:r>
              <a:rPr sz="1400" b="0">
                <a:solidFill>
                  <a:srgbClr val="A1A1A6"/>
                </a:solidFill>
                <a:latin typeface="JetBrains Mono"/>
                <a:cs typeface="JetBrains Mono"/>
                <a:ea typeface="JetBrains Mono"/>
              </a:rPr>
              <a:t>branch    </a:t>
            </a:r>
            <a:r>
              <a:rPr sz="1400" b="0">
                <a:solidFill>
                  <a:srgbClr val="1D1D1F"/>
                </a:solidFill>
                <a:latin typeface="JetBrains Mono"/>
                <a:cs typeface="JetBrains Mono"/>
                <a:ea typeface="JetBrains Mono"/>
              </a:rPr>
              <a:t>AIML C</a:t>
            </a:r>
          </a:p>
          <a:p>
            <a:pPr algn="l">
              <a:lnSpc>
                <a:spcPct val="145000"/>
              </a:lnSpc>
            </a:pPr>
            <a:r>
              <a:rPr sz="1400" b="0">
                <a:solidFill>
                  <a:srgbClr val="A1A1A6"/>
                </a:solidFill>
                <a:latin typeface="JetBrains Mono"/>
                <a:cs typeface="JetBrains Mono"/>
                <a:ea typeface="JetBrains Mono"/>
              </a:rPr>
              <a:t>mentor    </a:t>
            </a:r>
            <a:r>
              <a:rPr sz="1400" b="0">
                <a:solidFill>
                  <a:srgbClr val="1D1D1F"/>
                </a:solidFill>
                <a:latin typeface="JetBrains Mono"/>
                <a:cs typeface="JetBrains Mono"/>
                <a:ea typeface="JetBrains Mono"/>
              </a:rPr>
              <a:t>Mr. Faizan Ahmad</a:t>
            </a:r>
          </a:p>
        </p:txBody>
      </p:sp>
      <p:sp>
        <p:nvSpPr>
          <p:cNvPr id="9" name="TextBox 8"/>
          <p:cNvSpPr txBox="1"/>
          <p:nvPr/>
        </p:nvSpPr>
        <p:spPr>
          <a:xfrm>
            <a:off x="7010704" y="4617720"/>
            <a:ext cx="4572000" cy="1121664"/>
          </a:xfrm>
          <a:prstGeom prst="rect">
            <a:avLst/>
          </a:prstGeom>
          <a:noFill/>
        </p:spPr>
        <p:txBody>
          <a:bodyPr wrap="none" lIns="0" rIns="0" tIns="0" bIns="0" anchor="t">
            <a:noAutofit/>
          </a:bodyPr>
          <a:lstStyle/>
          <a:p>
            <a:pPr algn="r">
              <a:lnSpc>
                <a:spcPct val="156000"/>
              </a:lnSpc>
            </a:pPr>
            <a:r>
              <a:rPr sz="1300" b="0">
                <a:solidFill>
                  <a:srgbClr val="A1A1A6"/>
                </a:solidFill>
                <a:latin typeface="JetBrains Mono"/>
                <a:cs typeface="JetBrains Mono"/>
                <a:ea typeface="JetBrains Mono"/>
              </a:rPr>
              <a:t>c++17  ·  qt6 widgets</a:t>
            </a:r>
          </a:p>
          <a:p>
            <a:pPr algn="r">
              <a:lnSpc>
                <a:spcPct val="156000"/>
              </a:lnSpc>
            </a:pPr>
            <a:r>
              <a:rPr sz="1300" b="0">
                <a:solidFill>
                  <a:srgbClr val="A1A1A6"/>
                </a:solidFill>
                <a:latin typeface="JetBrains Mono"/>
                <a:cs typeface="JetBrains Mono"/>
                <a:ea typeface="JetBrains Mono"/>
              </a:rPr>
              <a:t>2,500+ loc  ·  22 files</a:t>
            </a:r>
          </a:p>
          <a:p>
            <a:pPr algn="r">
              <a:lnSpc>
                <a:spcPct val="156000"/>
              </a:lnSpc>
            </a:pPr>
            <a:r>
              <a:rPr sz="1300" b="0">
                <a:solidFill>
                  <a:srgbClr val="A1A1A6"/>
                </a:solidFill>
                <a:latin typeface="JetBrains Mono"/>
                <a:cs typeface="JetBrains Mono"/>
                <a:ea typeface="JetBrains Mono"/>
              </a:rPr>
              <a:t>0 external dependencies</a:t>
            </a:r>
          </a:p>
          <a:p>
            <a:pPr algn="r">
              <a:lnSpc>
                <a:spcPct val="156000"/>
              </a:lnSpc>
            </a:pPr>
            <a:r>
              <a:rPr sz="1300" b="0">
                <a:solidFill>
                  <a:srgbClr val="A1A1A6"/>
                </a:solidFill>
                <a:latin typeface="JetBrains Mono"/>
                <a:cs typeface="JetBrains Mono"/>
                <a:ea typeface="JetBrains Mono"/>
              </a:rPr>
              <a:t>windows x64  ·  cmake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/README.md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02 / 17      0 errors</a:t>
            </a:r>
          </a:p>
        </p:txBody>
      </p:sp>
      <p:sp>
        <p:nvSpPr>
          <p:cNvPr id="8" name="TextBox 7"/>
          <p:cNvSpPr txBox="1"/>
          <p:nvPr/>
        </p:nvSpPr>
        <p:spPr>
          <a:xfrm>
            <a:off x="609904" y="1051560"/>
            <a:ext cx="10058400" cy="813816"/>
          </a:xfrm>
          <a:prstGeom prst="rect">
            <a:avLst/>
          </a:prstGeom>
          <a:noFill/>
        </p:spPr>
        <p:txBody>
          <a:bodyPr wrap="none" lIns="0" rIns="0" tIns="0" bIns="0" anchor="t">
            <a:noAutofit/>
          </a:bodyPr>
          <a:lstStyle/>
          <a:p>
            <a:pPr algn="l">
              <a:lnSpc>
                <a:spcPct val="100000"/>
              </a:lnSpc>
            </a:pPr>
            <a:r>
              <a:rPr sz="4000" b="1">
                <a:solidFill>
                  <a:srgbClr val="1D1D1F"/>
                </a:solidFill>
                <a:latin typeface="Inter"/>
                <a:cs typeface="Inter"/>
                <a:ea typeface="Inter"/>
              </a:rPr>
              <a:t>What Valence Is</a:t>
            </a:r>
          </a:p>
        </p:txBody>
      </p:sp>
      <p:sp>
        <p:nvSpPr>
          <p:cNvPr id="9" name="TextBox 8"/>
          <p:cNvSpPr txBox="1"/>
          <p:nvPr/>
        </p:nvSpPr>
        <p:spPr>
          <a:xfrm>
            <a:off x="609904" y="1737360"/>
            <a:ext cx="10515600" cy="685800"/>
          </a:xfrm>
          <a:prstGeom prst="rect">
            <a:avLst/>
          </a:prstGeom>
          <a:noFill/>
        </p:spPr>
        <p:txBody>
          <a:bodyPr wrap="square" lIns="0" rIns="0" tIns="0" bIns="0" anchor="t">
            <a:noAutofit/>
          </a:bodyPr>
          <a:lstStyle/>
          <a:p>
            <a:pPr algn="l">
              <a:lnSpc>
                <a:spcPct val="145000"/>
              </a:lnSpc>
            </a:pPr>
            <a:r>
              <a:rPr sz="1600" b="0">
                <a:solidFill>
                  <a:srgbClr val="6E6E73"/>
                </a:solidFill>
                <a:latin typeface="Inter"/>
                <a:cs typeface="Inter"/>
                <a:ea typeface="Inter"/>
              </a:rPr>
              <a:t>A code editor implemented from scratch in C++17 on Qt6 Widgets — its own text buffer, paint loop, undo engine and C++ lexer. No browser engine, no interpreter, no third-party editing widget.</a:t>
            </a:r>
          </a:p>
        </p:txBody>
      </p:sp>
      <p:sp>
        <p:nvSpPr>
          <p:cNvPr id="10" name="Rectangle 9"/>
          <p:cNvSpPr/>
          <p:nvPr/>
        </p:nvSpPr>
        <p:spPr>
          <a:xfrm>
            <a:off x="609904" y="2724912"/>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904" y="2825496"/>
            <a:ext cx="36576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implemented in this project</a:t>
            </a:r>
          </a:p>
        </p:txBody>
      </p:sp>
      <p:sp>
        <p:nvSpPr>
          <p:cNvPr id="12" name="TextBox 11"/>
          <p:cNvSpPr txBox="1"/>
          <p:nvPr/>
        </p:nvSpPr>
        <p:spPr>
          <a:xfrm>
            <a:off x="6279184" y="2825496"/>
            <a:ext cx="36576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deliberately not used</a:t>
            </a:r>
          </a:p>
        </p:txBody>
      </p:sp>
      <p:sp>
        <p:nvSpPr>
          <p:cNvPr id="13" name="TextBox 12"/>
          <p:cNvSpPr txBox="1"/>
          <p:nvPr/>
        </p:nvSpPr>
        <p:spPr>
          <a:xfrm>
            <a:off x="609904" y="3172968"/>
            <a:ext cx="5394960" cy="310896"/>
          </a:xfrm>
          <a:prstGeom prst="rect">
            <a:avLst/>
          </a:prstGeom>
          <a:noFill/>
        </p:spPr>
        <p:txBody>
          <a:bodyPr wrap="none" lIns="0" rIns="0" tIns="0" bIns="0" anchor="t">
            <a:noAutofit/>
          </a:bodyPr>
          <a:lstStyle/>
          <a:p>
            <a:pPr algn="l">
              <a:lnSpc>
                <a:spcPct val="100000"/>
              </a:lnSpc>
            </a:pPr>
            <a:r>
              <a:rPr sz="1500" b="0">
                <a:solidFill>
                  <a:srgbClr val="1D1D1F"/>
                </a:solidFill>
                <a:latin typeface="Inter"/>
                <a:cs typeface="Inter"/>
                <a:ea typeface="Inter"/>
              </a:rPr>
              <a:t>TextBuffer — line-array document model</a:t>
            </a:r>
          </a:p>
        </p:txBody>
      </p:sp>
      <p:sp>
        <p:nvSpPr>
          <p:cNvPr id="14" name="TextBox 13"/>
          <p:cNvSpPr txBox="1"/>
          <p:nvPr/>
        </p:nvSpPr>
        <p:spPr>
          <a:xfrm>
            <a:off x="6279184" y="3172968"/>
            <a:ext cx="5120640" cy="310896"/>
          </a:xfrm>
          <a:prstGeom prst="rect">
            <a:avLst/>
          </a:prstGeom>
          <a:noFill/>
        </p:spPr>
        <p:txBody>
          <a:bodyPr wrap="none" lIns="0" rIns="0" tIns="0" bIns="0" anchor="t">
            <a:noAutofit/>
          </a:bodyPr>
          <a:lstStyle/>
          <a:p>
            <a:pPr algn="l">
              <a:lnSpc>
                <a:spcPct val="100000"/>
              </a:lnSpc>
            </a:pPr>
            <a:r>
              <a:rPr sz="1500" b="0">
                <a:solidFill>
                  <a:srgbClr val="A1A1A6"/>
                </a:solidFill>
                <a:latin typeface="Inter"/>
                <a:cs typeface="Inter"/>
                <a:ea typeface="Inter"/>
              </a:rPr>
              <a:t>QTextEdit  ·  QPlainTextEdit</a:t>
            </a:r>
          </a:p>
        </p:txBody>
      </p:sp>
      <p:sp>
        <p:nvSpPr>
          <p:cNvPr id="15" name="TextBox 14"/>
          <p:cNvSpPr txBox="1"/>
          <p:nvPr/>
        </p:nvSpPr>
        <p:spPr>
          <a:xfrm>
            <a:off x="609904" y="3566160"/>
            <a:ext cx="5394960" cy="310896"/>
          </a:xfrm>
          <a:prstGeom prst="rect">
            <a:avLst/>
          </a:prstGeom>
          <a:noFill/>
        </p:spPr>
        <p:txBody>
          <a:bodyPr wrap="none" lIns="0" rIns="0" tIns="0" bIns="0" anchor="t">
            <a:noAutofit/>
          </a:bodyPr>
          <a:lstStyle/>
          <a:p>
            <a:pPr algn="l">
              <a:lnSpc>
                <a:spcPct val="100000"/>
              </a:lnSpc>
            </a:pPr>
            <a:r>
              <a:rPr sz="1500" b="0">
                <a:solidFill>
                  <a:srgbClr val="1D1D1F"/>
                </a:solidFill>
                <a:latin typeface="Inter"/>
                <a:cs typeface="Inter"/>
                <a:ea typeface="Inter"/>
              </a:rPr>
              <a:t>EditorWidget — QPainter paint loop</a:t>
            </a:r>
          </a:p>
        </p:txBody>
      </p:sp>
      <p:sp>
        <p:nvSpPr>
          <p:cNvPr id="16" name="TextBox 15"/>
          <p:cNvSpPr txBox="1"/>
          <p:nvPr/>
        </p:nvSpPr>
        <p:spPr>
          <a:xfrm>
            <a:off x="6279184" y="3566160"/>
            <a:ext cx="5120640" cy="310896"/>
          </a:xfrm>
          <a:prstGeom prst="rect">
            <a:avLst/>
          </a:prstGeom>
          <a:noFill/>
        </p:spPr>
        <p:txBody>
          <a:bodyPr wrap="none" lIns="0" rIns="0" tIns="0" bIns="0" anchor="t">
            <a:noAutofit/>
          </a:bodyPr>
          <a:lstStyle/>
          <a:p>
            <a:pPr algn="l">
              <a:lnSpc>
                <a:spcPct val="100000"/>
              </a:lnSpc>
            </a:pPr>
            <a:r>
              <a:rPr sz="1500" b="0">
                <a:solidFill>
                  <a:srgbClr val="A1A1A6"/>
                </a:solidFill>
                <a:latin typeface="Inter"/>
                <a:cs typeface="Inter"/>
                <a:ea typeface="Inter"/>
              </a:rPr>
              <a:t>Qt's text layout engine</a:t>
            </a:r>
          </a:p>
        </p:txBody>
      </p:sp>
      <p:sp>
        <p:nvSpPr>
          <p:cNvPr id="17" name="TextBox 16"/>
          <p:cNvSpPr txBox="1"/>
          <p:nvPr/>
        </p:nvSpPr>
        <p:spPr>
          <a:xfrm>
            <a:off x="609904" y="3959352"/>
            <a:ext cx="5394960" cy="310896"/>
          </a:xfrm>
          <a:prstGeom prst="rect">
            <a:avLst/>
          </a:prstGeom>
          <a:noFill/>
        </p:spPr>
        <p:txBody>
          <a:bodyPr wrap="none" lIns="0" rIns="0" tIns="0" bIns="0" anchor="t">
            <a:noAutofit/>
          </a:bodyPr>
          <a:lstStyle/>
          <a:p>
            <a:pPr algn="l">
              <a:lnSpc>
                <a:spcPct val="100000"/>
              </a:lnSpc>
            </a:pPr>
            <a:r>
              <a:rPr sz="1500" b="0">
                <a:solidFill>
                  <a:srgbClr val="1D1D1F"/>
                </a:solidFill>
                <a:latin typeface="Inter"/>
                <a:cs typeface="Inter"/>
                <a:ea typeface="Inter"/>
              </a:rPr>
              <a:t>UndoManager — command pattern + timer</a:t>
            </a:r>
          </a:p>
        </p:txBody>
      </p:sp>
      <p:sp>
        <p:nvSpPr>
          <p:cNvPr id="18" name="TextBox 17"/>
          <p:cNvSpPr txBox="1"/>
          <p:nvPr/>
        </p:nvSpPr>
        <p:spPr>
          <a:xfrm>
            <a:off x="6279184" y="3959352"/>
            <a:ext cx="5120640" cy="310896"/>
          </a:xfrm>
          <a:prstGeom prst="rect">
            <a:avLst/>
          </a:prstGeom>
          <a:noFill/>
        </p:spPr>
        <p:txBody>
          <a:bodyPr wrap="none" lIns="0" rIns="0" tIns="0" bIns="0" anchor="t">
            <a:noAutofit/>
          </a:bodyPr>
          <a:lstStyle/>
          <a:p>
            <a:pPr algn="l">
              <a:lnSpc>
                <a:spcPct val="100000"/>
              </a:lnSpc>
            </a:pPr>
            <a:r>
              <a:rPr sz="1500" b="0">
                <a:solidFill>
                  <a:srgbClr val="A1A1A6"/>
                </a:solidFill>
                <a:latin typeface="Inter"/>
                <a:cs typeface="Inter"/>
                <a:ea typeface="Inter"/>
              </a:rPr>
              <a:t>QUndoStack</a:t>
            </a:r>
          </a:p>
        </p:txBody>
      </p:sp>
      <p:sp>
        <p:nvSpPr>
          <p:cNvPr id="19" name="TextBox 18"/>
          <p:cNvSpPr txBox="1"/>
          <p:nvPr/>
        </p:nvSpPr>
        <p:spPr>
          <a:xfrm>
            <a:off x="609904" y="4352544"/>
            <a:ext cx="5394960" cy="310896"/>
          </a:xfrm>
          <a:prstGeom prst="rect">
            <a:avLst/>
          </a:prstGeom>
          <a:noFill/>
        </p:spPr>
        <p:txBody>
          <a:bodyPr wrap="none" lIns="0" rIns="0" tIns="0" bIns="0" anchor="t">
            <a:noAutofit/>
          </a:bodyPr>
          <a:lstStyle/>
          <a:p>
            <a:pPr algn="l">
              <a:lnSpc>
                <a:spcPct val="100000"/>
              </a:lnSpc>
            </a:pPr>
            <a:r>
              <a:rPr sz="1500" b="0">
                <a:solidFill>
                  <a:srgbClr val="1D1D1F"/>
                </a:solidFill>
                <a:latin typeface="Inter"/>
                <a:cs typeface="Inter"/>
                <a:ea typeface="Inter"/>
              </a:rPr>
              <a:t>CppHighlighter — single-pass lexer</a:t>
            </a:r>
          </a:p>
        </p:txBody>
      </p:sp>
      <p:sp>
        <p:nvSpPr>
          <p:cNvPr id="20" name="TextBox 19"/>
          <p:cNvSpPr txBox="1"/>
          <p:nvPr/>
        </p:nvSpPr>
        <p:spPr>
          <a:xfrm>
            <a:off x="6279184" y="4352544"/>
            <a:ext cx="5120640" cy="310896"/>
          </a:xfrm>
          <a:prstGeom prst="rect">
            <a:avLst/>
          </a:prstGeom>
          <a:noFill/>
        </p:spPr>
        <p:txBody>
          <a:bodyPr wrap="none" lIns="0" rIns="0" tIns="0" bIns="0" anchor="t">
            <a:noAutofit/>
          </a:bodyPr>
          <a:lstStyle/>
          <a:p>
            <a:pPr algn="l">
              <a:lnSpc>
                <a:spcPct val="100000"/>
              </a:lnSpc>
            </a:pPr>
            <a:r>
              <a:rPr sz="1500" b="0">
                <a:solidFill>
                  <a:srgbClr val="A1A1A6"/>
                </a:solidFill>
                <a:latin typeface="Inter"/>
                <a:cs typeface="Inter"/>
                <a:ea typeface="Inter"/>
              </a:rPr>
              <a:t>QSyntaxHighlighter  ·  regex</a:t>
            </a:r>
          </a:p>
        </p:txBody>
      </p:sp>
      <p:sp>
        <p:nvSpPr>
          <p:cNvPr id="21" name="TextBox 20"/>
          <p:cNvSpPr txBox="1"/>
          <p:nvPr/>
        </p:nvSpPr>
        <p:spPr>
          <a:xfrm>
            <a:off x="609904" y="4745736"/>
            <a:ext cx="5394960" cy="310896"/>
          </a:xfrm>
          <a:prstGeom prst="rect">
            <a:avLst/>
          </a:prstGeom>
          <a:noFill/>
        </p:spPr>
        <p:txBody>
          <a:bodyPr wrap="none" lIns="0" rIns="0" tIns="0" bIns="0" anchor="t">
            <a:noAutofit/>
          </a:bodyPr>
          <a:lstStyle/>
          <a:p>
            <a:pPr algn="l">
              <a:lnSpc>
                <a:spcPct val="100000"/>
              </a:lnSpc>
            </a:pPr>
            <a:r>
              <a:rPr sz="1500" b="0">
                <a:solidFill>
                  <a:srgbClr val="1D1D1F"/>
                </a:solidFill>
                <a:latin typeface="Inter"/>
                <a:cs typeface="Inter"/>
                <a:ea typeface="Inter"/>
              </a:rPr>
              <a:t>TerminalWidget — QProcess shell session</a:t>
            </a:r>
          </a:p>
        </p:txBody>
      </p:sp>
      <p:sp>
        <p:nvSpPr>
          <p:cNvPr id="22" name="TextBox 21"/>
          <p:cNvSpPr txBox="1"/>
          <p:nvPr/>
        </p:nvSpPr>
        <p:spPr>
          <a:xfrm>
            <a:off x="6279184" y="4745736"/>
            <a:ext cx="5120640" cy="310896"/>
          </a:xfrm>
          <a:prstGeom prst="rect">
            <a:avLst/>
          </a:prstGeom>
          <a:noFill/>
        </p:spPr>
        <p:txBody>
          <a:bodyPr wrap="none" lIns="0" rIns="0" tIns="0" bIns="0" anchor="t">
            <a:noAutofit/>
          </a:bodyPr>
          <a:lstStyle/>
          <a:p>
            <a:pPr algn="l">
              <a:lnSpc>
                <a:spcPct val="100000"/>
              </a:lnSpc>
            </a:pPr>
            <a:r>
              <a:rPr sz="1500" b="0">
                <a:solidFill>
                  <a:srgbClr val="A1A1A6"/>
                </a:solidFill>
                <a:latin typeface="Inter"/>
                <a:cs typeface="Inter"/>
                <a:ea typeface="Inter"/>
              </a:rPr>
              <a:t>any external terminal library</a:t>
            </a:r>
          </a:p>
        </p:txBody>
      </p:sp>
      <p:sp>
        <p:nvSpPr>
          <p:cNvPr id="23" name="Rectangle 22"/>
          <p:cNvSpPr/>
          <p:nvPr/>
        </p:nvSpPr>
        <p:spPr>
          <a:xfrm>
            <a:off x="609904" y="5175504"/>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valence_row"/>
          <p:cNvSpPr txBox="1"/>
          <p:nvPr/>
        </p:nvSpPr>
        <p:spPr>
          <a:xfrm>
            <a:off x="609904" y="5312664"/>
            <a:ext cx="1005840" cy="331470"/>
          </a:xfrm>
          <a:prstGeom prst="rect">
            <a:avLst/>
          </a:prstGeom>
          <a:noFill/>
        </p:spPr>
        <p:txBody>
          <a:bodyPr wrap="none" lIns="0" rIns="0" tIns="0" bIns="0" anchor="t">
            <a:noAutofit/>
          </a:bodyPr>
          <a:lstStyle/>
          <a:p>
            <a:pPr algn="l">
              <a:lnSpc>
                <a:spcPct val="135000"/>
              </a:lnSpc>
            </a:pPr>
            <a:r>
              <a:rPr sz="1400" b="0">
                <a:solidFill>
                  <a:srgbClr val="1D1D1F"/>
                </a:solidFill>
                <a:latin typeface="JetBrains Mono"/>
                <a:cs typeface="JetBrains Mono"/>
                <a:ea typeface="JetBrains Mono"/>
              </a:rPr>
              <a:t>valence</a:t>
            </a:r>
          </a:p>
        </p:txBody>
      </p:sp>
      <p:sp>
        <p:nvSpPr>
          <p:cNvPr id="25" name="TextBox 24"/>
          <p:cNvSpPr txBox="1"/>
          <p:nvPr/>
        </p:nvSpPr>
        <p:spPr>
          <a:xfrm>
            <a:off x="1707184" y="5312664"/>
            <a:ext cx="8686800" cy="331470"/>
          </a:xfrm>
          <a:prstGeom prst="rect">
            <a:avLst/>
          </a:prstGeom>
          <a:noFill/>
        </p:spPr>
        <p:txBody>
          <a:bodyPr wrap="none" lIns="0" rIns="0" tIns="0" bIns="0" anchor="t">
            <a:noAutofit/>
          </a:bodyPr>
          <a:lstStyle/>
          <a:p>
            <a:pPr algn="l">
              <a:lnSpc>
                <a:spcPct val="135000"/>
              </a:lnSpc>
            </a:pPr>
            <a:r>
              <a:rPr sz="1400" b="0">
                <a:solidFill>
                  <a:srgbClr val="6E6E73"/>
                </a:solidFill>
                <a:latin typeface="JetBrains Mono"/>
                <a:cs typeface="JetBrains Mono"/>
                <a:ea typeface="JetBrains Mono"/>
              </a:rPr>
              <a:t>c++17   ·   qt6 widgets   ·   22 files   ·   2,500+ loc   ·   0 external dependencies</a:t>
            </a:r>
          </a:p>
        </p:txBody>
      </p:sp>
      <p:sp>
        <p:nvSpPr>
          <p:cNvPr id="26" name="TextBox 25"/>
          <p:cNvSpPr txBox="1"/>
          <p:nvPr/>
        </p:nvSpPr>
        <p:spPr>
          <a:xfrm>
            <a:off x="609904" y="580644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every line between the keystroke and the pixel is in this repository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00">
        <p159:morph option="byObject"/>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/docs/problem.md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03 / 17      0 errors</a:t>
            </a:r>
          </a:p>
        </p:txBody>
      </p:sp>
      <p:sp>
        <p:nvSpPr>
          <p:cNvPr id="8" name="TextBox 7"/>
          <p:cNvSpPr txBox="1"/>
          <p:nvPr/>
        </p:nvSpPr>
        <p:spPr>
          <a:xfrm>
            <a:off x="609904" y="1051560"/>
            <a:ext cx="10058400" cy="882396"/>
          </a:xfrm>
          <a:prstGeom prst="rect">
            <a:avLst/>
          </a:prstGeom>
          <a:noFill/>
        </p:spPr>
        <p:txBody>
          <a:bodyPr wrap="none" lIns="0" rIns="0" tIns="0" bIns="0" anchor="t">
            <a:noAutofit/>
          </a:bodyPr>
          <a:lstStyle/>
          <a:p>
            <a:pPr algn="l">
              <a:lnSpc>
                <a:spcPct val="100000"/>
              </a:lnSpc>
            </a:pPr>
            <a:r>
              <a:rPr sz="4400" b="1">
                <a:solidFill>
                  <a:srgbClr val="1D1D1F"/>
                </a:solidFill>
                <a:latin typeface="Inter"/>
                <a:cs typeface="Inter"/>
                <a:ea typeface="Inter"/>
              </a:rPr>
              <a:t>The Electron Tax</a:t>
            </a:r>
          </a:p>
        </p:txBody>
      </p:sp>
      <p:sp>
        <p:nvSpPr>
          <p:cNvPr id="9" name="TextBox 8"/>
          <p:cNvSpPr txBox="1"/>
          <p:nvPr/>
        </p:nvSpPr>
        <p:spPr>
          <a:xfrm>
            <a:off x="609904" y="2194560"/>
            <a:ext cx="54864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resident memory, idle   —   1 in = 40 MB</a:t>
            </a:r>
          </a:p>
        </p:txBody>
      </p:sp>
      <p:sp>
        <p:nvSpPr>
          <p:cNvPr id="10" name="TextBox 9"/>
          <p:cNvSpPr txBox="1"/>
          <p:nvPr/>
        </p:nvSpPr>
        <p:spPr>
          <a:xfrm>
            <a:off x="609904" y="2468880"/>
            <a:ext cx="2743200" cy="331470"/>
          </a:xfrm>
          <a:prstGeom prst="rect">
            <a:avLst/>
          </a:prstGeom>
          <a:noFill/>
        </p:spPr>
        <p:txBody>
          <a:bodyPr wrap="none" lIns="0" rIns="0" tIns="0" bIns="0" anchor="t">
            <a:noAutofit/>
          </a:bodyPr>
          <a:lstStyle/>
          <a:p>
            <a:pPr algn="l">
              <a:lnSpc>
                <a:spcPct val="135000"/>
              </a:lnSpc>
            </a:pPr>
            <a:r>
              <a:rPr sz="1400" b="0">
                <a:solidFill>
                  <a:srgbClr val="6E6E73"/>
                </a:solidFill>
                <a:latin typeface="JetBrains Mono"/>
                <a:cs typeface="JetBrains Mono"/>
                <a:ea typeface="JetBrains Mono"/>
              </a:rPr>
              <a:t>vs code</a:t>
            </a:r>
          </a:p>
        </p:txBody>
      </p:sp>
      <p:sp>
        <p:nvSpPr>
          <p:cNvPr id="11" name="TextBox 10"/>
          <p:cNvSpPr txBox="1"/>
          <p:nvPr/>
        </p:nvSpPr>
        <p:spPr>
          <a:xfrm>
            <a:off x="7925104" y="2468880"/>
            <a:ext cx="3657600" cy="331470"/>
          </a:xfrm>
          <a:prstGeom prst="rect">
            <a:avLst/>
          </a:prstGeom>
          <a:noFill/>
        </p:spPr>
        <p:txBody>
          <a:bodyPr wrap="none" lIns="0" rIns="0" tIns="0" bIns="0" anchor="t">
            <a:noAutofit/>
          </a:bodyPr>
          <a:lstStyle/>
          <a:p>
            <a:pPr algn="r">
              <a:lnSpc>
                <a:spcPct val="135000"/>
              </a:lnSpc>
            </a:pPr>
            <a:r>
              <a:rPr sz="1400" b="0">
                <a:solidFill>
                  <a:srgbClr val="6E6E73"/>
                </a:solidFill>
                <a:latin typeface="JetBrains Mono"/>
                <a:cs typeface="JetBrains Mono"/>
                <a:ea typeface="JetBrains Mono"/>
              </a:rPr>
              <a:t>200 – 500 MB</a:t>
            </a:r>
          </a:p>
        </p:txBody>
      </p:sp>
      <p:sp>
        <p:nvSpPr>
          <p:cNvPr id="12" name="Rectangle 11"/>
          <p:cNvSpPr/>
          <p:nvPr/>
        </p:nvSpPr>
        <p:spPr>
          <a:xfrm>
            <a:off x="609904" y="2798064"/>
            <a:ext cx="8001000" cy="201168"/>
          </a:xfrm>
          <a:prstGeom prst="rect">
            <a:avLst/>
          </a:prstGeom>
          <a:pattFill prst="ltVert">
            <a:fgClr>
              <a:srgbClr val="6E6E73"/>
            </a:fgClr>
            <a:bgClr>
              <a:srgbClr val="EBEBED"/>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valence_row"/>
          <p:cNvSpPr txBox="1"/>
          <p:nvPr/>
        </p:nvSpPr>
        <p:spPr>
          <a:xfrm>
            <a:off x="609904" y="3364992"/>
            <a:ext cx="2743200" cy="331470"/>
          </a:xfrm>
          <a:prstGeom prst="rect">
            <a:avLst/>
          </a:prstGeom>
          <a:noFill/>
        </p:spPr>
        <p:txBody>
          <a:bodyPr wrap="none" lIns="0" rIns="0" tIns="0" bIns="0" anchor="t">
            <a:noAutofit/>
          </a:bodyPr>
          <a:lstStyle/>
          <a:p>
            <a:pPr algn="l">
              <a:lnSpc>
                <a:spcPct val="135000"/>
              </a:lnSpc>
            </a:pPr>
            <a:r>
              <a:rPr sz="1400" b="0">
                <a:solidFill>
                  <a:srgbClr val="1D1D1F"/>
                </a:solidFill>
                <a:latin typeface="JetBrains Mono"/>
                <a:cs typeface="JetBrains Mono"/>
                <a:ea typeface="JetBrains Mono"/>
              </a:rPr>
              <a:t>valence</a:t>
            </a:r>
          </a:p>
        </p:txBody>
      </p:sp>
      <p:sp>
        <p:nvSpPr>
          <p:cNvPr id="14" name="TextBox 13"/>
          <p:cNvSpPr txBox="1"/>
          <p:nvPr/>
        </p:nvSpPr>
        <p:spPr>
          <a:xfrm>
            <a:off x="7925104" y="3364992"/>
            <a:ext cx="3657600" cy="331470"/>
          </a:xfrm>
          <a:prstGeom prst="rect">
            <a:avLst/>
          </a:prstGeom>
          <a:noFill/>
        </p:spPr>
        <p:txBody>
          <a:bodyPr wrap="none" lIns="0" rIns="0" tIns="0" bIns="0" anchor="t">
            <a:noAutofit/>
          </a:bodyPr>
          <a:lstStyle/>
          <a:p>
            <a:pPr algn="r">
              <a:lnSpc>
                <a:spcPct val="135000"/>
              </a:lnSpc>
            </a:pPr>
            <a:r>
              <a:rPr sz="1400" b="0">
                <a:solidFill>
                  <a:srgbClr val="1D1D1F"/>
                </a:solidFill>
                <a:latin typeface="JetBrains Mono"/>
                <a:cs typeface="JetBrains Mono"/>
                <a:ea typeface="JetBrains Mono"/>
              </a:rPr>
              <a:t>15 – 25 MB</a:t>
            </a:r>
          </a:p>
        </p:txBody>
      </p:sp>
      <p:sp>
        <p:nvSpPr>
          <p:cNvPr id="15" name="Rectangle 14"/>
          <p:cNvSpPr/>
          <p:nvPr/>
        </p:nvSpPr>
        <p:spPr>
          <a:xfrm>
            <a:off x="609904" y="3694176"/>
            <a:ext cx="457200" cy="201168"/>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09904" y="4315968"/>
            <a:ext cx="6858" cy="118872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4224" y="4315968"/>
            <a:ext cx="9601200" cy="1188720"/>
          </a:xfrm>
          <a:prstGeom prst="rect">
            <a:avLst/>
          </a:prstGeom>
          <a:noFill/>
        </p:spPr>
        <p:txBody>
          <a:bodyPr wrap="none" lIns="0" rIns="0" tIns="0" bIns="0" anchor="t">
            <a:noAutofit/>
          </a:bodyPr>
          <a:lstStyle/>
          <a:p>
            <a:pPr algn="l">
              <a:lnSpc>
                <a:spcPct val="158000"/>
              </a:lnSpc>
            </a:pPr>
            <a:r>
              <a:rPr sz="1800" b="0">
                <a:solidFill>
                  <a:srgbClr val="3A3A3C"/>
                </a:solidFill>
                <a:latin typeface="Inter"/>
                <a:cs typeface="Inter"/>
                <a:ea typeface="Inter"/>
              </a:rPr>
              <a:t>Chromium and a Node runtime, shipped to draw monospaced text</a:t>
            </a:r>
          </a:p>
          <a:p>
            <a:pPr algn="l">
              <a:lnSpc>
                <a:spcPct val="158000"/>
              </a:lnSpc>
            </a:pPr>
            <a:r>
              <a:rPr sz="1800" b="0">
                <a:solidFill>
                  <a:srgbClr val="3A3A3C"/>
                </a:solidFill>
                <a:latin typeface="Inter"/>
                <a:cs typeface="Inter"/>
                <a:ea typeface="Inter"/>
              </a:rPr>
              <a:t>Garbage collection pauses land inside the keystroke path</a:t>
            </a:r>
          </a:p>
          <a:p>
            <a:pPr algn="l">
              <a:lnSpc>
                <a:spcPct val="158000"/>
              </a:lnSpc>
            </a:pPr>
            <a:r>
              <a:rPr sz="1800" b="0">
                <a:solidFill>
                  <a:srgbClr val="3A3A3C"/>
                </a:solidFill>
                <a:latin typeface="Inter"/>
                <a:cs typeface="Inter"/>
                <a:ea typeface="Inter"/>
              </a:rPr>
              <a:t>DOM layout and compositing sit between the key event and the glyph</a:t>
            </a:r>
          </a:p>
        </p:txBody>
      </p:sp>
      <p:sp>
        <p:nvSpPr>
          <p:cNvPr id="18" name="TextBox 17"/>
          <p:cNvSpPr txBox="1"/>
          <p:nvPr/>
        </p:nvSpPr>
        <p:spPr>
          <a:xfrm>
            <a:off x="884224" y="580644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you are paying for a browser you did not ask for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00">
        <p159:morph option="byObject"/>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/docs/related-work.md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04 / 17      0 errors</a:t>
            </a:r>
          </a:p>
        </p:txBody>
      </p:sp>
      <p:sp>
        <p:nvSpPr>
          <p:cNvPr id="8" name="TextBox 7"/>
          <p:cNvSpPr txBox="1"/>
          <p:nvPr/>
        </p:nvSpPr>
        <p:spPr>
          <a:xfrm>
            <a:off x="609904" y="1051560"/>
            <a:ext cx="10058400" cy="813816"/>
          </a:xfrm>
          <a:prstGeom prst="rect">
            <a:avLst/>
          </a:prstGeom>
          <a:noFill/>
        </p:spPr>
        <p:txBody>
          <a:bodyPr wrap="none" lIns="0" rIns="0" tIns="0" bIns="0" anchor="t">
            <a:noAutofit/>
          </a:bodyPr>
          <a:lstStyle/>
          <a:p>
            <a:pPr algn="l">
              <a:lnSpc>
                <a:spcPct val="100000"/>
              </a:lnSpc>
            </a:pPr>
            <a:r>
              <a:rPr sz="4000" b="1">
                <a:solidFill>
                  <a:srgbClr val="1D1D1F"/>
                </a:solidFill>
                <a:latin typeface="Inter"/>
                <a:cs typeface="Inter"/>
                <a:ea typeface="Inter"/>
              </a:rPr>
              <a:t>What Already Exists</a:t>
            </a:r>
          </a:p>
        </p:txBody>
      </p:sp>
      <p:sp>
        <p:nvSpPr>
          <p:cNvPr id="9" name="TextBox 8"/>
          <p:cNvSpPr txBox="1"/>
          <p:nvPr/>
        </p:nvSpPr>
        <p:spPr>
          <a:xfrm>
            <a:off x="3353104" y="2240280"/>
            <a:ext cx="2057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vs code</a:t>
            </a:r>
          </a:p>
        </p:txBody>
      </p:sp>
      <p:sp>
        <p:nvSpPr>
          <p:cNvPr id="10" name="TextBox 9"/>
          <p:cNvSpPr txBox="1"/>
          <p:nvPr/>
        </p:nvSpPr>
        <p:spPr>
          <a:xfrm>
            <a:off x="5410504" y="2240280"/>
            <a:ext cx="2057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sublime 4</a:t>
            </a:r>
          </a:p>
        </p:txBody>
      </p:sp>
      <p:sp>
        <p:nvSpPr>
          <p:cNvPr id="11" name="TextBox 10"/>
          <p:cNvSpPr txBox="1"/>
          <p:nvPr/>
        </p:nvSpPr>
        <p:spPr>
          <a:xfrm>
            <a:off x="7467904" y="2240280"/>
            <a:ext cx="2057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neovim</a:t>
            </a:r>
          </a:p>
        </p:txBody>
      </p:sp>
      <p:sp>
        <p:nvSpPr>
          <p:cNvPr id="12" name="!!valence_row"/>
          <p:cNvSpPr txBox="1"/>
          <p:nvPr/>
        </p:nvSpPr>
        <p:spPr>
          <a:xfrm>
            <a:off x="9525304" y="2240280"/>
            <a:ext cx="2057400" cy="314325"/>
          </a:xfrm>
          <a:prstGeom prst="rect">
            <a:avLst/>
          </a:prstGeom>
          <a:noFill/>
        </p:spPr>
        <p:txBody>
          <a:bodyPr wrap="none" lIns="0" rIns="0" tIns="0" bIns="0" anchor="t">
            <a:noAutofit/>
          </a:bodyPr>
          <a:lstStyle/>
          <a:p>
            <a:pPr algn="l">
              <a:lnSpc>
                <a:spcPct val="135000"/>
              </a:lnSpc>
            </a:pPr>
            <a:r>
              <a:rPr sz="1300" b="1">
                <a:solidFill>
                  <a:srgbClr val="1D1D1F"/>
                </a:solidFill>
                <a:latin typeface="JetBrains Mono"/>
                <a:cs typeface="JetBrains Mono"/>
                <a:ea typeface="JetBrains Mono"/>
              </a:rPr>
              <a:t>valence</a:t>
            </a:r>
          </a:p>
        </p:txBody>
      </p:sp>
      <p:sp>
        <p:nvSpPr>
          <p:cNvPr id="13" name="TextBox 12"/>
          <p:cNvSpPr txBox="1"/>
          <p:nvPr/>
        </p:nvSpPr>
        <p:spPr>
          <a:xfrm>
            <a:off x="609904" y="2834640"/>
            <a:ext cx="26060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runtime</a:t>
            </a:r>
          </a:p>
        </p:txBody>
      </p:sp>
      <p:sp>
        <p:nvSpPr>
          <p:cNvPr id="14" name="TextBox 13"/>
          <p:cNvSpPr txBox="1"/>
          <p:nvPr/>
        </p:nvSpPr>
        <p:spPr>
          <a:xfrm>
            <a:off x="3353104" y="283464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Chromium + Node</a:t>
            </a:r>
          </a:p>
        </p:txBody>
      </p:sp>
      <p:sp>
        <p:nvSpPr>
          <p:cNvPr id="15" name="TextBox 14"/>
          <p:cNvSpPr txBox="1"/>
          <p:nvPr/>
        </p:nvSpPr>
        <p:spPr>
          <a:xfrm>
            <a:off x="5410504" y="283464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none (C++)</a:t>
            </a:r>
          </a:p>
        </p:txBody>
      </p:sp>
      <p:sp>
        <p:nvSpPr>
          <p:cNvPr id="16" name="TextBox 15"/>
          <p:cNvSpPr txBox="1"/>
          <p:nvPr/>
        </p:nvSpPr>
        <p:spPr>
          <a:xfrm>
            <a:off x="7467904" y="283464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none (C)</a:t>
            </a:r>
          </a:p>
        </p:txBody>
      </p:sp>
      <p:sp>
        <p:nvSpPr>
          <p:cNvPr id="17" name="TextBox 16"/>
          <p:cNvSpPr txBox="1"/>
          <p:nvPr/>
        </p:nvSpPr>
        <p:spPr>
          <a:xfrm>
            <a:off x="9525304" y="2834640"/>
            <a:ext cx="2057400" cy="29718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none (Qt only)</a:t>
            </a:r>
          </a:p>
        </p:txBody>
      </p:sp>
      <p:sp>
        <p:nvSpPr>
          <p:cNvPr id="18" name="TextBox 17"/>
          <p:cNvSpPr txBox="1"/>
          <p:nvPr/>
        </p:nvSpPr>
        <p:spPr>
          <a:xfrm>
            <a:off x="609904" y="3429000"/>
            <a:ext cx="26060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idle RSS</a:t>
            </a:r>
          </a:p>
        </p:txBody>
      </p:sp>
      <p:sp>
        <p:nvSpPr>
          <p:cNvPr id="19" name="TextBox 18"/>
          <p:cNvSpPr txBox="1"/>
          <p:nvPr/>
        </p:nvSpPr>
        <p:spPr>
          <a:xfrm>
            <a:off x="3353104" y="342900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200 – 500 MB</a:t>
            </a:r>
          </a:p>
        </p:txBody>
      </p:sp>
      <p:sp>
        <p:nvSpPr>
          <p:cNvPr id="20" name="TextBox 19"/>
          <p:cNvSpPr txBox="1"/>
          <p:nvPr/>
        </p:nvSpPr>
        <p:spPr>
          <a:xfrm>
            <a:off x="5410504" y="342900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~120 MB</a:t>
            </a:r>
          </a:p>
        </p:txBody>
      </p:sp>
      <p:sp>
        <p:nvSpPr>
          <p:cNvPr id="21" name="TextBox 20"/>
          <p:cNvSpPr txBox="1"/>
          <p:nvPr/>
        </p:nvSpPr>
        <p:spPr>
          <a:xfrm>
            <a:off x="7467904" y="342900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~45 MB</a:t>
            </a:r>
          </a:p>
        </p:txBody>
      </p:sp>
      <p:sp>
        <p:nvSpPr>
          <p:cNvPr id="22" name="TextBox 21"/>
          <p:cNvSpPr txBox="1"/>
          <p:nvPr/>
        </p:nvSpPr>
        <p:spPr>
          <a:xfrm>
            <a:off x="9525304" y="3429000"/>
            <a:ext cx="2057400" cy="29718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15 – 25 MB</a:t>
            </a:r>
          </a:p>
        </p:txBody>
      </p:sp>
      <p:sp>
        <p:nvSpPr>
          <p:cNvPr id="23" name="TextBox 22"/>
          <p:cNvSpPr txBox="1"/>
          <p:nvPr/>
        </p:nvSpPr>
        <p:spPr>
          <a:xfrm>
            <a:off x="609904" y="4023360"/>
            <a:ext cx="26060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buffer</a:t>
            </a:r>
          </a:p>
        </p:txBody>
      </p:sp>
      <p:sp>
        <p:nvSpPr>
          <p:cNvPr id="24" name="TextBox 23"/>
          <p:cNvSpPr txBox="1"/>
          <p:nvPr/>
        </p:nvSpPr>
        <p:spPr>
          <a:xfrm>
            <a:off x="3353104" y="402336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piece table</a:t>
            </a:r>
          </a:p>
        </p:txBody>
      </p:sp>
      <p:sp>
        <p:nvSpPr>
          <p:cNvPr id="25" name="TextBox 24"/>
          <p:cNvSpPr txBox="1"/>
          <p:nvPr/>
        </p:nvSpPr>
        <p:spPr>
          <a:xfrm>
            <a:off x="5410504" y="402336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undisclosed</a:t>
            </a:r>
          </a:p>
        </p:txBody>
      </p:sp>
      <p:sp>
        <p:nvSpPr>
          <p:cNvPr id="26" name="TextBox 25"/>
          <p:cNvSpPr txBox="1"/>
          <p:nvPr/>
        </p:nvSpPr>
        <p:spPr>
          <a:xfrm>
            <a:off x="7467904" y="402336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memline, paged</a:t>
            </a:r>
          </a:p>
        </p:txBody>
      </p:sp>
      <p:sp>
        <p:nvSpPr>
          <p:cNvPr id="27" name="TextBox 26"/>
          <p:cNvSpPr txBox="1"/>
          <p:nvPr/>
        </p:nvSpPr>
        <p:spPr>
          <a:xfrm>
            <a:off x="9525304" y="4023360"/>
            <a:ext cx="2057400" cy="29718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line array</a:t>
            </a:r>
          </a:p>
        </p:txBody>
      </p:sp>
      <p:sp>
        <p:nvSpPr>
          <p:cNvPr id="28" name="TextBox 27"/>
          <p:cNvSpPr txBox="1"/>
          <p:nvPr/>
        </p:nvSpPr>
        <p:spPr>
          <a:xfrm>
            <a:off x="609904" y="4617720"/>
            <a:ext cx="26060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paint path</a:t>
            </a:r>
          </a:p>
        </p:txBody>
      </p:sp>
      <p:sp>
        <p:nvSpPr>
          <p:cNvPr id="29" name="TextBox 28"/>
          <p:cNvSpPr txBox="1"/>
          <p:nvPr/>
        </p:nvSpPr>
        <p:spPr>
          <a:xfrm>
            <a:off x="3353104" y="461772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DOM → compositor</a:t>
            </a:r>
          </a:p>
        </p:txBody>
      </p:sp>
      <p:sp>
        <p:nvSpPr>
          <p:cNvPr id="30" name="TextBox 29"/>
          <p:cNvSpPr txBox="1"/>
          <p:nvPr/>
        </p:nvSpPr>
        <p:spPr>
          <a:xfrm>
            <a:off x="5410504" y="461772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custom GPU</a:t>
            </a:r>
          </a:p>
        </p:txBody>
      </p:sp>
      <p:sp>
        <p:nvSpPr>
          <p:cNvPr id="31" name="TextBox 30"/>
          <p:cNvSpPr txBox="1"/>
          <p:nvPr/>
        </p:nvSpPr>
        <p:spPr>
          <a:xfrm>
            <a:off x="7467904" y="461772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PTY → terminal</a:t>
            </a:r>
          </a:p>
        </p:txBody>
      </p:sp>
      <p:sp>
        <p:nvSpPr>
          <p:cNvPr id="32" name="TextBox 31"/>
          <p:cNvSpPr txBox="1"/>
          <p:nvPr/>
        </p:nvSpPr>
        <p:spPr>
          <a:xfrm>
            <a:off x="9525304" y="4617720"/>
            <a:ext cx="2057400" cy="29718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QPainter → surface</a:t>
            </a:r>
          </a:p>
        </p:txBody>
      </p:sp>
      <p:sp>
        <p:nvSpPr>
          <p:cNvPr id="33" name="TextBox 32"/>
          <p:cNvSpPr txBox="1"/>
          <p:nvPr/>
        </p:nvSpPr>
        <p:spPr>
          <a:xfrm>
            <a:off x="609904" y="5212080"/>
            <a:ext cx="26060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cold start</a:t>
            </a:r>
          </a:p>
        </p:txBody>
      </p:sp>
      <p:sp>
        <p:nvSpPr>
          <p:cNvPr id="34" name="TextBox 33"/>
          <p:cNvSpPr txBox="1"/>
          <p:nvPr/>
        </p:nvSpPr>
        <p:spPr>
          <a:xfrm>
            <a:off x="3353104" y="521208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2 – 3 s</a:t>
            </a:r>
          </a:p>
        </p:txBody>
      </p:sp>
      <p:sp>
        <p:nvSpPr>
          <p:cNvPr id="35" name="TextBox 34"/>
          <p:cNvSpPr txBox="1"/>
          <p:nvPr/>
        </p:nvSpPr>
        <p:spPr>
          <a:xfrm>
            <a:off x="5410504" y="521208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~0.5 s</a:t>
            </a:r>
          </a:p>
        </p:txBody>
      </p:sp>
      <p:sp>
        <p:nvSpPr>
          <p:cNvPr id="36" name="TextBox 35"/>
          <p:cNvSpPr txBox="1"/>
          <p:nvPr/>
        </p:nvSpPr>
        <p:spPr>
          <a:xfrm>
            <a:off x="7467904" y="5212080"/>
            <a:ext cx="2057400" cy="297180"/>
          </a:xfrm>
          <a:prstGeom prst="rect">
            <a:avLst/>
          </a:prstGeom>
          <a:noFill/>
        </p:spPr>
        <p:txBody>
          <a:bodyPr wrap="none" lIns="0" rIns="0" tIns="0" bIns="0" anchor="t">
            <a:noAutofit/>
          </a:bodyPr>
          <a:lstStyle/>
          <a:p>
            <a:pPr algn="l">
              <a:lnSpc>
                <a:spcPct val="135000"/>
              </a:lnSpc>
            </a:pPr>
            <a:r>
              <a:rPr sz="1200" b="0">
                <a:solidFill>
                  <a:srgbClr val="3A3A3C"/>
                </a:solidFill>
                <a:latin typeface="JetBrains Mono"/>
                <a:cs typeface="JetBrains Mono"/>
                <a:ea typeface="JetBrains Mono"/>
              </a:rPr>
              <a:t>~0.2 s</a:t>
            </a:r>
          </a:p>
        </p:txBody>
      </p:sp>
      <p:sp>
        <p:nvSpPr>
          <p:cNvPr id="37" name="TextBox 36"/>
          <p:cNvSpPr txBox="1"/>
          <p:nvPr/>
        </p:nvSpPr>
        <p:spPr>
          <a:xfrm>
            <a:off x="9525304" y="5212080"/>
            <a:ext cx="2057400" cy="29718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&lt; 100 ms</a:t>
            </a:r>
          </a:p>
        </p:txBody>
      </p:sp>
      <p:sp>
        <p:nvSpPr>
          <p:cNvPr id="38" name="Rectangle 37"/>
          <p:cNvSpPr/>
          <p:nvPr/>
        </p:nvSpPr>
        <p:spPr>
          <a:xfrm>
            <a:off x="609904" y="268833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09904" y="328269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09904" y="387705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09904" y="447141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09904" y="506577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09904" y="566013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09904" y="5788152"/>
            <a:ext cx="10607040" cy="496569"/>
          </a:xfrm>
          <a:prstGeom prst="rect">
            <a:avLst/>
          </a:prstGeom>
          <a:noFill/>
        </p:spPr>
        <p:txBody>
          <a:bodyPr wrap="none" lIns="0" rIns="0" tIns="0" bIns="0" anchor="t">
            <a:noAutofit/>
          </a:bodyPr>
          <a:lstStyle/>
          <a:p>
            <a:pPr algn="l">
              <a:lnSpc>
                <a:spcPct val="145000"/>
              </a:lnSpc>
            </a:pPr>
            <a:r>
              <a:rPr sz="1100" b="0">
                <a:solidFill>
                  <a:srgbClr val="A1A1A6"/>
                </a:solidFill>
                <a:latin typeface="JetBrains Mono"/>
                <a:cs typeface="JetBrains Mono"/>
                <a:ea typeface="JetBrains Mono"/>
              </a:rPr>
              <a:t>[1] Lyu, "Text Buffer Reimplementation", VS Code engineering blog, 2018    ·    [2] Boehm, Atkinson &amp; Plass, Softw. Pract. Exper. 25(12), 1995</a:t>
            </a:r>
          </a:p>
          <a:p>
            <a:pPr algn="l">
              <a:lnSpc>
                <a:spcPct val="145000"/>
              </a:lnSpc>
            </a:pPr>
            <a:r>
              <a:rPr sz="1100" b="0">
                <a:solidFill>
                  <a:srgbClr val="A1A1A6"/>
                </a:solidFill>
                <a:latin typeface="JetBrains Mono"/>
                <a:cs typeface="JetBrains Mono"/>
                <a:ea typeface="JetBrains Mono"/>
              </a:rPr>
              <a:t>[3] valence figures measured on this work — sublime and neovim figures require verification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00">
        <p159:morph option="byObject"/>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/docs/objectives.md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05 / 17      0 errors</a:t>
            </a:r>
          </a:p>
        </p:txBody>
      </p:sp>
      <p:sp>
        <p:nvSpPr>
          <p:cNvPr id="8" name="TextBox 7"/>
          <p:cNvSpPr txBox="1"/>
          <p:nvPr/>
        </p:nvSpPr>
        <p:spPr>
          <a:xfrm>
            <a:off x="609904" y="1051560"/>
            <a:ext cx="10058400" cy="813816"/>
          </a:xfrm>
          <a:prstGeom prst="rect">
            <a:avLst/>
          </a:prstGeom>
          <a:noFill/>
        </p:spPr>
        <p:txBody>
          <a:bodyPr wrap="none" lIns="0" rIns="0" tIns="0" bIns="0" anchor="t">
            <a:noAutofit/>
          </a:bodyPr>
          <a:lstStyle/>
          <a:p>
            <a:pPr algn="l">
              <a:lnSpc>
                <a:spcPct val="100000"/>
              </a:lnSpc>
            </a:pPr>
            <a:r>
              <a:rPr sz="4000" b="1">
                <a:solidFill>
                  <a:srgbClr val="1D1D1F"/>
                </a:solidFill>
                <a:latin typeface="Inter"/>
                <a:cs typeface="Inter"/>
                <a:ea typeface="Inter"/>
              </a:rPr>
              <a:t>Objectives, Written as Tests</a:t>
            </a:r>
          </a:p>
        </p:txBody>
      </p:sp>
      <p:sp>
        <p:nvSpPr>
          <p:cNvPr id="9" name="TextBox 8"/>
          <p:cNvSpPr txBox="1"/>
          <p:nvPr/>
        </p:nvSpPr>
        <p:spPr>
          <a:xfrm>
            <a:off x="609904" y="1783080"/>
            <a:ext cx="10058400" cy="365760"/>
          </a:xfrm>
          <a:prstGeom prst="rect">
            <a:avLst/>
          </a:prstGeom>
          <a:noFill/>
        </p:spPr>
        <p:txBody>
          <a:bodyPr wrap="none" lIns="0" rIns="0" tIns="0" bIns="0" anchor="t">
            <a:noAutofit/>
          </a:bodyPr>
          <a:lstStyle/>
          <a:p>
            <a:pPr algn="l">
              <a:lnSpc>
                <a:spcPct val="100000"/>
              </a:lnSpc>
            </a:pPr>
            <a:r>
              <a:rPr sz="1600" b="0">
                <a:solidFill>
                  <a:srgbClr val="6E6E73"/>
                </a:solidFill>
                <a:latin typeface="Inter"/>
                <a:cs typeface="Inter"/>
                <a:ea typeface="Inter"/>
              </a:rPr>
              <a:t>Each objective carries a number and a method. Slide 10 marks every row against measured data.</a:t>
            </a:r>
          </a:p>
        </p:txBody>
      </p:sp>
      <p:sp>
        <p:nvSpPr>
          <p:cNvPr id="10" name="TextBox 9"/>
          <p:cNvSpPr txBox="1"/>
          <p:nvPr/>
        </p:nvSpPr>
        <p:spPr>
          <a:xfrm>
            <a:off x="609904" y="2697480"/>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O1</a:t>
            </a:r>
          </a:p>
        </p:txBody>
      </p:sp>
      <p:sp>
        <p:nvSpPr>
          <p:cNvPr id="11" name="TextBox 10"/>
          <p:cNvSpPr txBox="1"/>
          <p:nvPr/>
        </p:nvSpPr>
        <p:spPr>
          <a:xfrm>
            <a:off x="1295704" y="2670048"/>
            <a:ext cx="3840480" cy="320040"/>
          </a:xfrm>
          <a:prstGeom prst="rect">
            <a:avLst/>
          </a:prstGeom>
          <a:noFill/>
        </p:spPr>
        <p:txBody>
          <a:bodyPr wrap="none" lIns="0" rIns="0" tIns="0" bIns="0" anchor="t">
            <a:noAutofit/>
          </a:bodyPr>
          <a:lstStyle/>
          <a:p>
            <a:pPr algn="l">
              <a:lnSpc>
                <a:spcPct val="100000"/>
              </a:lnSpc>
            </a:pPr>
            <a:r>
              <a:rPr sz="1700" b="0">
                <a:solidFill>
                  <a:srgbClr val="1D1D1F"/>
                </a:solidFill>
                <a:latin typeface="Inter"/>
                <a:cs typeface="Inter"/>
                <a:ea typeface="Inter"/>
              </a:rPr>
              <a:t>Idle memory below one browser tab</a:t>
            </a:r>
          </a:p>
        </p:txBody>
      </p:sp>
      <p:sp>
        <p:nvSpPr>
          <p:cNvPr id="12" name="TextBox 11"/>
          <p:cNvSpPr txBox="1"/>
          <p:nvPr/>
        </p:nvSpPr>
        <p:spPr>
          <a:xfrm>
            <a:off x="5410504" y="2679192"/>
            <a:ext cx="2423160" cy="400050"/>
          </a:xfrm>
          <a:prstGeom prst="rect">
            <a:avLst/>
          </a:prstGeom>
          <a:noFill/>
        </p:spPr>
        <p:txBody>
          <a:bodyPr wrap="none" lIns="0" rIns="0" tIns="0" bIns="0" anchor="t">
            <a:noAutofit/>
          </a:bodyPr>
          <a:lstStyle/>
          <a:p>
            <a:pPr algn="l">
              <a:lnSpc>
                <a:spcPct val="135000"/>
              </a:lnSpc>
            </a:pPr>
            <a:r>
              <a:rPr sz="1800" b="1">
                <a:solidFill>
                  <a:srgbClr val="1D1D1F"/>
                </a:solidFill>
                <a:latin typeface="JetBrains Mono"/>
                <a:cs typeface="JetBrains Mono"/>
                <a:ea typeface="JetBrains Mono"/>
              </a:rPr>
              <a:t>≤ 50 MB</a:t>
            </a:r>
          </a:p>
        </p:txBody>
      </p:sp>
      <p:sp>
        <p:nvSpPr>
          <p:cNvPr id="13" name="TextBox 12"/>
          <p:cNvSpPr txBox="1"/>
          <p:nvPr/>
        </p:nvSpPr>
        <p:spPr>
          <a:xfrm>
            <a:off x="7970824" y="2697480"/>
            <a:ext cx="3611880" cy="297180"/>
          </a:xfrm>
          <a:prstGeom prst="rect">
            <a:avLst/>
          </a:prstGeom>
          <a:noFill/>
        </p:spPr>
        <p:txBody>
          <a:bodyPr wrap="none" lIns="0" rIns="0" tIns="0" bIns="0" anchor="t">
            <a:noAutofit/>
          </a:bodyPr>
          <a:lstStyle/>
          <a:p>
            <a:pPr algn="l">
              <a:lnSpc>
                <a:spcPct val="135000"/>
              </a:lnSpc>
            </a:pPr>
            <a:r>
              <a:rPr sz="1200" b="0">
                <a:solidFill>
                  <a:srgbClr val="6E6E73"/>
                </a:solidFill>
                <a:latin typeface="JetBrains Mono"/>
                <a:cs typeface="JetBrains Mono"/>
                <a:ea typeface="JetBrains Mono"/>
              </a:rPr>
              <a:t>working set, 5 min idle</a:t>
            </a:r>
          </a:p>
        </p:txBody>
      </p:sp>
      <p:sp>
        <p:nvSpPr>
          <p:cNvPr id="14" name="TextBox 13"/>
          <p:cNvSpPr txBox="1"/>
          <p:nvPr/>
        </p:nvSpPr>
        <p:spPr>
          <a:xfrm>
            <a:off x="609904" y="3429000"/>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O2</a:t>
            </a:r>
          </a:p>
        </p:txBody>
      </p:sp>
      <p:sp>
        <p:nvSpPr>
          <p:cNvPr id="15" name="TextBox 14"/>
          <p:cNvSpPr txBox="1"/>
          <p:nvPr/>
        </p:nvSpPr>
        <p:spPr>
          <a:xfrm>
            <a:off x="1295704" y="3401568"/>
            <a:ext cx="3840480" cy="320040"/>
          </a:xfrm>
          <a:prstGeom prst="rect">
            <a:avLst/>
          </a:prstGeom>
          <a:noFill/>
        </p:spPr>
        <p:txBody>
          <a:bodyPr wrap="none" lIns="0" rIns="0" tIns="0" bIns="0" anchor="t">
            <a:noAutofit/>
          </a:bodyPr>
          <a:lstStyle/>
          <a:p>
            <a:pPr algn="l">
              <a:lnSpc>
                <a:spcPct val="100000"/>
              </a:lnSpc>
            </a:pPr>
            <a:r>
              <a:rPr sz="1700" b="0">
                <a:solidFill>
                  <a:srgbClr val="1D1D1F"/>
                </a:solidFill>
                <a:latin typeface="Inter"/>
                <a:cs typeface="Inter"/>
                <a:ea typeface="Inter"/>
              </a:rPr>
              <a:t>Cold start inside reaction time</a:t>
            </a:r>
          </a:p>
        </p:txBody>
      </p:sp>
      <p:sp>
        <p:nvSpPr>
          <p:cNvPr id="16" name="TextBox 15"/>
          <p:cNvSpPr txBox="1"/>
          <p:nvPr/>
        </p:nvSpPr>
        <p:spPr>
          <a:xfrm>
            <a:off x="5410504" y="3410712"/>
            <a:ext cx="2423160" cy="400050"/>
          </a:xfrm>
          <a:prstGeom prst="rect">
            <a:avLst/>
          </a:prstGeom>
          <a:noFill/>
        </p:spPr>
        <p:txBody>
          <a:bodyPr wrap="none" lIns="0" rIns="0" tIns="0" bIns="0" anchor="t">
            <a:noAutofit/>
          </a:bodyPr>
          <a:lstStyle/>
          <a:p>
            <a:pPr algn="l">
              <a:lnSpc>
                <a:spcPct val="135000"/>
              </a:lnSpc>
            </a:pPr>
            <a:r>
              <a:rPr sz="1800" b="1">
                <a:solidFill>
                  <a:srgbClr val="1D1D1F"/>
                </a:solidFill>
                <a:latin typeface="JetBrains Mono"/>
                <a:cs typeface="JetBrains Mono"/>
                <a:ea typeface="JetBrains Mono"/>
              </a:rPr>
              <a:t>≤ 100 ms</a:t>
            </a:r>
          </a:p>
        </p:txBody>
      </p:sp>
      <p:sp>
        <p:nvSpPr>
          <p:cNvPr id="17" name="TextBox 16"/>
          <p:cNvSpPr txBox="1"/>
          <p:nvPr/>
        </p:nvSpPr>
        <p:spPr>
          <a:xfrm>
            <a:off x="7970824" y="3429000"/>
            <a:ext cx="3611880" cy="297180"/>
          </a:xfrm>
          <a:prstGeom prst="rect">
            <a:avLst/>
          </a:prstGeom>
          <a:noFill/>
        </p:spPr>
        <p:txBody>
          <a:bodyPr wrap="none" lIns="0" rIns="0" tIns="0" bIns="0" anchor="t">
            <a:noAutofit/>
          </a:bodyPr>
          <a:lstStyle/>
          <a:p>
            <a:pPr algn="l">
              <a:lnSpc>
                <a:spcPct val="135000"/>
              </a:lnSpc>
            </a:pPr>
            <a:r>
              <a:rPr sz="1200" b="0">
                <a:solidFill>
                  <a:srgbClr val="6E6E73"/>
                </a:solidFill>
                <a:latin typeface="JetBrains Mono"/>
                <a:cs typeface="JetBrains Mono"/>
                <a:ea typeface="JetBrains Mono"/>
              </a:rPr>
              <a:t>process entry → first paint</a:t>
            </a:r>
          </a:p>
        </p:txBody>
      </p:sp>
      <p:sp>
        <p:nvSpPr>
          <p:cNvPr id="18" name="TextBox 17"/>
          <p:cNvSpPr txBox="1"/>
          <p:nvPr/>
        </p:nvSpPr>
        <p:spPr>
          <a:xfrm>
            <a:off x="609904" y="4160520"/>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O3</a:t>
            </a:r>
          </a:p>
        </p:txBody>
      </p:sp>
      <p:sp>
        <p:nvSpPr>
          <p:cNvPr id="19" name="TextBox 18"/>
          <p:cNvSpPr txBox="1"/>
          <p:nvPr/>
        </p:nvSpPr>
        <p:spPr>
          <a:xfrm>
            <a:off x="1295704" y="4133087"/>
            <a:ext cx="3840480" cy="320040"/>
          </a:xfrm>
          <a:prstGeom prst="rect">
            <a:avLst/>
          </a:prstGeom>
          <a:noFill/>
        </p:spPr>
        <p:txBody>
          <a:bodyPr wrap="none" lIns="0" rIns="0" tIns="0" bIns="0" anchor="t">
            <a:noAutofit/>
          </a:bodyPr>
          <a:lstStyle/>
          <a:p>
            <a:pPr algn="l">
              <a:lnSpc>
                <a:spcPct val="100000"/>
              </a:lnSpc>
            </a:pPr>
            <a:r>
              <a:rPr sz="1700" b="0">
                <a:solidFill>
                  <a:srgbClr val="1D1D1F"/>
                </a:solidFill>
                <a:latin typeface="Inter"/>
                <a:cs typeface="Inter"/>
                <a:ea typeface="Inter"/>
              </a:rPr>
              <a:t>Input to pixel inside one frame</a:t>
            </a:r>
          </a:p>
        </p:txBody>
      </p:sp>
      <p:sp>
        <p:nvSpPr>
          <p:cNvPr id="20" name="TextBox 19"/>
          <p:cNvSpPr txBox="1"/>
          <p:nvPr/>
        </p:nvSpPr>
        <p:spPr>
          <a:xfrm>
            <a:off x="5410504" y="4142232"/>
            <a:ext cx="2423160" cy="400050"/>
          </a:xfrm>
          <a:prstGeom prst="rect">
            <a:avLst/>
          </a:prstGeom>
          <a:noFill/>
        </p:spPr>
        <p:txBody>
          <a:bodyPr wrap="none" lIns="0" rIns="0" tIns="0" bIns="0" anchor="t">
            <a:noAutofit/>
          </a:bodyPr>
          <a:lstStyle/>
          <a:p>
            <a:pPr algn="l">
              <a:lnSpc>
                <a:spcPct val="135000"/>
              </a:lnSpc>
            </a:pPr>
            <a:r>
              <a:rPr sz="1800" b="1">
                <a:solidFill>
                  <a:srgbClr val="1D1D1F"/>
                </a:solidFill>
                <a:latin typeface="JetBrains Mono"/>
                <a:cs typeface="JetBrains Mono"/>
                <a:ea typeface="JetBrains Mono"/>
              </a:rPr>
              <a:t>≤ 16.6 ms</a:t>
            </a:r>
          </a:p>
        </p:txBody>
      </p:sp>
      <p:sp>
        <p:nvSpPr>
          <p:cNvPr id="21" name="TextBox 20"/>
          <p:cNvSpPr txBox="1"/>
          <p:nvPr/>
        </p:nvSpPr>
        <p:spPr>
          <a:xfrm>
            <a:off x="7970824" y="4160520"/>
            <a:ext cx="3611880" cy="297180"/>
          </a:xfrm>
          <a:prstGeom prst="rect">
            <a:avLst/>
          </a:prstGeom>
          <a:noFill/>
        </p:spPr>
        <p:txBody>
          <a:bodyPr wrap="none" lIns="0" rIns="0" tIns="0" bIns="0" anchor="t">
            <a:noAutofit/>
          </a:bodyPr>
          <a:lstStyle/>
          <a:p>
            <a:pPr algn="l">
              <a:lnSpc>
                <a:spcPct val="135000"/>
              </a:lnSpc>
            </a:pPr>
            <a:r>
              <a:rPr sz="1200" b="0">
                <a:solidFill>
                  <a:srgbClr val="6E6E73"/>
                </a:solidFill>
                <a:latin typeface="JetBrains Mono"/>
                <a:cs typeface="JetBrains Mono"/>
                <a:ea typeface="JetBrains Mono"/>
              </a:rPr>
              <a:t>QElapsedTimer, keyPress → paintEvent</a:t>
            </a:r>
          </a:p>
        </p:txBody>
      </p:sp>
      <p:sp>
        <p:nvSpPr>
          <p:cNvPr id="22" name="TextBox 21"/>
          <p:cNvSpPr txBox="1"/>
          <p:nvPr/>
        </p:nvSpPr>
        <p:spPr>
          <a:xfrm>
            <a:off x="609904" y="4892040"/>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O4</a:t>
            </a:r>
          </a:p>
        </p:txBody>
      </p:sp>
      <p:sp>
        <p:nvSpPr>
          <p:cNvPr id="23" name="TextBox 22"/>
          <p:cNvSpPr txBox="1"/>
          <p:nvPr/>
        </p:nvSpPr>
        <p:spPr>
          <a:xfrm>
            <a:off x="1295704" y="4864607"/>
            <a:ext cx="3840480" cy="320040"/>
          </a:xfrm>
          <a:prstGeom prst="rect">
            <a:avLst/>
          </a:prstGeom>
          <a:noFill/>
        </p:spPr>
        <p:txBody>
          <a:bodyPr wrap="none" lIns="0" rIns="0" tIns="0" bIns="0" anchor="t">
            <a:noAutofit/>
          </a:bodyPr>
          <a:lstStyle/>
          <a:p>
            <a:pPr algn="l">
              <a:lnSpc>
                <a:spcPct val="100000"/>
              </a:lnSpc>
            </a:pPr>
            <a:r>
              <a:rPr sz="1700" b="0">
                <a:solidFill>
                  <a:srgbClr val="1D1D1F"/>
                </a:solidFill>
                <a:latin typeface="Inter"/>
                <a:cs typeface="Inter"/>
                <a:ea typeface="Inter"/>
              </a:rPr>
              <a:t>Paint cost independent of file size</a:t>
            </a:r>
          </a:p>
        </p:txBody>
      </p:sp>
      <p:sp>
        <p:nvSpPr>
          <p:cNvPr id="24" name="TextBox 23"/>
          <p:cNvSpPr txBox="1"/>
          <p:nvPr/>
        </p:nvSpPr>
        <p:spPr>
          <a:xfrm>
            <a:off x="5410504" y="4873752"/>
            <a:ext cx="2423160" cy="400050"/>
          </a:xfrm>
          <a:prstGeom prst="rect">
            <a:avLst/>
          </a:prstGeom>
          <a:noFill/>
        </p:spPr>
        <p:txBody>
          <a:bodyPr wrap="none" lIns="0" rIns="0" tIns="0" bIns="0" anchor="t">
            <a:noAutofit/>
          </a:bodyPr>
          <a:lstStyle/>
          <a:p>
            <a:pPr algn="l">
              <a:lnSpc>
                <a:spcPct val="135000"/>
              </a:lnSpc>
            </a:pPr>
            <a:r>
              <a:rPr sz="1800" b="1">
                <a:solidFill>
                  <a:srgbClr val="1D1D1F"/>
                </a:solidFill>
                <a:latin typeface="JetBrains Mono"/>
                <a:cs typeface="JetBrains Mono"/>
                <a:ea typeface="JetBrains Mono"/>
              </a:rPr>
              <a:t>O(V), not O(N)</a:t>
            </a:r>
          </a:p>
        </p:txBody>
      </p:sp>
      <p:sp>
        <p:nvSpPr>
          <p:cNvPr id="25" name="TextBox 24"/>
          <p:cNvSpPr txBox="1"/>
          <p:nvPr/>
        </p:nvSpPr>
        <p:spPr>
          <a:xfrm>
            <a:off x="7970824" y="4892040"/>
            <a:ext cx="3611880" cy="297180"/>
          </a:xfrm>
          <a:prstGeom prst="rect">
            <a:avLst/>
          </a:prstGeom>
          <a:noFill/>
        </p:spPr>
        <p:txBody>
          <a:bodyPr wrap="none" lIns="0" rIns="0" tIns="0" bIns="0" anchor="t">
            <a:noAutofit/>
          </a:bodyPr>
          <a:lstStyle/>
          <a:p>
            <a:pPr algn="l">
              <a:lnSpc>
                <a:spcPct val="135000"/>
              </a:lnSpc>
            </a:pPr>
            <a:r>
              <a:rPr sz="1200" b="0">
                <a:solidFill>
                  <a:srgbClr val="6E6E73"/>
                </a:solidFill>
                <a:latin typeface="JetBrains Mono"/>
                <a:cs typeface="JetBrains Mono"/>
                <a:ea typeface="JetBrains Mono"/>
              </a:rPr>
              <a:t>paint time, 100 → 50,000 lines</a:t>
            </a:r>
          </a:p>
        </p:txBody>
      </p:sp>
      <p:sp>
        <p:nvSpPr>
          <p:cNvPr id="26" name="Rectangle 25"/>
          <p:cNvSpPr/>
          <p:nvPr/>
        </p:nvSpPr>
        <p:spPr>
          <a:xfrm>
            <a:off x="609904" y="256032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09904" y="329184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09904" y="4023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09904" y="475488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09904" y="548640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ore"/>
          <p:cNvSpPr txBox="1"/>
          <p:nvPr/>
        </p:nvSpPr>
        <p:spPr>
          <a:xfrm>
            <a:off x="609904" y="5852160"/>
            <a:ext cx="7315200" cy="348615"/>
          </a:xfrm>
          <a:prstGeom prst="rect">
            <a:avLst/>
          </a:prstGeom>
          <a:noFill/>
        </p:spPr>
        <p:txBody>
          <a:bodyPr wrap="none" lIns="0" rIns="0" tIns="0" bIns="0" anchor="t">
            <a:noAutofit/>
          </a:bodyPr>
          <a:lstStyle/>
          <a:p>
            <a:pPr algn="l">
              <a:lnSpc>
                <a:spcPct val="135000"/>
              </a:lnSpc>
            </a:pPr>
            <a:r>
              <a:rPr sz="1500" b="0">
                <a:solidFill>
                  <a:srgbClr val="1D1D1F"/>
                </a:solidFill>
                <a:latin typeface="JetBrains Mono"/>
                <a:cs typeface="JetBrains Mono"/>
                <a:ea typeface="JetBrains Mono"/>
              </a:rPr>
              <a:t>4 layers   ·   22 files   ·   0 external dependencies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450">
        <p159:morph option="byObject"/>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06 / 17      0 errors</a:t>
            </a:r>
          </a:p>
        </p:txBody>
      </p:sp>
      <p:sp>
        <p:nvSpPr>
          <p:cNvPr id="8" name="TextBox 7"/>
          <p:cNvSpPr txBox="1"/>
          <p:nvPr/>
        </p:nvSpPr>
        <p:spPr>
          <a:xfrm>
            <a:off x="9936784" y="52120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mem</a:t>
            </a:r>
          </a:p>
        </p:txBody>
      </p:sp>
      <p:sp>
        <p:nvSpPr>
          <p:cNvPr id="9" name="!!m_mem"/>
          <p:cNvSpPr txBox="1"/>
          <p:nvPr/>
        </p:nvSpPr>
        <p:spPr>
          <a:xfrm>
            <a:off x="9753904" y="52120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15–25 MB</a:t>
            </a:r>
          </a:p>
        </p:txBody>
      </p:sp>
      <p:sp>
        <p:nvSpPr>
          <p:cNvPr id="10" name="TextBox 9"/>
          <p:cNvSpPr txBox="1"/>
          <p:nvPr/>
        </p:nvSpPr>
        <p:spPr>
          <a:xfrm>
            <a:off x="9936784" y="54406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boot</a:t>
            </a:r>
          </a:p>
        </p:txBody>
      </p:sp>
      <p:sp>
        <p:nvSpPr>
          <p:cNvPr id="11" name="!!m_boot"/>
          <p:cNvSpPr txBox="1"/>
          <p:nvPr/>
        </p:nvSpPr>
        <p:spPr>
          <a:xfrm>
            <a:off x="9753904" y="54406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100 ms</a:t>
            </a:r>
          </a:p>
        </p:txBody>
      </p:sp>
      <p:sp>
        <p:nvSpPr>
          <p:cNvPr id="12" name="TextBox 11"/>
          <p:cNvSpPr txBox="1"/>
          <p:nvPr/>
        </p:nvSpPr>
        <p:spPr>
          <a:xfrm>
            <a:off x="9936784" y="56692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input</a:t>
            </a:r>
          </a:p>
        </p:txBody>
      </p:sp>
      <p:sp>
        <p:nvSpPr>
          <p:cNvPr id="13" name="!!m_input"/>
          <p:cNvSpPr txBox="1"/>
          <p:nvPr/>
        </p:nvSpPr>
        <p:spPr>
          <a:xfrm>
            <a:off x="9753904" y="56692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7 ms</a:t>
            </a:r>
          </a:p>
        </p:txBody>
      </p:sp>
      <p:sp>
        <p:nvSpPr>
          <p:cNvPr id="14" name="TextBox 13"/>
          <p:cNvSpPr txBox="1"/>
          <p:nvPr/>
        </p:nvSpPr>
        <p:spPr>
          <a:xfrm>
            <a:off x="609904" y="1051560"/>
            <a:ext cx="10058400" cy="813816"/>
          </a:xfrm>
          <a:prstGeom prst="rect">
            <a:avLst/>
          </a:prstGeom>
          <a:noFill/>
        </p:spPr>
        <p:txBody>
          <a:bodyPr wrap="none" lIns="0" rIns="0" tIns="0" bIns="0" anchor="t">
            <a:noAutofit/>
          </a:bodyPr>
          <a:lstStyle/>
          <a:p>
            <a:pPr algn="l">
              <a:lnSpc>
                <a:spcPct val="100000"/>
              </a:lnSpc>
            </a:pPr>
            <a:r>
              <a:rPr sz="4000" b="1">
                <a:solidFill>
                  <a:srgbClr val="1D1D1F"/>
                </a:solidFill>
                <a:latin typeface="Inter"/>
                <a:cs typeface="Inter"/>
                <a:ea typeface="Inter"/>
              </a:rPr>
              <a:t>Four Layers, One Direction</a:t>
            </a:r>
          </a:p>
        </p:txBody>
      </p:sp>
      <p:sp>
        <p:nvSpPr>
          <p:cNvPr id="15" name="!!core"/>
          <p:cNvSpPr txBox="1"/>
          <p:nvPr/>
        </p:nvSpPr>
        <p:spPr>
          <a:xfrm>
            <a:off x="609904" y="1737360"/>
            <a:ext cx="7315200" cy="348615"/>
          </a:xfrm>
          <a:prstGeom prst="rect">
            <a:avLst/>
          </a:prstGeom>
          <a:noFill/>
        </p:spPr>
        <p:txBody>
          <a:bodyPr wrap="none" lIns="0" rIns="0" tIns="0" bIns="0" anchor="t">
            <a:noAutofit/>
          </a:bodyPr>
          <a:lstStyle/>
          <a:p>
            <a:pPr algn="l">
              <a:lnSpc>
                <a:spcPct val="135000"/>
              </a:lnSpc>
            </a:pPr>
            <a:r>
              <a:rPr sz="1500" b="0">
                <a:solidFill>
                  <a:srgbClr val="6E6E73"/>
                </a:solidFill>
                <a:latin typeface="JetBrains Mono"/>
                <a:cs typeface="JetBrains Mono"/>
                <a:ea typeface="JetBrains Mono"/>
              </a:rPr>
              <a:t>4 layers   ·   22 files   ·   0 external dependencies</a:t>
            </a:r>
          </a:p>
        </p:txBody>
      </p:sp>
      <p:sp>
        <p:nvSpPr>
          <p:cNvPr id="16" name="Rectangle 15"/>
          <p:cNvSpPr/>
          <p:nvPr/>
        </p:nvSpPr>
        <p:spPr>
          <a:xfrm>
            <a:off x="609904" y="2194560"/>
            <a:ext cx="8595360" cy="566928"/>
          </a:xfrm>
          <a:prstGeom prst="rect">
            <a:avLst/>
          </a:prstGeom>
          <a:noFill/>
          <a:ln w="6858">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7064" y="2363724"/>
            <a:ext cx="137160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UI</a:t>
            </a:r>
          </a:p>
        </p:txBody>
      </p:sp>
      <p:sp>
        <p:nvSpPr>
          <p:cNvPr id="18" name="TextBox 17"/>
          <p:cNvSpPr txBox="1"/>
          <p:nvPr/>
        </p:nvSpPr>
        <p:spPr>
          <a:xfrm>
            <a:off x="2072944" y="2372868"/>
            <a:ext cx="146304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src/ui/</a:t>
            </a:r>
          </a:p>
        </p:txBody>
      </p:sp>
      <p:sp>
        <p:nvSpPr>
          <p:cNvPr id="19" name="TextBox 18"/>
          <p:cNvSpPr txBox="1"/>
          <p:nvPr/>
        </p:nvSpPr>
        <p:spPr>
          <a:xfrm>
            <a:off x="3718864" y="2375611"/>
            <a:ext cx="3931920" cy="274320"/>
          </a:xfrm>
          <a:prstGeom prst="rect">
            <a:avLst/>
          </a:prstGeom>
          <a:noFill/>
        </p:spPr>
        <p:txBody>
          <a:bodyPr wrap="none" lIns="0" rIns="0" tIns="0" bIns="0" anchor="t">
            <a:noAutofit/>
          </a:bodyPr>
          <a:lstStyle/>
          <a:p>
            <a:pPr algn="l">
              <a:lnSpc>
                <a:spcPct val="100000"/>
              </a:lnSpc>
            </a:pPr>
            <a:r>
              <a:rPr sz="1200" b="0">
                <a:solidFill>
                  <a:srgbClr val="3A3A3C"/>
                </a:solidFill>
                <a:latin typeface="Inter"/>
                <a:cs typeface="Inter"/>
                <a:ea typeface="Inter"/>
              </a:rPr>
              <a:t>MainWindow · Tabs · Explorer · Terminal · StatusBar</a:t>
            </a:r>
          </a:p>
        </p:txBody>
      </p:sp>
      <p:sp>
        <p:nvSpPr>
          <p:cNvPr id="20" name="TextBox 19"/>
          <p:cNvSpPr txBox="1"/>
          <p:nvPr/>
        </p:nvSpPr>
        <p:spPr>
          <a:xfrm>
            <a:off x="7833664" y="2368296"/>
            <a:ext cx="132588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1,151  loc</a:t>
            </a:r>
          </a:p>
        </p:txBody>
      </p:sp>
      <p:sp>
        <p:nvSpPr>
          <p:cNvPr id="21" name="Rectangle 20"/>
          <p:cNvSpPr/>
          <p:nvPr/>
        </p:nvSpPr>
        <p:spPr>
          <a:xfrm>
            <a:off x="609904" y="2880360"/>
            <a:ext cx="8595360" cy="566928"/>
          </a:xfrm>
          <a:prstGeom prst="rect">
            <a:avLst/>
          </a:prstGeom>
          <a:noFill/>
          <a:ln w="6858">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7064" y="3049524"/>
            <a:ext cx="137160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Editor</a:t>
            </a:r>
          </a:p>
        </p:txBody>
      </p:sp>
      <p:sp>
        <p:nvSpPr>
          <p:cNvPr id="23" name="TextBox 22"/>
          <p:cNvSpPr txBox="1"/>
          <p:nvPr/>
        </p:nvSpPr>
        <p:spPr>
          <a:xfrm>
            <a:off x="2072944" y="3058668"/>
            <a:ext cx="146304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src/editor/</a:t>
            </a:r>
          </a:p>
        </p:txBody>
      </p:sp>
      <p:sp>
        <p:nvSpPr>
          <p:cNvPr id="24" name="TextBox 23"/>
          <p:cNvSpPr txBox="1"/>
          <p:nvPr/>
        </p:nvSpPr>
        <p:spPr>
          <a:xfrm>
            <a:off x="3718864" y="3061411"/>
            <a:ext cx="3931920" cy="274320"/>
          </a:xfrm>
          <a:prstGeom prst="rect">
            <a:avLst/>
          </a:prstGeom>
          <a:noFill/>
        </p:spPr>
        <p:txBody>
          <a:bodyPr wrap="none" lIns="0" rIns="0" tIns="0" bIns="0" anchor="t">
            <a:noAutofit/>
          </a:bodyPr>
          <a:lstStyle/>
          <a:p>
            <a:pPr algn="l">
              <a:lnSpc>
                <a:spcPct val="100000"/>
              </a:lnSpc>
            </a:pPr>
            <a:r>
              <a:rPr sz="1200" b="0">
                <a:solidFill>
                  <a:srgbClr val="3A3A3C"/>
                </a:solidFill>
                <a:latin typeface="Inter"/>
                <a:cs typeface="Inter"/>
                <a:ea typeface="Inter"/>
              </a:rPr>
              <a:t>EditorWidget (render + input) · CppHighlighter</a:t>
            </a:r>
          </a:p>
        </p:txBody>
      </p:sp>
      <p:sp>
        <p:nvSpPr>
          <p:cNvPr id="25" name="TextBox 24"/>
          <p:cNvSpPr txBox="1"/>
          <p:nvPr/>
        </p:nvSpPr>
        <p:spPr>
          <a:xfrm>
            <a:off x="7833664" y="3054096"/>
            <a:ext cx="132588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1,090  loc</a:t>
            </a:r>
          </a:p>
        </p:txBody>
      </p:sp>
      <p:sp>
        <p:nvSpPr>
          <p:cNvPr id="26" name="!!buf"/>
          <p:cNvSpPr/>
          <p:nvPr/>
        </p:nvSpPr>
        <p:spPr>
          <a:xfrm>
            <a:off x="609904" y="3566160"/>
            <a:ext cx="8595360" cy="566928"/>
          </a:xfrm>
          <a:prstGeom prst="rect">
            <a:avLst/>
          </a:prstGeom>
          <a:noFill/>
          <a:ln w="6858">
            <a:solidFill>
              <a:srgbClr val="6E6E7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7064" y="3735324"/>
            <a:ext cx="137160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Core</a:t>
            </a:r>
          </a:p>
        </p:txBody>
      </p:sp>
      <p:sp>
        <p:nvSpPr>
          <p:cNvPr id="28" name="TextBox 27"/>
          <p:cNvSpPr txBox="1"/>
          <p:nvPr/>
        </p:nvSpPr>
        <p:spPr>
          <a:xfrm>
            <a:off x="2072944" y="3744468"/>
            <a:ext cx="146304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src/core/</a:t>
            </a:r>
          </a:p>
        </p:txBody>
      </p:sp>
      <p:sp>
        <p:nvSpPr>
          <p:cNvPr id="29" name="TextBox 28"/>
          <p:cNvSpPr txBox="1"/>
          <p:nvPr/>
        </p:nvSpPr>
        <p:spPr>
          <a:xfrm>
            <a:off x="3718864" y="3747211"/>
            <a:ext cx="3931920" cy="274320"/>
          </a:xfrm>
          <a:prstGeom prst="rect">
            <a:avLst/>
          </a:prstGeom>
          <a:noFill/>
        </p:spPr>
        <p:txBody>
          <a:bodyPr wrap="none" lIns="0" rIns="0" tIns="0" bIns="0" anchor="t">
            <a:noAutofit/>
          </a:bodyPr>
          <a:lstStyle/>
          <a:p>
            <a:pPr algn="l">
              <a:lnSpc>
                <a:spcPct val="100000"/>
              </a:lnSpc>
            </a:pPr>
            <a:r>
              <a:rPr sz="1200" b="0">
                <a:solidFill>
                  <a:srgbClr val="3A3A3C"/>
                </a:solidFill>
                <a:latin typeface="Inter"/>
                <a:cs typeface="Inter"/>
                <a:ea typeface="Inter"/>
              </a:rPr>
              <a:t>TextBuffer · UndoManager · Selection</a:t>
            </a:r>
          </a:p>
        </p:txBody>
      </p:sp>
      <p:sp>
        <p:nvSpPr>
          <p:cNvPr id="30" name="TextBox 29"/>
          <p:cNvSpPr txBox="1"/>
          <p:nvPr/>
        </p:nvSpPr>
        <p:spPr>
          <a:xfrm>
            <a:off x="7833664" y="3739896"/>
            <a:ext cx="132588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423  loc</a:t>
            </a:r>
          </a:p>
        </p:txBody>
      </p:sp>
      <p:sp>
        <p:nvSpPr>
          <p:cNvPr id="31" name="Rectangle 30"/>
          <p:cNvSpPr/>
          <p:nvPr/>
        </p:nvSpPr>
        <p:spPr>
          <a:xfrm>
            <a:off x="609904" y="4251960"/>
            <a:ext cx="8595360" cy="566928"/>
          </a:xfrm>
          <a:prstGeom prst="rect">
            <a:avLst/>
          </a:prstGeom>
          <a:noFill/>
          <a:ln w="6858">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7064" y="4421124"/>
            <a:ext cx="137160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Theme</a:t>
            </a:r>
          </a:p>
        </p:txBody>
      </p:sp>
      <p:sp>
        <p:nvSpPr>
          <p:cNvPr id="33" name="TextBox 32"/>
          <p:cNvSpPr txBox="1"/>
          <p:nvPr/>
        </p:nvSpPr>
        <p:spPr>
          <a:xfrm>
            <a:off x="2072944" y="4430268"/>
            <a:ext cx="146304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src/theme/</a:t>
            </a:r>
          </a:p>
        </p:txBody>
      </p:sp>
      <p:sp>
        <p:nvSpPr>
          <p:cNvPr id="34" name="TextBox 33"/>
          <p:cNvSpPr txBox="1"/>
          <p:nvPr/>
        </p:nvSpPr>
        <p:spPr>
          <a:xfrm>
            <a:off x="3718864" y="4433011"/>
            <a:ext cx="3931920" cy="274320"/>
          </a:xfrm>
          <a:prstGeom prst="rect">
            <a:avLst/>
          </a:prstGeom>
          <a:noFill/>
        </p:spPr>
        <p:txBody>
          <a:bodyPr wrap="none" lIns="0" rIns="0" tIns="0" bIns="0" anchor="t">
            <a:noAutofit/>
          </a:bodyPr>
          <a:lstStyle/>
          <a:p>
            <a:pPr algn="l">
              <a:lnSpc>
                <a:spcPct val="100000"/>
              </a:lnSpc>
            </a:pPr>
            <a:r>
              <a:rPr sz="1200" b="0">
                <a:solidFill>
                  <a:srgbClr val="3A3A3C"/>
                </a:solidFill>
                <a:latin typeface="Inter"/>
                <a:cs typeface="Inter"/>
                <a:ea typeface="Inter"/>
              </a:rPr>
              <a:t>Colour palette · font metrics (header-only)</a:t>
            </a:r>
          </a:p>
        </p:txBody>
      </p:sp>
      <p:sp>
        <p:nvSpPr>
          <p:cNvPr id="35" name="TextBox 34"/>
          <p:cNvSpPr txBox="1"/>
          <p:nvPr/>
        </p:nvSpPr>
        <p:spPr>
          <a:xfrm>
            <a:off x="7833664" y="4425696"/>
            <a:ext cx="132588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77  loc</a:t>
            </a:r>
          </a:p>
        </p:txBody>
      </p:sp>
      <p:sp>
        <p:nvSpPr>
          <p:cNvPr id="36" name="TextBox 35"/>
          <p:cNvSpPr txBox="1"/>
          <p:nvPr/>
        </p:nvSpPr>
        <p:spPr>
          <a:xfrm>
            <a:off x="9571024" y="2267712"/>
            <a:ext cx="2194560" cy="754380"/>
          </a:xfrm>
          <a:prstGeom prst="rect">
            <a:avLst/>
          </a:prstGeom>
          <a:noFill/>
        </p:spPr>
        <p:txBody>
          <a:bodyPr wrap="none" lIns="0" rIns="0" tIns="0" bIns="0" anchor="t">
            <a:noAutofit/>
          </a:bodyPr>
          <a:lstStyle/>
          <a:p>
            <a:pPr algn="l">
              <a:lnSpc>
                <a:spcPct val="145000"/>
              </a:lnSpc>
            </a:pPr>
            <a:r>
              <a:rPr sz="1200" b="0">
                <a:solidFill>
                  <a:srgbClr val="6E6E73"/>
                </a:solidFill>
                <a:latin typeface="JetBrains Mono"/>
                <a:cs typeface="JetBrains Mono"/>
                <a:ea typeface="JetBrains Mono"/>
              </a:rPr>
              <a:t>a layer depends</a:t>
            </a:r>
          </a:p>
          <a:p>
            <a:pPr algn="l">
              <a:lnSpc>
                <a:spcPct val="145000"/>
              </a:lnSpc>
            </a:pPr>
            <a:r>
              <a:rPr sz="1200" b="0">
                <a:solidFill>
                  <a:srgbClr val="6E6E73"/>
                </a:solidFill>
                <a:latin typeface="JetBrains Mono"/>
                <a:cs typeface="JetBrains Mono"/>
                <a:ea typeface="JetBrains Mono"/>
              </a:rPr>
              <a:t>only on layers</a:t>
            </a:r>
          </a:p>
          <a:p>
            <a:pPr algn="l">
              <a:lnSpc>
                <a:spcPct val="145000"/>
              </a:lnSpc>
            </a:pPr>
            <a:r>
              <a:rPr sz="1200" b="0">
                <a:solidFill>
                  <a:srgbClr val="6E6E73"/>
                </a:solidFill>
                <a:latin typeface="JetBrains Mono"/>
                <a:cs typeface="JetBrains Mono"/>
                <a:ea typeface="JetBrains Mono"/>
              </a:rPr>
              <a:t>below it.</a:t>
            </a:r>
          </a:p>
        </p:txBody>
      </p:sp>
      <p:sp>
        <p:nvSpPr>
          <p:cNvPr id="37" name="TextBox 36"/>
          <p:cNvSpPr txBox="1"/>
          <p:nvPr/>
        </p:nvSpPr>
        <p:spPr>
          <a:xfrm>
            <a:off x="9571024" y="3255264"/>
            <a:ext cx="2377440" cy="975360"/>
          </a:xfrm>
          <a:prstGeom prst="rect">
            <a:avLst/>
          </a:prstGeom>
          <a:noFill/>
        </p:spPr>
        <p:txBody>
          <a:bodyPr wrap="none" lIns="0" rIns="0" tIns="0" bIns="0" anchor="t">
            <a:noAutofit/>
          </a:bodyPr>
          <a:lstStyle/>
          <a:p>
            <a:pPr algn="l">
              <a:lnSpc>
                <a:spcPct val="145000"/>
              </a:lnSpc>
            </a:pPr>
            <a:r>
              <a:rPr sz="1200" b="0">
                <a:solidFill>
                  <a:srgbClr val="A1A1A6"/>
                </a:solidFill>
                <a:latin typeface="JetBrains Mono"/>
                <a:cs typeface="JetBrains Mono"/>
                <a:ea typeface="JetBrains Mono"/>
              </a:rPr>
              <a:t>the UI never touches</a:t>
            </a:r>
          </a:p>
          <a:p>
            <a:pPr algn="l">
              <a:lnSpc>
                <a:spcPct val="145000"/>
              </a:lnSpc>
            </a:pPr>
            <a:r>
              <a:rPr sz="1200" b="0">
                <a:solidFill>
                  <a:srgbClr val="A1A1A6"/>
                </a:solidFill>
                <a:latin typeface="JetBrains Mono"/>
                <a:cs typeface="JetBrains Mono"/>
                <a:ea typeface="JetBrains Mono"/>
              </a:rPr>
              <a:t>TextBuffer directly —</a:t>
            </a:r>
          </a:p>
          <a:p>
            <a:pPr algn="l">
              <a:lnSpc>
                <a:spcPct val="145000"/>
              </a:lnSpc>
            </a:pPr>
            <a:r>
              <a:rPr sz="1200" b="0">
                <a:solidFill>
                  <a:srgbClr val="A1A1A6"/>
                </a:solidFill>
                <a:latin typeface="JetBrains Mono"/>
                <a:cs typeface="JetBrains Mono"/>
                <a:ea typeface="JetBrains Mono"/>
              </a:rPr>
              <a:t>it goes through</a:t>
            </a:r>
          </a:p>
          <a:p>
            <a:pPr algn="l">
              <a:lnSpc>
                <a:spcPct val="145000"/>
              </a:lnSpc>
            </a:pPr>
            <a:r>
              <a:rPr sz="1200" b="0">
                <a:solidFill>
                  <a:srgbClr val="A1A1A6"/>
                </a:solidFill>
                <a:latin typeface="JetBrains Mono"/>
                <a:cs typeface="JetBrains Mono"/>
                <a:ea typeface="JetBrains Mono"/>
              </a:rPr>
              <a:t>EditorWidget.</a:t>
            </a:r>
          </a:p>
        </p:txBody>
      </p:sp>
      <p:sp>
        <p:nvSpPr>
          <p:cNvPr id="38" name="TextBox 37"/>
          <p:cNvSpPr txBox="1"/>
          <p:nvPr/>
        </p:nvSpPr>
        <p:spPr>
          <a:xfrm>
            <a:off x="609904" y="5029200"/>
            <a:ext cx="932688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layers an Electron editor adds above this:   Chromium renderer  ·  V8 / Node runtime  ·  DOM + CSS layout</a:t>
            </a:r>
          </a:p>
        </p:txBody>
      </p:sp>
      <p:sp>
        <p:nvSpPr>
          <p:cNvPr id="39" name="TextBox 38"/>
          <p:cNvSpPr txBox="1"/>
          <p:nvPr/>
        </p:nvSpPr>
        <p:spPr>
          <a:xfrm>
            <a:off x="609904" y="5340096"/>
            <a:ext cx="5486400" cy="29718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layers Valence adds above this:   none</a:t>
            </a:r>
          </a:p>
        </p:txBody>
      </p:sp>
      <p:sp>
        <p:nvSpPr>
          <p:cNvPr id="40" name="TextBox 39"/>
          <p:cNvSpPr txBox="1"/>
          <p:nvPr/>
        </p:nvSpPr>
        <p:spPr>
          <a:xfrm>
            <a:off x="609904" y="585216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the top two layers of the stack belong to the operating system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50">
        <p159:morph option="byObject"/>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/src/core/text_buffer.cpp</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07 / 17      0 errors</a:t>
            </a:r>
          </a:p>
        </p:txBody>
      </p:sp>
      <p:sp>
        <p:nvSpPr>
          <p:cNvPr id="8" name="TextBox 7"/>
          <p:cNvSpPr txBox="1"/>
          <p:nvPr/>
        </p:nvSpPr>
        <p:spPr>
          <a:xfrm>
            <a:off x="609904" y="1051560"/>
            <a:ext cx="10058400" cy="745236"/>
          </a:xfrm>
          <a:prstGeom prst="rect">
            <a:avLst/>
          </a:prstGeom>
          <a:noFill/>
        </p:spPr>
        <p:txBody>
          <a:bodyPr wrap="none" lIns="0" rIns="0" tIns="0" bIns="0" anchor="t">
            <a:noAutofit/>
          </a:bodyPr>
          <a:lstStyle/>
          <a:p>
            <a:pPr algn="l">
              <a:lnSpc>
                <a:spcPct val="100000"/>
              </a:lnSpc>
            </a:pPr>
            <a:r>
              <a:rPr sz="3600" b="1">
                <a:solidFill>
                  <a:srgbClr val="1D1D1F"/>
                </a:solidFill>
                <a:latin typeface="Inter"/>
                <a:cs typeface="Inter"/>
                <a:ea typeface="Inter"/>
              </a:rPr>
              <a:t>The Buffer Is a Decision, Not a Default</a:t>
            </a:r>
          </a:p>
        </p:txBody>
      </p:sp>
      <p:sp>
        <p:nvSpPr>
          <p:cNvPr id="9" name="TextBox 8"/>
          <p:cNvSpPr txBox="1"/>
          <p:nvPr/>
        </p:nvSpPr>
        <p:spPr>
          <a:xfrm>
            <a:off x="609904" y="2537460"/>
            <a:ext cx="7315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one std::string per line   ·   no newline characters stored</a:t>
            </a:r>
          </a:p>
        </p:txBody>
      </p:sp>
      <p:sp>
        <p:nvSpPr>
          <p:cNvPr id="10" name="!!buf"/>
          <p:cNvSpPr txBox="1"/>
          <p:nvPr/>
        </p:nvSpPr>
        <p:spPr>
          <a:xfrm>
            <a:off x="609904" y="3017520"/>
            <a:ext cx="8686800" cy="594360"/>
          </a:xfrm>
          <a:prstGeom prst="rect">
            <a:avLst/>
          </a:prstGeom>
          <a:noFill/>
        </p:spPr>
        <p:txBody>
          <a:bodyPr wrap="none" lIns="0" rIns="0" tIns="0" bIns="0" anchor="t">
            <a:noAutofit/>
          </a:bodyPr>
          <a:lstStyle/>
          <a:p>
            <a:pPr algn="l">
              <a:lnSpc>
                <a:spcPct val="100000"/>
              </a:lnSpc>
            </a:pPr>
            <a:r>
              <a:rPr sz="3000" b="0">
                <a:solidFill>
                  <a:srgbClr val="1D1D1F"/>
                </a:solidFill>
                <a:latin typeface="JetBrains Mono"/>
                <a:cs typeface="JetBrains Mono"/>
                <a:ea typeface="JetBrains Mono"/>
              </a:rPr>
              <a:t>std::vector&lt;std::string&gt; lines_;</a:t>
            </a:r>
          </a:p>
        </p:txBody>
      </p:sp>
      <p:sp>
        <p:nvSpPr>
          <p:cNvPr id="11" name="TextBox 10"/>
          <p:cNvSpPr txBox="1"/>
          <p:nvPr/>
        </p:nvSpPr>
        <p:spPr>
          <a:xfrm>
            <a:off x="609904" y="3977639"/>
            <a:ext cx="5486400" cy="918210"/>
          </a:xfrm>
          <a:prstGeom prst="rect">
            <a:avLst/>
          </a:prstGeom>
          <a:noFill/>
        </p:spPr>
        <p:txBody>
          <a:bodyPr wrap="none" lIns="0" rIns="0" tIns="0" bIns="0" anchor="t">
            <a:noAutofit/>
          </a:bodyPr>
          <a:lstStyle/>
          <a:p>
            <a:pPr algn="l">
              <a:lnSpc>
                <a:spcPct val="155000"/>
              </a:lnSpc>
            </a:pPr>
            <a:r>
              <a:rPr sz="1400" b="0">
                <a:solidFill>
                  <a:srgbClr val="6E6E73"/>
                </a:solidFill>
                <a:latin typeface="JetBrains Mono"/>
                <a:cs typeface="JetBrains Mono"/>
                <a:ea typeface="JetBrains Mono"/>
              </a:rPr>
              <a:t>lines_[N]</a:t>
            </a:r>
          </a:p>
          <a:p>
            <a:pPr algn="l">
              <a:lnSpc>
                <a:spcPct val="155000"/>
              </a:lnSpc>
            </a:pPr>
            <a:r>
              <a:rPr sz="1400" b="0">
                <a:solidFill>
                  <a:srgbClr val="6E6E73"/>
                </a:solidFill>
                <a:latin typeface="JetBrains Mono"/>
                <a:cs typeface="JetBrains Mono"/>
                <a:ea typeface="JetBrains Mono"/>
              </a:rPr>
              <a:t>lines_[N].insert(col, 1, ch)</a:t>
            </a:r>
          </a:p>
          <a:p>
            <a:pPr algn="l">
              <a:lnSpc>
                <a:spcPct val="155000"/>
              </a:lnSpc>
            </a:pPr>
            <a:r>
              <a:rPr sz="1400" b="0">
                <a:solidFill>
                  <a:srgbClr val="6E6E73"/>
                </a:solidFill>
                <a:latin typeface="JetBrains Mono"/>
                <a:cs typeface="JetBrains Mono"/>
                <a:ea typeface="JetBrains Mono"/>
              </a:rPr>
              <a:t>lines_.insert(begin + N, tail)</a:t>
            </a:r>
          </a:p>
        </p:txBody>
      </p:sp>
      <p:sp>
        <p:nvSpPr>
          <p:cNvPr id="12" name="TextBox 11"/>
          <p:cNvSpPr txBox="1"/>
          <p:nvPr/>
        </p:nvSpPr>
        <p:spPr>
          <a:xfrm>
            <a:off x="5639104" y="3977639"/>
            <a:ext cx="4572000" cy="918210"/>
          </a:xfrm>
          <a:prstGeom prst="rect">
            <a:avLst/>
          </a:prstGeom>
          <a:noFill/>
        </p:spPr>
        <p:txBody>
          <a:bodyPr wrap="none" lIns="0" rIns="0" tIns="0" bIns="0" anchor="t">
            <a:noAutofit/>
          </a:bodyPr>
          <a:lstStyle/>
          <a:p>
            <a:pPr algn="l">
              <a:lnSpc>
                <a:spcPct val="155000"/>
              </a:lnSpc>
            </a:pPr>
            <a:r>
              <a:rPr sz="1400" b="0">
                <a:solidFill>
                  <a:srgbClr val="1D1D1F"/>
                </a:solidFill>
                <a:latin typeface="JetBrains Mono"/>
                <a:cs typeface="JetBrains Mono"/>
                <a:ea typeface="JetBrains Mono"/>
              </a:rPr>
              <a:t>O(1)  —  direct index</a:t>
            </a:r>
          </a:p>
          <a:p>
            <a:pPr algn="l">
              <a:lnSpc>
                <a:spcPct val="155000"/>
              </a:lnSpc>
            </a:pPr>
            <a:r>
              <a:rPr sz="1400" b="0">
                <a:solidFill>
                  <a:srgbClr val="1D1D1F"/>
                </a:solidFill>
                <a:latin typeface="JetBrains Mono"/>
                <a:cs typeface="JetBrains Mono"/>
                <a:ea typeface="JetBrains Mono"/>
              </a:rPr>
              <a:t>O(n)  —  length of that line</a:t>
            </a:r>
          </a:p>
          <a:p>
            <a:pPr algn="l">
              <a:lnSpc>
                <a:spcPct val="155000"/>
              </a:lnSpc>
            </a:pPr>
            <a:r>
              <a:rPr sz="1400" b="0">
                <a:solidFill>
                  <a:srgbClr val="1D1D1F"/>
                </a:solidFill>
                <a:latin typeface="JetBrains Mono"/>
                <a:cs typeface="JetBrains Mono"/>
                <a:ea typeface="JetBrains Mono"/>
              </a:rPr>
              <a:t>O(m)  —  total line count</a:t>
            </a:r>
          </a:p>
        </p:txBody>
      </p:sp>
      <p:sp>
        <p:nvSpPr>
          <p:cNvPr id="13" name="TextBox 12"/>
          <p:cNvSpPr txBox="1"/>
          <p:nvPr/>
        </p:nvSpPr>
        <p:spPr>
          <a:xfrm>
            <a:off x="609904" y="585216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197 lines of text_buffer.cpp. that is the whole document model.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50">
        <p159:morph option="byObject"/>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/docs/tradeoffs.md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07 / 17      0 errors</a:t>
            </a:r>
          </a:p>
        </p:txBody>
      </p:sp>
      <p:sp>
        <p:nvSpPr>
          <p:cNvPr id="8" name="TextBox 7"/>
          <p:cNvSpPr txBox="1"/>
          <p:nvPr/>
        </p:nvSpPr>
        <p:spPr>
          <a:xfrm>
            <a:off x="609904" y="1051560"/>
            <a:ext cx="10058400" cy="745236"/>
          </a:xfrm>
          <a:prstGeom prst="rect">
            <a:avLst/>
          </a:prstGeom>
          <a:noFill/>
        </p:spPr>
        <p:txBody>
          <a:bodyPr wrap="none" lIns="0" rIns="0" tIns="0" bIns="0" anchor="t">
            <a:noAutofit/>
          </a:bodyPr>
          <a:lstStyle/>
          <a:p>
            <a:pPr algn="l">
              <a:lnSpc>
                <a:spcPct val="100000"/>
              </a:lnSpc>
            </a:pPr>
            <a:r>
              <a:rPr sz="3600" b="1">
                <a:solidFill>
                  <a:srgbClr val="1D1D1F"/>
                </a:solidFill>
                <a:latin typeface="Inter"/>
                <a:cs typeface="Inter"/>
                <a:ea typeface="Inter"/>
              </a:rPr>
              <a:t>The Buffer Is a Decision, Not a Default</a:t>
            </a:r>
          </a:p>
        </p:txBody>
      </p:sp>
      <p:sp>
        <p:nvSpPr>
          <p:cNvPr id="9" name="TextBox 8"/>
          <p:cNvSpPr txBox="1"/>
          <p:nvPr/>
        </p:nvSpPr>
        <p:spPr>
          <a:xfrm>
            <a:off x="609904" y="1783080"/>
            <a:ext cx="7315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three candidates   ·   five criteria   ·   one rendering workload</a:t>
            </a:r>
          </a:p>
        </p:txBody>
      </p:sp>
      <p:sp>
        <p:nvSpPr>
          <p:cNvPr id="10" name="!!buf"/>
          <p:cNvSpPr txBox="1"/>
          <p:nvPr/>
        </p:nvSpPr>
        <p:spPr>
          <a:xfrm>
            <a:off x="3535984" y="2286000"/>
            <a:ext cx="2606040" cy="365760"/>
          </a:xfrm>
          <a:prstGeom prst="rect">
            <a:avLst/>
          </a:prstGeom>
          <a:noFill/>
        </p:spPr>
        <p:txBody>
          <a:bodyPr wrap="none" lIns="0" rIns="0" tIns="0" bIns="0" anchor="t">
            <a:noAutofit/>
          </a:bodyPr>
          <a:lstStyle/>
          <a:p>
            <a:pPr algn="l">
              <a:lnSpc>
                <a:spcPct val="135000"/>
              </a:lnSpc>
            </a:pPr>
            <a:r>
              <a:rPr sz="1600" b="1">
                <a:solidFill>
                  <a:srgbClr val="1D1D1F"/>
                </a:solidFill>
                <a:latin typeface="JetBrains Mono"/>
                <a:cs typeface="JetBrains Mono"/>
                <a:ea typeface="JetBrains Mono"/>
              </a:rPr>
              <a:t>line array</a:t>
            </a:r>
          </a:p>
        </p:txBody>
      </p:sp>
      <p:sp>
        <p:nvSpPr>
          <p:cNvPr id="11" name="TextBox 10"/>
          <p:cNvSpPr txBox="1"/>
          <p:nvPr/>
        </p:nvSpPr>
        <p:spPr>
          <a:xfrm>
            <a:off x="6462064" y="2286000"/>
            <a:ext cx="2331720" cy="365760"/>
          </a:xfrm>
          <a:prstGeom prst="rect">
            <a:avLst/>
          </a:prstGeom>
          <a:noFill/>
        </p:spPr>
        <p:txBody>
          <a:bodyPr wrap="none" lIns="0" rIns="0" tIns="0" bIns="0" anchor="t">
            <a:noAutofit/>
          </a:bodyPr>
          <a:lstStyle/>
          <a:p>
            <a:pPr algn="l">
              <a:lnSpc>
                <a:spcPct val="135000"/>
              </a:lnSpc>
            </a:pPr>
            <a:r>
              <a:rPr sz="1600" b="0">
                <a:solidFill>
                  <a:srgbClr val="A1A1A6"/>
                </a:solidFill>
                <a:latin typeface="JetBrains Mono"/>
                <a:cs typeface="JetBrains Mono"/>
                <a:ea typeface="JetBrains Mono"/>
              </a:rPr>
              <a:t>rope</a:t>
            </a:r>
          </a:p>
        </p:txBody>
      </p:sp>
      <p:sp>
        <p:nvSpPr>
          <p:cNvPr id="12" name="TextBox 11"/>
          <p:cNvSpPr txBox="1"/>
          <p:nvPr/>
        </p:nvSpPr>
        <p:spPr>
          <a:xfrm>
            <a:off x="9159544" y="2286000"/>
            <a:ext cx="2423160" cy="365760"/>
          </a:xfrm>
          <a:prstGeom prst="rect">
            <a:avLst/>
          </a:prstGeom>
          <a:noFill/>
        </p:spPr>
        <p:txBody>
          <a:bodyPr wrap="none" lIns="0" rIns="0" tIns="0" bIns="0" anchor="t">
            <a:noAutofit/>
          </a:bodyPr>
          <a:lstStyle/>
          <a:p>
            <a:pPr algn="l">
              <a:lnSpc>
                <a:spcPct val="135000"/>
              </a:lnSpc>
            </a:pPr>
            <a:r>
              <a:rPr sz="1600" b="0">
                <a:solidFill>
                  <a:srgbClr val="A1A1A6"/>
                </a:solidFill>
                <a:latin typeface="JetBrains Mono"/>
                <a:cs typeface="JetBrains Mono"/>
                <a:ea typeface="JetBrains Mono"/>
              </a:rPr>
              <a:t>piece table</a:t>
            </a:r>
          </a:p>
        </p:txBody>
      </p:sp>
      <p:sp>
        <p:nvSpPr>
          <p:cNvPr id="13" name="TextBox 12"/>
          <p:cNvSpPr txBox="1"/>
          <p:nvPr/>
        </p:nvSpPr>
        <p:spPr>
          <a:xfrm>
            <a:off x="609904" y="2834640"/>
            <a:ext cx="2743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insert, mid-line</a:t>
            </a:r>
          </a:p>
        </p:txBody>
      </p:sp>
      <p:sp>
        <p:nvSpPr>
          <p:cNvPr id="14" name="TextBox 13"/>
          <p:cNvSpPr txBox="1"/>
          <p:nvPr/>
        </p:nvSpPr>
        <p:spPr>
          <a:xfrm>
            <a:off x="3535984" y="2834640"/>
            <a:ext cx="26060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O(n) line length</a:t>
            </a:r>
          </a:p>
        </p:txBody>
      </p:sp>
      <p:sp>
        <p:nvSpPr>
          <p:cNvPr id="15" name="TextBox 14"/>
          <p:cNvSpPr txBox="1"/>
          <p:nvPr/>
        </p:nvSpPr>
        <p:spPr>
          <a:xfrm>
            <a:off x="6462064" y="2834640"/>
            <a:ext cx="233172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O(log n)</a:t>
            </a:r>
          </a:p>
        </p:txBody>
      </p:sp>
      <p:sp>
        <p:nvSpPr>
          <p:cNvPr id="16" name="TextBox 15"/>
          <p:cNvSpPr txBox="1"/>
          <p:nvPr/>
        </p:nvSpPr>
        <p:spPr>
          <a:xfrm>
            <a:off x="9159544" y="2834640"/>
            <a:ext cx="242316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O(1) amortised</a:t>
            </a:r>
          </a:p>
        </p:txBody>
      </p:sp>
      <p:sp>
        <p:nvSpPr>
          <p:cNvPr id="17" name="TextBox 16"/>
          <p:cNvSpPr txBox="1"/>
          <p:nvPr/>
        </p:nvSpPr>
        <p:spPr>
          <a:xfrm>
            <a:off x="609904" y="3337560"/>
            <a:ext cx="2743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insert, new line</a:t>
            </a:r>
          </a:p>
        </p:txBody>
      </p:sp>
      <p:sp>
        <p:nvSpPr>
          <p:cNvPr id="18" name="TextBox 17"/>
          <p:cNvSpPr txBox="1"/>
          <p:nvPr/>
        </p:nvSpPr>
        <p:spPr>
          <a:xfrm>
            <a:off x="3535984" y="3337560"/>
            <a:ext cx="26060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O(m) line count</a:t>
            </a:r>
          </a:p>
        </p:txBody>
      </p:sp>
      <p:sp>
        <p:nvSpPr>
          <p:cNvPr id="19" name="TextBox 18"/>
          <p:cNvSpPr txBox="1"/>
          <p:nvPr/>
        </p:nvSpPr>
        <p:spPr>
          <a:xfrm>
            <a:off x="6462064" y="3337560"/>
            <a:ext cx="233172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O(log n)</a:t>
            </a:r>
          </a:p>
        </p:txBody>
      </p:sp>
      <p:sp>
        <p:nvSpPr>
          <p:cNvPr id="20" name="TextBox 19"/>
          <p:cNvSpPr txBox="1"/>
          <p:nvPr/>
        </p:nvSpPr>
        <p:spPr>
          <a:xfrm>
            <a:off x="9159544" y="3337560"/>
            <a:ext cx="242316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O(1)</a:t>
            </a:r>
          </a:p>
        </p:txBody>
      </p:sp>
      <p:sp>
        <p:nvSpPr>
          <p:cNvPr id="21" name="TextBox 20"/>
          <p:cNvSpPr txBox="1"/>
          <p:nvPr/>
        </p:nvSpPr>
        <p:spPr>
          <a:xfrm>
            <a:off x="609904" y="3840480"/>
            <a:ext cx="2743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random access line N</a:t>
            </a:r>
          </a:p>
        </p:txBody>
      </p:sp>
      <p:sp>
        <p:nvSpPr>
          <p:cNvPr id="22" name="TextBox 21"/>
          <p:cNvSpPr txBox="1"/>
          <p:nvPr/>
        </p:nvSpPr>
        <p:spPr>
          <a:xfrm>
            <a:off x="3535984" y="3840480"/>
            <a:ext cx="26060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O(1) — index</a:t>
            </a:r>
          </a:p>
        </p:txBody>
      </p:sp>
      <p:sp>
        <p:nvSpPr>
          <p:cNvPr id="23" name="TextBox 22"/>
          <p:cNvSpPr txBox="1"/>
          <p:nvPr/>
        </p:nvSpPr>
        <p:spPr>
          <a:xfrm>
            <a:off x="6462064" y="3840480"/>
            <a:ext cx="233172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O(log n) — traverse</a:t>
            </a:r>
          </a:p>
        </p:txBody>
      </p:sp>
      <p:sp>
        <p:nvSpPr>
          <p:cNvPr id="24" name="TextBox 23"/>
          <p:cNvSpPr txBox="1"/>
          <p:nvPr/>
        </p:nvSpPr>
        <p:spPr>
          <a:xfrm>
            <a:off x="9159544" y="3840480"/>
            <a:ext cx="242316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O(k) — scan spans</a:t>
            </a:r>
          </a:p>
        </p:txBody>
      </p:sp>
      <p:sp>
        <p:nvSpPr>
          <p:cNvPr id="25" name="TextBox 24"/>
          <p:cNvSpPr txBox="1"/>
          <p:nvPr/>
        </p:nvSpPr>
        <p:spPr>
          <a:xfrm>
            <a:off x="609904" y="4343400"/>
            <a:ext cx="2743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memory overhead</a:t>
            </a:r>
          </a:p>
        </p:txBody>
      </p:sp>
      <p:sp>
        <p:nvSpPr>
          <p:cNvPr id="26" name="TextBox 25"/>
          <p:cNvSpPr txBox="1"/>
          <p:nvPr/>
        </p:nvSpPr>
        <p:spPr>
          <a:xfrm>
            <a:off x="3535984" y="4343400"/>
            <a:ext cx="26060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low</a:t>
            </a:r>
          </a:p>
        </p:txBody>
      </p:sp>
      <p:sp>
        <p:nvSpPr>
          <p:cNvPr id="27" name="TextBox 26"/>
          <p:cNvSpPr txBox="1"/>
          <p:nvPr/>
        </p:nvSpPr>
        <p:spPr>
          <a:xfrm>
            <a:off x="6462064" y="4343400"/>
            <a:ext cx="233172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high — tree nodes</a:t>
            </a:r>
          </a:p>
        </p:txBody>
      </p:sp>
      <p:sp>
        <p:nvSpPr>
          <p:cNvPr id="28" name="TextBox 27"/>
          <p:cNvSpPr txBox="1"/>
          <p:nvPr/>
        </p:nvSpPr>
        <p:spPr>
          <a:xfrm>
            <a:off x="9159544" y="4343400"/>
            <a:ext cx="242316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medium — span table</a:t>
            </a:r>
          </a:p>
        </p:txBody>
      </p:sp>
      <p:sp>
        <p:nvSpPr>
          <p:cNvPr id="29" name="TextBox 28"/>
          <p:cNvSpPr txBox="1"/>
          <p:nvPr/>
        </p:nvSpPr>
        <p:spPr>
          <a:xfrm>
            <a:off x="609904" y="4846320"/>
            <a:ext cx="2743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shipped in</a:t>
            </a:r>
          </a:p>
        </p:txBody>
      </p:sp>
      <p:sp>
        <p:nvSpPr>
          <p:cNvPr id="30" name="TextBox 29"/>
          <p:cNvSpPr txBox="1"/>
          <p:nvPr/>
        </p:nvSpPr>
        <p:spPr>
          <a:xfrm>
            <a:off x="3535984" y="4846320"/>
            <a:ext cx="26060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nano, micro</a:t>
            </a:r>
          </a:p>
        </p:txBody>
      </p:sp>
      <p:sp>
        <p:nvSpPr>
          <p:cNvPr id="31" name="TextBox 30"/>
          <p:cNvSpPr txBox="1"/>
          <p:nvPr/>
        </p:nvSpPr>
        <p:spPr>
          <a:xfrm>
            <a:off x="6462064" y="4846320"/>
            <a:ext cx="233172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xi editor</a:t>
            </a:r>
          </a:p>
        </p:txBody>
      </p:sp>
      <p:sp>
        <p:nvSpPr>
          <p:cNvPr id="32" name="TextBox 31"/>
          <p:cNvSpPr txBox="1"/>
          <p:nvPr/>
        </p:nvSpPr>
        <p:spPr>
          <a:xfrm>
            <a:off x="9159544" y="4846320"/>
            <a:ext cx="242316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vs code (monaco)</a:t>
            </a:r>
          </a:p>
        </p:txBody>
      </p:sp>
      <p:sp>
        <p:nvSpPr>
          <p:cNvPr id="33" name="Rectangle 32"/>
          <p:cNvSpPr/>
          <p:nvPr/>
        </p:nvSpPr>
        <p:spPr>
          <a:xfrm>
            <a:off x="609904" y="269748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09904" y="320040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09904" y="370332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09904" y="420624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09904" y="47091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09904" y="521208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09904" y="5440680"/>
            <a:ext cx="8229600" cy="331470"/>
          </a:xfrm>
          <a:prstGeom prst="rect">
            <a:avLst/>
          </a:prstGeom>
          <a:noFill/>
        </p:spPr>
        <p:txBody>
          <a:bodyPr wrap="none" lIns="0" rIns="0" tIns="0" bIns="0" anchor="t">
            <a:noAutofit/>
          </a:bodyPr>
          <a:lstStyle/>
          <a:p>
            <a:pPr algn="l">
              <a:lnSpc>
                <a:spcPct val="135000"/>
              </a:lnSpc>
            </a:pPr>
            <a:r>
              <a:rPr sz="1400" b="0">
                <a:solidFill>
                  <a:srgbClr val="1D1D1F"/>
                </a:solidFill>
                <a:latin typeface="JetBrains Mono"/>
                <a:cs typeface="JetBrains Mono"/>
                <a:ea typeface="JetBrains Mono"/>
              </a:rPr>
              <a:t>the renderer looks up ~50 lines every frame, 60 times a second.</a:t>
            </a:r>
          </a:p>
        </p:txBody>
      </p:sp>
      <p:sp>
        <p:nvSpPr>
          <p:cNvPr id="40" name="TextBox 39"/>
          <p:cNvSpPr txBox="1"/>
          <p:nvPr/>
        </p:nvSpPr>
        <p:spPr>
          <a:xfrm>
            <a:off x="609904" y="585216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access cost dominates insert cost. that is why the rope lost.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50">
        <p159:morph option="byObject"/>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/src/editor/editor_widget.cpp</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07 / 17      0 errors</a:t>
            </a:r>
          </a:p>
        </p:txBody>
      </p:sp>
      <p:sp>
        <p:nvSpPr>
          <p:cNvPr id="8" name="TextBox 7"/>
          <p:cNvSpPr txBox="1"/>
          <p:nvPr/>
        </p:nvSpPr>
        <p:spPr>
          <a:xfrm>
            <a:off x="609904" y="1051560"/>
            <a:ext cx="10058400" cy="745236"/>
          </a:xfrm>
          <a:prstGeom prst="rect">
            <a:avLst/>
          </a:prstGeom>
          <a:noFill/>
        </p:spPr>
        <p:txBody>
          <a:bodyPr wrap="none" lIns="0" rIns="0" tIns="0" bIns="0" anchor="t">
            <a:noAutofit/>
          </a:bodyPr>
          <a:lstStyle/>
          <a:p>
            <a:pPr algn="l">
              <a:lnSpc>
                <a:spcPct val="100000"/>
              </a:lnSpc>
            </a:pPr>
            <a:r>
              <a:rPr sz="3600" b="1">
                <a:solidFill>
                  <a:srgbClr val="1D1D1F"/>
                </a:solidFill>
                <a:latin typeface="Inter"/>
                <a:cs typeface="Inter"/>
                <a:ea typeface="Inter"/>
              </a:rPr>
              <a:t>The Buffer Is a Decision, Not a Default</a:t>
            </a:r>
          </a:p>
        </p:txBody>
      </p:sp>
      <p:sp>
        <p:nvSpPr>
          <p:cNvPr id="9" name="TextBox 8"/>
          <p:cNvSpPr txBox="1"/>
          <p:nvPr/>
        </p:nvSpPr>
        <p:spPr>
          <a:xfrm>
            <a:off x="609904" y="1783080"/>
            <a:ext cx="7315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1,000 lines in the buffer   ·   42 drawn</a:t>
            </a:r>
          </a:p>
        </p:txBody>
      </p:sp>
      <p:sp>
        <p:nvSpPr>
          <p:cNvPr id="10" name="Rectangle 9"/>
          <p:cNvSpPr/>
          <p:nvPr/>
        </p:nvSpPr>
        <p:spPr>
          <a:xfrm>
            <a:off x="609904" y="2212848"/>
            <a:ext cx="2565806"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09904" y="2283256"/>
            <a:ext cx="1227124"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9904" y="2353665"/>
            <a:ext cx="1980133"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09904" y="2424074"/>
            <a:ext cx="836675"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9904" y="2494483"/>
            <a:ext cx="2398471"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09904" y="2564891"/>
            <a:ext cx="1617573"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09904" y="2635300"/>
            <a:ext cx="2705252"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09904" y="2705709"/>
            <a:ext cx="1004011"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09904" y="2776118"/>
            <a:ext cx="1784908"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09904" y="2846527"/>
            <a:ext cx="2203246"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09904" y="2916936"/>
            <a:ext cx="697230"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09904" y="2987344"/>
            <a:ext cx="2454249"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09904" y="3057753"/>
            <a:ext cx="1450238"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09904" y="3128162"/>
            <a:ext cx="2063800"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09904" y="3198571"/>
            <a:ext cx="1143457"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09904" y="3268980"/>
            <a:ext cx="2649473"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9904" y="3339388"/>
            <a:ext cx="920343"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09904" y="3409797"/>
            <a:ext cx="1896465"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09904" y="3480206"/>
            <a:ext cx="2314803"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09904" y="3550615"/>
            <a:ext cx="1310792"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09904" y="3621024"/>
            <a:ext cx="2510028"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09904" y="3691432"/>
            <a:ext cx="780897"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09904" y="3761841"/>
            <a:ext cx="1701241"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09904" y="3832250"/>
            <a:ext cx="2119579"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09904" y="3902659"/>
            <a:ext cx="1087678"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09904" y="3973068"/>
            <a:ext cx="2593695"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09904" y="4043476"/>
            <a:ext cx="1533906" cy="2743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09904" y="4113885"/>
            <a:ext cx="1952243"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09904" y="4184294"/>
            <a:ext cx="976121"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09904" y="4254703"/>
            <a:ext cx="2370582"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09904" y="4325112"/>
            <a:ext cx="1366570"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09904" y="4395520"/>
            <a:ext cx="2231136"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09904" y="4465929"/>
            <a:ext cx="1199235"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09904" y="4536338"/>
            <a:ext cx="1840687"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09904" y="4606747"/>
            <a:ext cx="864565"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09904" y="4677156"/>
            <a:ext cx="2482138"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609904" y="4747564"/>
            <a:ext cx="1589684"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609904" y="4817973"/>
            <a:ext cx="2035911"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09904" y="4888382"/>
            <a:ext cx="1059789"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09904" y="4958791"/>
            <a:ext cx="2677363"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09904" y="5029200"/>
            <a:ext cx="753008"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609904" y="5099608"/>
            <a:ext cx="1729130"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609904" y="5170017"/>
            <a:ext cx="2175357"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609904" y="5240426"/>
            <a:ext cx="1282903"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09904" y="5310835"/>
            <a:ext cx="2342692"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609904" y="5381244"/>
            <a:ext cx="1422349" cy="27432"/>
          </a:xfrm>
          <a:prstGeom prst="rect">
            <a:avLst/>
          </a:prstGeom>
          <a:solidFill>
            <a:srgbClr val="DCD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buf"/>
          <p:cNvSpPr/>
          <p:nvPr/>
        </p:nvSpPr>
        <p:spPr>
          <a:xfrm>
            <a:off x="518464" y="3359505"/>
            <a:ext cx="3008376" cy="740664"/>
          </a:xfrm>
          <a:prstGeom prst="rect">
            <a:avLst/>
          </a:prstGeom>
          <a:noFill/>
          <a:ln w="18288">
            <a:solidFill>
              <a:srgbClr val="1D1D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581704" y="3464661"/>
            <a:ext cx="1371600" cy="50292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viewport</a:t>
            </a:r>
          </a:p>
          <a:p>
            <a:pPr algn="l">
              <a:lnSpc>
                <a:spcPct val="135000"/>
              </a:lnSpc>
            </a:pPr>
            <a:r>
              <a:rPr sz="1200" b="0">
                <a:solidFill>
                  <a:srgbClr val="1D1D1F"/>
                </a:solidFill>
                <a:latin typeface="JetBrains Mono"/>
                <a:cs typeface="JetBrains Mono"/>
                <a:ea typeface="JetBrains Mono"/>
              </a:rPr>
              <a:t>42 lines</a:t>
            </a:r>
          </a:p>
        </p:txBody>
      </p:sp>
      <p:sp>
        <p:nvSpPr>
          <p:cNvPr id="58" name="TextBox 57"/>
          <p:cNvSpPr txBox="1"/>
          <p:nvPr/>
        </p:nvSpPr>
        <p:spPr>
          <a:xfrm>
            <a:off x="5090464" y="2240280"/>
            <a:ext cx="6492240" cy="701040"/>
          </a:xfrm>
          <a:prstGeom prst="rect">
            <a:avLst/>
          </a:prstGeom>
          <a:noFill/>
        </p:spPr>
        <p:txBody>
          <a:bodyPr wrap="none" lIns="0" rIns="0" tIns="0" bIns="0" anchor="t">
            <a:noAutofit/>
          </a:bodyPr>
          <a:lstStyle/>
          <a:p>
            <a:pPr algn="l">
              <a:lnSpc>
                <a:spcPct val="160000"/>
              </a:lnSpc>
            </a:pPr>
            <a:r>
              <a:rPr sz="1500" b="0">
                <a:solidFill>
                  <a:srgbClr val="1D1D1F"/>
                </a:solidFill>
                <a:latin typeface="JetBrains Mono"/>
                <a:cs typeface="JetBrains Mono"/>
                <a:ea typeface="JetBrains Mono"/>
              </a:rPr>
              <a:t>startRow = scrollY_ / charHeight_</a:t>
            </a:r>
          </a:p>
          <a:p>
            <a:pPr algn="l">
              <a:lnSpc>
                <a:spcPct val="160000"/>
              </a:lnSpc>
            </a:pPr>
            <a:r>
              <a:rPr sz="1500" b="0">
                <a:solidFill>
                  <a:srgbClr val="1D1D1F"/>
                </a:solidFill>
                <a:latin typeface="JetBrains Mono"/>
                <a:cs typeface="JetBrains Mono"/>
                <a:ea typeface="JetBrains Mono"/>
              </a:rPr>
              <a:t>endRow   = startRow + height() / charHeight_ + 2</a:t>
            </a:r>
          </a:p>
        </p:txBody>
      </p:sp>
      <p:sp>
        <p:nvSpPr>
          <p:cNvPr id="59" name="TextBox 58"/>
          <p:cNvSpPr txBox="1"/>
          <p:nvPr/>
        </p:nvSpPr>
        <p:spPr>
          <a:xfrm>
            <a:off x="5090464" y="3200400"/>
            <a:ext cx="2743200" cy="914400"/>
          </a:xfrm>
          <a:prstGeom prst="rect">
            <a:avLst/>
          </a:prstGeom>
          <a:noFill/>
        </p:spPr>
        <p:txBody>
          <a:bodyPr wrap="none" lIns="0" rIns="0" tIns="0" bIns="0" anchor="t">
            <a:noAutofit/>
          </a:bodyPr>
          <a:lstStyle/>
          <a:p>
            <a:pPr algn="l">
              <a:lnSpc>
                <a:spcPct val="100000"/>
              </a:lnSpc>
            </a:pPr>
            <a:r>
              <a:rPr sz="6200" b="1">
                <a:solidFill>
                  <a:srgbClr val="1D1D1F"/>
                </a:solidFill>
                <a:latin typeface="JetBrains Mono"/>
                <a:cs typeface="JetBrains Mono"/>
                <a:ea typeface="JetBrains Mono"/>
              </a:rPr>
              <a:t>O(V)</a:t>
            </a:r>
          </a:p>
        </p:txBody>
      </p:sp>
      <p:sp>
        <p:nvSpPr>
          <p:cNvPr id="60" name="TextBox 59"/>
          <p:cNvSpPr txBox="1"/>
          <p:nvPr/>
        </p:nvSpPr>
        <p:spPr>
          <a:xfrm>
            <a:off x="7239304" y="3593592"/>
            <a:ext cx="2743200" cy="411480"/>
          </a:xfrm>
          <a:prstGeom prst="rect">
            <a:avLst/>
          </a:prstGeom>
          <a:noFill/>
        </p:spPr>
        <p:txBody>
          <a:bodyPr wrap="none" lIns="0" rIns="0" tIns="0" bIns="0" anchor="t">
            <a:noAutofit/>
          </a:bodyPr>
          <a:lstStyle/>
          <a:p>
            <a:pPr algn="l">
              <a:lnSpc>
                <a:spcPct val="100000"/>
              </a:lnSpc>
            </a:pPr>
            <a:r>
              <a:rPr sz="2400" b="0">
                <a:solidFill>
                  <a:srgbClr val="6E6E73"/>
                </a:solidFill>
                <a:latin typeface="JetBrains Mono"/>
                <a:cs typeface="JetBrains Mono"/>
                <a:ea typeface="JetBrains Mono"/>
              </a:rPr>
              <a:t>not O(N)</a:t>
            </a:r>
          </a:p>
        </p:txBody>
      </p:sp>
      <p:sp>
        <p:nvSpPr>
          <p:cNvPr id="61" name="TextBox 60"/>
          <p:cNvSpPr txBox="1"/>
          <p:nvPr/>
        </p:nvSpPr>
        <p:spPr>
          <a:xfrm>
            <a:off x="5090464" y="4343400"/>
            <a:ext cx="5943600" cy="331470"/>
          </a:xfrm>
          <a:prstGeom prst="rect">
            <a:avLst/>
          </a:prstGeom>
          <a:noFill/>
        </p:spPr>
        <p:txBody>
          <a:bodyPr wrap="none" lIns="0" rIns="0" tIns="0" bIns="0" anchor="t">
            <a:noAutofit/>
          </a:bodyPr>
          <a:lstStyle/>
          <a:p>
            <a:pPr algn="l">
              <a:lnSpc>
                <a:spcPct val="135000"/>
              </a:lnSpc>
            </a:pPr>
            <a:r>
              <a:rPr sz="1400" b="0">
                <a:solidFill>
                  <a:srgbClr val="6E6E73"/>
                </a:solidFill>
                <a:latin typeface="JetBrains Mono"/>
                <a:cs typeface="JetBrains Mono"/>
                <a:ea typeface="JetBrains Mono"/>
              </a:rPr>
              <a:t>V = visible lines ≈ 42          N = 1,000</a:t>
            </a:r>
          </a:p>
        </p:txBody>
      </p:sp>
      <p:sp>
        <p:nvSpPr>
          <p:cNvPr id="62" name="TextBox 61"/>
          <p:cNvSpPr txBox="1"/>
          <p:nvPr/>
        </p:nvSpPr>
        <p:spPr>
          <a:xfrm>
            <a:off x="5090464" y="4754880"/>
            <a:ext cx="6035040" cy="822960"/>
          </a:xfrm>
          <a:prstGeom prst="rect">
            <a:avLst/>
          </a:prstGeom>
          <a:noFill/>
        </p:spPr>
        <p:txBody>
          <a:bodyPr wrap="square" lIns="0" rIns="0" tIns="0" bIns="0" anchor="t">
            <a:noAutofit/>
          </a:bodyPr>
          <a:lstStyle/>
          <a:p>
            <a:pPr algn="l">
              <a:lnSpc>
                <a:spcPct val="145000"/>
              </a:lnSpc>
            </a:pPr>
            <a:r>
              <a:rPr sz="1600" b="0">
                <a:solidFill>
                  <a:srgbClr val="3A3A3C"/>
                </a:solidFill>
                <a:latin typeface="Inter"/>
                <a:cs typeface="Inter"/>
                <a:ea typeface="Inter"/>
              </a:rPr>
              <a:t>A 100,000-line file paints in the same 5 ms as a 100-line file. Monospace metrics make the pixel-to-row conversion a single division.</a:t>
            </a:r>
          </a:p>
        </p:txBody>
      </p:sp>
      <p:sp>
        <p:nvSpPr>
          <p:cNvPr id="63" name="TextBox 62"/>
          <p:cNvSpPr txBox="1"/>
          <p:nvPr/>
        </p:nvSpPr>
        <p:spPr>
          <a:xfrm>
            <a:off x="609904" y="585216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the other 958 lines were never touched this frame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00">
        <p159:morph option="byObject"/>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/src/core/undo_manager.cpp</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08 / 17      0 errors</a:t>
            </a:r>
          </a:p>
        </p:txBody>
      </p:sp>
      <p:sp>
        <p:nvSpPr>
          <p:cNvPr id="8" name="TextBox 7"/>
          <p:cNvSpPr txBox="1"/>
          <p:nvPr/>
        </p:nvSpPr>
        <p:spPr>
          <a:xfrm>
            <a:off x="9936784" y="52120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mem</a:t>
            </a:r>
          </a:p>
        </p:txBody>
      </p:sp>
      <p:sp>
        <p:nvSpPr>
          <p:cNvPr id="9" name="!!m_mem"/>
          <p:cNvSpPr txBox="1"/>
          <p:nvPr/>
        </p:nvSpPr>
        <p:spPr>
          <a:xfrm>
            <a:off x="9753904" y="52120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15–25 MB</a:t>
            </a:r>
          </a:p>
        </p:txBody>
      </p:sp>
      <p:sp>
        <p:nvSpPr>
          <p:cNvPr id="10" name="TextBox 9"/>
          <p:cNvSpPr txBox="1"/>
          <p:nvPr/>
        </p:nvSpPr>
        <p:spPr>
          <a:xfrm>
            <a:off x="9936784" y="54406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boot</a:t>
            </a:r>
          </a:p>
        </p:txBody>
      </p:sp>
      <p:sp>
        <p:nvSpPr>
          <p:cNvPr id="11" name="!!m_boot"/>
          <p:cNvSpPr txBox="1"/>
          <p:nvPr/>
        </p:nvSpPr>
        <p:spPr>
          <a:xfrm>
            <a:off x="9753904" y="54406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100 ms</a:t>
            </a:r>
          </a:p>
        </p:txBody>
      </p:sp>
      <p:sp>
        <p:nvSpPr>
          <p:cNvPr id="12" name="TextBox 11"/>
          <p:cNvSpPr txBox="1"/>
          <p:nvPr/>
        </p:nvSpPr>
        <p:spPr>
          <a:xfrm>
            <a:off x="9936784" y="56692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input</a:t>
            </a:r>
          </a:p>
        </p:txBody>
      </p:sp>
      <p:sp>
        <p:nvSpPr>
          <p:cNvPr id="13" name="!!m_input"/>
          <p:cNvSpPr txBox="1"/>
          <p:nvPr/>
        </p:nvSpPr>
        <p:spPr>
          <a:xfrm>
            <a:off x="9753904" y="56692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7 ms</a:t>
            </a:r>
          </a:p>
        </p:txBody>
      </p:sp>
      <p:sp>
        <p:nvSpPr>
          <p:cNvPr id="14" name="TextBox 13"/>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Undo Is a Timer, Not a Snapshot</a:t>
            </a:r>
          </a:p>
        </p:txBody>
      </p:sp>
      <p:sp>
        <p:nvSpPr>
          <p:cNvPr id="15" name="Rectangle 14"/>
          <p:cNvSpPr/>
          <p:nvPr/>
        </p:nvSpPr>
        <p:spPr>
          <a:xfrm>
            <a:off x="609904" y="1783080"/>
            <a:ext cx="6858" cy="96012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84224" y="1783080"/>
            <a:ext cx="4937760" cy="960120"/>
          </a:xfrm>
          <a:prstGeom prst="rect">
            <a:avLst/>
          </a:prstGeom>
          <a:noFill/>
        </p:spPr>
        <p:txBody>
          <a:bodyPr wrap="none" lIns="0" rIns="0" tIns="0" bIns="0" anchor="t">
            <a:noAutofit/>
          </a:bodyPr>
          <a:lstStyle/>
          <a:p>
            <a:pPr algn="l">
              <a:lnSpc>
                <a:spcPct val="150000"/>
              </a:lnSpc>
            </a:pPr>
            <a:r>
              <a:rPr sz="1500" b="0">
                <a:solidFill>
                  <a:srgbClr val="3A3A3C"/>
                </a:solidFill>
                <a:latin typeface="Inter"/>
                <a:cs typeface="Inter"/>
                <a:ea typeface="Inter"/>
              </a:rPr>
              <a:t>Command Pattern — every edit is an EditAction</a:t>
            </a:r>
          </a:p>
          <a:p>
            <a:pPr algn="l">
              <a:lnSpc>
                <a:spcPct val="150000"/>
              </a:lnSpc>
            </a:pPr>
            <a:r>
              <a:rPr sz="1500" b="0">
                <a:solidFill>
                  <a:srgbClr val="3A3A3C"/>
                </a:solidFill>
                <a:latin typeface="Inter"/>
                <a:cs typeface="Inter"/>
                <a:ea typeface="Inter"/>
              </a:rPr>
              <a:t>~80 bytes per action; a snapshot costs the file</a:t>
            </a:r>
          </a:p>
          <a:p>
            <a:pPr algn="l">
              <a:lnSpc>
                <a:spcPct val="150000"/>
              </a:lnSpc>
            </a:pPr>
            <a:r>
              <a:rPr sz="1500" b="0">
                <a:solidFill>
                  <a:srgbClr val="3A3A3C"/>
                </a:solidFill>
                <a:latin typeface="Inter"/>
                <a:cs typeface="Inter"/>
                <a:ea typeface="Inter"/>
              </a:rPr>
              <a:t>Temporal grouping: 7 conditions, one 400 ms window</a:t>
            </a:r>
          </a:p>
        </p:txBody>
      </p:sp>
      <p:sp>
        <p:nvSpPr>
          <p:cNvPr id="17" name="!!cmd"/>
          <p:cNvSpPr/>
          <p:nvPr/>
        </p:nvSpPr>
        <p:spPr>
          <a:xfrm>
            <a:off x="609904" y="2999232"/>
            <a:ext cx="4937760" cy="2267712"/>
          </a:xfrm>
          <a:prstGeom prst="rect">
            <a:avLst/>
          </a:prstGeom>
          <a:solidFill>
            <a:srgbClr val="E3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7064" y="3136392"/>
            <a:ext cx="4663440" cy="1801876"/>
          </a:xfrm>
          <a:prstGeom prst="rect">
            <a:avLst/>
          </a:prstGeom>
          <a:noFill/>
        </p:spPr>
        <p:txBody>
          <a:bodyPr wrap="none" lIns="0" rIns="0" tIns="0" bIns="0" anchor="t">
            <a:noAutofit/>
          </a:bodyPr>
          <a:lstStyle/>
          <a:p>
            <a:pPr algn="l">
              <a:lnSpc>
                <a:spcPct val="148000"/>
              </a:lnSpc>
            </a:pPr>
            <a:r>
              <a:rPr sz="1300" b="0">
                <a:solidFill>
                  <a:srgbClr val="6E6E73"/>
                </a:solidFill>
                <a:latin typeface="JetBrains Mono"/>
                <a:cs typeface="JetBrains Mono"/>
                <a:ea typeface="JetBrains Mono"/>
              </a:rPr>
              <a:t>struct</a:t>
            </a:r>
            <a:r>
              <a:rPr sz="1300" b="0">
                <a:solidFill>
                  <a:srgbClr val="1D1D1F"/>
                </a:solidFill>
                <a:latin typeface="JetBrains Mono"/>
                <a:cs typeface="JetBrains Mono"/>
                <a:ea typeface="JetBrains Mono"/>
              </a:rPr>
              <a:t> </a:t>
            </a:r>
            <a:r>
              <a:rPr sz="1300" b="0">
                <a:solidFill>
                  <a:srgbClr val="1D1D1F"/>
                </a:solidFill>
                <a:latin typeface="JetBrains Mono"/>
                <a:cs typeface="JetBrains Mono"/>
                <a:ea typeface="JetBrains Mono"/>
              </a:rPr>
              <a:t>EditAction</a:t>
            </a:r>
            <a:r>
              <a:rPr sz="1300" b="0">
                <a:solidFill>
                  <a:srgbClr val="1D1D1F"/>
                </a:solidFill>
                <a:latin typeface="JetBrains Mono"/>
                <a:cs typeface="JetBrains Mono"/>
                <a:ea typeface="JetBrains Mono"/>
              </a:rPr>
              <a:t> {</a:t>
            </a:r>
          </a:p>
          <a:p>
            <a:pPr algn="l">
              <a:lnSpc>
                <a:spcPct val="148000"/>
              </a:lnSpc>
            </a:pPr>
            <a:r>
              <a:rPr sz="1300" b="0">
                <a:solidFill>
                  <a:srgbClr val="6E6E73"/>
                </a:solidFill>
                <a:latin typeface="JetBrains Mono"/>
                <a:cs typeface="JetBrains Mono"/>
                <a:ea typeface="JetBrains Mono"/>
              </a:rPr>
              <a:t>    enum</a:t>
            </a:r>
            <a:r>
              <a:rPr sz="1300" b="0">
                <a:solidFill>
                  <a:srgbClr val="1D1D1F"/>
                </a:solidFill>
                <a:latin typeface="JetBrains Mono"/>
                <a:cs typeface="JetBrains Mono"/>
                <a:ea typeface="JetBrains Mono"/>
              </a:rPr>
              <a:t> Type { Insert, Delete };</a:t>
            </a:r>
          </a:p>
          <a:p>
            <a:pPr algn="l">
              <a:lnSpc>
                <a:spcPct val="148000"/>
              </a:lnSpc>
            </a:pPr>
            <a:r>
              <a:rPr sz="1300" b="0">
                <a:solidFill>
                  <a:srgbClr val="1D1D1F"/>
                </a:solidFill>
                <a:latin typeface="JetBrains Mono"/>
                <a:cs typeface="JetBrains Mono"/>
                <a:ea typeface="JetBrains Mono"/>
              </a:rPr>
              <a:t>    Type        type;</a:t>
            </a:r>
            <a:r>
              <a:rPr sz="1300" b="0">
                <a:solidFill>
                  <a:srgbClr val="A1A1A6"/>
                </a:solidFill>
                <a:latin typeface="JetBrains Mono"/>
                <a:cs typeface="JetBrains Mono"/>
                <a:ea typeface="JetBrains Mono"/>
              </a:rPr>
              <a:t>        //  4 B</a:t>
            </a:r>
          </a:p>
          <a:p>
            <a:pPr algn="l">
              <a:lnSpc>
                <a:spcPct val="148000"/>
              </a:lnSpc>
            </a:pPr>
            <a:r>
              <a:rPr sz="1300" b="0">
                <a:solidFill>
                  <a:srgbClr val="1D1D1F"/>
                </a:solidFill>
                <a:latin typeface="JetBrains Mono"/>
                <a:cs typeface="JetBrains Mono"/>
                <a:ea typeface="JetBrains Mono"/>
              </a:rPr>
              <a:t>    Position    pos;</a:t>
            </a:r>
            <a:r>
              <a:rPr sz="1300" b="0">
                <a:solidFill>
                  <a:srgbClr val="A1A1A6"/>
                </a:solidFill>
                <a:latin typeface="JetBrains Mono"/>
                <a:cs typeface="JetBrains Mono"/>
                <a:ea typeface="JetBrains Mono"/>
              </a:rPr>
              <a:t>         //  8 B</a:t>
            </a:r>
          </a:p>
          <a:p>
            <a:pPr algn="l">
              <a:lnSpc>
                <a:spcPct val="148000"/>
              </a:lnSpc>
            </a:pPr>
            <a:r>
              <a:rPr sz="1300" b="0">
                <a:solidFill>
                  <a:srgbClr val="1D1D1F"/>
                </a:solidFill>
                <a:latin typeface="JetBrains Mono"/>
                <a:cs typeface="JetBrains Mono"/>
                <a:ea typeface="JetBrains Mono"/>
              </a:rPr>
              <a:t>    std::string text;</a:t>
            </a:r>
            <a:r>
              <a:rPr sz="1300" b="0">
                <a:solidFill>
                  <a:srgbClr val="A1A1A6"/>
                </a:solidFill>
                <a:latin typeface="JetBrains Mono"/>
                <a:cs typeface="JetBrains Mono"/>
                <a:ea typeface="JetBrains Mono"/>
              </a:rPr>
              <a:t>        // 32 B</a:t>
            </a:r>
          </a:p>
          <a:p>
            <a:pPr algn="l">
              <a:lnSpc>
                <a:spcPct val="148000"/>
              </a:lnSpc>
            </a:pPr>
            <a:r>
              <a:rPr sz="1300" b="0">
                <a:solidFill>
                  <a:srgbClr val="1D1D1F"/>
                </a:solidFill>
                <a:latin typeface="JetBrains Mono"/>
                <a:cs typeface="JetBrains Mono"/>
                <a:ea typeface="JetBrains Mono"/>
              </a:rPr>
              <a:t>    time_point  timestamp;</a:t>
            </a:r>
            <a:r>
              <a:rPr sz="1300" b="0">
                <a:solidFill>
                  <a:srgbClr val="A1A1A6"/>
                </a:solidFill>
                <a:latin typeface="JetBrains Mono"/>
                <a:cs typeface="JetBrains Mono"/>
                <a:ea typeface="JetBrains Mono"/>
              </a:rPr>
              <a:t>   //  8 B</a:t>
            </a:r>
          </a:p>
          <a:p>
            <a:pPr algn="l">
              <a:lnSpc>
                <a:spcPct val="148000"/>
              </a:lnSpc>
            </a:pPr>
            <a:r>
              <a:rPr sz="1300" b="0">
                <a:solidFill>
                  <a:srgbClr val="1D1D1F"/>
                </a:solidFill>
                <a:latin typeface="JetBrains Mono"/>
                <a:cs typeface="JetBrains Mono"/>
                <a:ea typeface="JetBrains Mono"/>
              </a:rPr>
              <a:t>};</a:t>
            </a:r>
          </a:p>
        </p:txBody>
      </p:sp>
      <p:sp>
        <p:nvSpPr>
          <p:cNvPr id="19" name="Rectangle 18"/>
          <p:cNvSpPr/>
          <p:nvPr/>
        </p:nvSpPr>
        <p:spPr>
          <a:xfrm>
            <a:off x="6279184" y="3456432"/>
            <a:ext cx="530352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79184" y="1965960"/>
            <a:ext cx="530352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dry run   ·   typing 'hello', then one Ctrl+Z</a:t>
            </a:r>
          </a:p>
        </p:txBody>
      </p:sp>
      <p:sp>
        <p:nvSpPr>
          <p:cNvPr id="21" name="Rectangle 20"/>
          <p:cNvSpPr/>
          <p:nvPr/>
        </p:nvSpPr>
        <p:spPr>
          <a:xfrm>
            <a:off x="6279184" y="3145536"/>
            <a:ext cx="12801" cy="31089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06032" y="2816352"/>
            <a:ext cx="365760" cy="382905"/>
          </a:xfrm>
          <a:prstGeom prst="rect">
            <a:avLst/>
          </a:prstGeom>
          <a:noFill/>
        </p:spPr>
        <p:txBody>
          <a:bodyPr wrap="none" lIns="0" rIns="0" tIns="0" bIns="0" anchor="t">
            <a:noAutofit/>
          </a:bodyPr>
          <a:lstStyle/>
          <a:p>
            <a:pPr algn="l">
              <a:lnSpc>
                <a:spcPct val="135000"/>
              </a:lnSpc>
            </a:pPr>
            <a:r>
              <a:rPr sz="1700" b="0">
                <a:solidFill>
                  <a:srgbClr val="1D1D1F"/>
                </a:solidFill>
                <a:latin typeface="JetBrains Mono"/>
                <a:cs typeface="JetBrains Mono"/>
                <a:ea typeface="JetBrains Mono"/>
              </a:rPr>
              <a:t>h</a:t>
            </a:r>
          </a:p>
        </p:txBody>
      </p:sp>
      <p:sp>
        <p:nvSpPr>
          <p:cNvPr id="23" name="Rectangle 22"/>
          <p:cNvSpPr/>
          <p:nvPr/>
        </p:nvSpPr>
        <p:spPr>
          <a:xfrm>
            <a:off x="7102144" y="3145536"/>
            <a:ext cx="12801" cy="31089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28992" y="2816352"/>
            <a:ext cx="365760" cy="382905"/>
          </a:xfrm>
          <a:prstGeom prst="rect">
            <a:avLst/>
          </a:prstGeom>
          <a:noFill/>
        </p:spPr>
        <p:txBody>
          <a:bodyPr wrap="none" lIns="0" rIns="0" tIns="0" bIns="0" anchor="t">
            <a:noAutofit/>
          </a:bodyPr>
          <a:lstStyle/>
          <a:p>
            <a:pPr algn="l">
              <a:lnSpc>
                <a:spcPct val="135000"/>
              </a:lnSpc>
            </a:pPr>
            <a:r>
              <a:rPr sz="1700" b="0">
                <a:solidFill>
                  <a:srgbClr val="1D1D1F"/>
                </a:solidFill>
                <a:latin typeface="JetBrains Mono"/>
                <a:cs typeface="JetBrains Mono"/>
                <a:ea typeface="JetBrains Mono"/>
              </a:rPr>
              <a:t>e</a:t>
            </a:r>
          </a:p>
        </p:txBody>
      </p:sp>
      <p:sp>
        <p:nvSpPr>
          <p:cNvPr id="25" name="Rectangle 24"/>
          <p:cNvSpPr/>
          <p:nvPr/>
        </p:nvSpPr>
        <p:spPr>
          <a:xfrm>
            <a:off x="8107984" y="3145536"/>
            <a:ext cx="12801" cy="31089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34832" y="2816352"/>
            <a:ext cx="365760" cy="382905"/>
          </a:xfrm>
          <a:prstGeom prst="rect">
            <a:avLst/>
          </a:prstGeom>
          <a:noFill/>
        </p:spPr>
        <p:txBody>
          <a:bodyPr wrap="none" lIns="0" rIns="0" tIns="0" bIns="0" anchor="t">
            <a:noAutofit/>
          </a:bodyPr>
          <a:lstStyle/>
          <a:p>
            <a:pPr algn="l">
              <a:lnSpc>
                <a:spcPct val="135000"/>
              </a:lnSpc>
            </a:pPr>
            <a:r>
              <a:rPr sz="1700" b="0">
                <a:solidFill>
                  <a:srgbClr val="1D1D1F"/>
                </a:solidFill>
                <a:latin typeface="JetBrains Mono"/>
                <a:cs typeface="JetBrains Mono"/>
                <a:ea typeface="JetBrains Mono"/>
              </a:rPr>
              <a:t>l</a:t>
            </a:r>
          </a:p>
        </p:txBody>
      </p:sp>
      <p:sp>
        <p:nvSpPr>
          <p:cNvPr id="27" name="Rectangle 26"/>
          <p:cNvSpPr/>
          <p:nvPr/>
        </p:nvSpPr>
        <p:spPr>
          <a:xfrm>
            <a:off x="9022384" y="3145536"/>
            <a:ext cx="12801" cy="31089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49232" y="2816352"/>
            <a:ext cx="365760" cy="382905"/>
          </a:xfrm>
          <a:prstGeom prst="rect">
            <a:avLst/>
          </a:prstGeom>
          <a:noFill/>
        </p:spPr>
        <p:txBody>
          <a:bodyPr wrap="none" lIns="0" rIns="0" tIns="0" bIns="0" anchor="t">
            <a:noAutofit/>
          </a:bodyPr>
          <a:lstStyle/>
          <a:p>
            <a:pPr algn="l">
              <a:lnSpc>
                <a:spcPct val="135000"/>
              </a:lnSpc>
            </a:pPr>
            <a:r>
              <a:rPr sz="1700" b="0">
                <a:solidFill>
                  <a:srgbClr val="1D1D1F"/>
                </a:solidFill>
                <a:latin typeface="JetBrains Mono"/>
                <a:cs typeface="JetBrains Mono"/>
                <a:ea typeface="JetBrains Mono"/>
              </a:rPr>
              <a:t>l</a:t>
            </a:r>
          </a:p>
        </p:txBody>
      </p:sp>
      <p:sp>
        <p:nvSpPr>
          <p:cNvPr id="29" name="Rectangle 28"/>
          <p:cNvSpPr/>
          <p:nvPr/>
        </p:nvSpPr>
        <p:spPr>
          <a:xfrm>
            <a:off x="9936784" y="3145536"/>
            <a:ext cx="12801" cy="31089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863632" y="2816352"/>
            <a:ext cx="365760" cy="382905"/>
          </a:xfrm>
          <a:prstGeom prst="rect">
            <a:avLst/>
          </a:prstGeom>
          <a:noFill/>
        </p:spPr>
        <p:txBody>
          <a:bodyPr wrap="none" lIns="0" rIns="0" tIns="0" bIns="0" anchor="t">
            <a:noAutofit/>
          </a:bodyPr>
          <a:lstStyle/>
          <a:p>
            <a:pPr algn="l">
              <a:lnSpc>
                <a:spcPct val="135000"/>
              </a:lnSpc>
            </a:pPr>
            <a:r>
              <a:rPr sz="1700" b="0">
                <a:solidFill>
                  <a:srgbClr val="1D1D1F"/>
                </a:solidFill>
                <a:latin typeface="JetBrains Mono"/>
                <a:cs typeface="JetBrains Mono"/>
                <a:ea typeface="JetBrains Mono"/>
              </a:rPr>
              <a:t>o</a:t>
            </a:r>
          </a:p>
        </p:txBody>
      </p:sp>
      <p:sp>
        <p:nvSpPr>
          <p:cNvPr id="31" name="TextBox 30"/>
          <p:cNvSpPr txBox="1"/>
          <p:nvPr/>
        </p:nvSpPr>
        <p:spPr>
          <a:xfrm>
            <a:off x="6553504" y="3547872"/>
            <a:ext cx="64008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50 ms</a:t>
            </a:r>
          </a:p>
        </p:txBody>
      </p:sp>
      <p:sp>
        <p:nvSpPr>
          <p:cNvPr id="32" name="TextBox 31"/>
          <p:cNvSpPr txBox="1"/>
          <p:nvPr/>
        </p:nvSpPr>
        <p:spPr>
          <a:xfrm>
            <a:off x="7422184" y="3547872"/>
            <a:ext cx="64008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60 ms</a:t>
            </a:r>
          </a:p>
        </p:txBody>
      </p:sp>
      <p:sp>
        <p:nvSpPr>
          <p:cNvPr id="33" name="TextBox 32"/>
          <p:cNvSpPr txBox="1"/>
          <p:nvPr/>
        </p:nvSpPr>
        <p:spPr>
          <a:xfrm>
            <a:off x="8473744" y="3547872"/>
            <a:ext cx="64008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55 ms</a:t>
            </a:r>
          </a:p>
        </p:txBody>
      </p:sp>
      <p:sp>
        <p:nvSpPr>
          <p:cNvPr id="34" name="TextBox 33"/>
          <p:cNvSpPr txBox="1"/>
          <p:nvPr/>
        </p:nvSpPr>
        <p:spPr>
          <a:xfrm>
            <a:off x="9388144" y="3547872"/>
            <a:ext cx="64008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55 ms</a:t>
            </a:r>
          </a:p>
        </p:txBody>
      </p:sp>
      <p:sp>
        <p:nvSpPr>
          <p:cNvPr id="35" name="Rectangle 34"/>
          <p:cNvSpPr/>
          <p:nvPr/>
        </p:nvSpPr>
        <p:spPr>
          <a:xfrm>
            <a:off x="11216944" y="3145536"/>
            <a:ext cx="12801" cy="310896"/>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143792" y="2816352"/>
            <a:ext cx="365760" cy="382905"/>
          </a:xfrm>
          <a:prstGeom prst="rect">
            <a:avLst/>
          </a:prstGeom>
          <a:noFill/>
        </p:spPr>
        <p:txBody>
          <a:bodyPr wrap="none" lIns="0" rIns="0" tIns="0" bIns="0" anchor="t">
            <a:noAutofit/>
          </a:bodyPr>
          <a:lstStyle/>
          <a:p>
            <a:pPr algn="l">
              <a:lnSpc>
                <a:spcPct val="135000"/>
              </a:lnSpc>
            </a:pPr>
            <a:r>
              <a:rPr sz="1700" b="0">
                <a:solidFill>
                  <a:srgbClr val="A1A1A6"/>
                </a:solidFill>
                <a:latin typeface="JetBrains Mono"/>
                <a:cs typeface="JetBrains Mono"/>
                <a:ea typeface="JetBrains Mono"/>
              </a:rPr>
              <a:t>w</a:t>
            </a:r>
          </a:p>
        </p:txBody>
      </p:sp>
      <p:sp>
        <p:nvSpPr>
          <p:cNvPr id="37" name="TextBox 36"/>
          <p:cNvSpPr txBox="1"/>
          <p:nvPr/>
        </p:nvSpPr>
        <p:spPr>
          <a:xfrm>
            <a:off x="10302544" y="3547872"/>
            <a:ext cx="82296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680 ms</a:t>
            </a:r>
          </a:p>
        </p:txBody>
      </p:sp>
      <p:sp>
        <p:nvSpPr>
          <p:cNvPr id="38" name="Rectangle 37"/>
          <p:cNvSpPr/>
          <p:nvPr/>
        </p:nvSpPr>
        <p:spPr>
          <a:xfrm>
            <a:off x="6279184" y="3931920"/>
            <a:ext cx="3749039" cy="1097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279184" y="3858768"/>
            <a:ext cx="10972" cy="8229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0019080" y="3858768"/>
            <a:ext cx="10972" cy="8229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279184" y="4078224"/>
            <a:ext cx="3200400" cy="297180"/>
          </a:xfrm>
          <a:prstGeom prst="rect">
            <a:avLst/>
          </a:prstGeom>
          <a:noFill/>
        </p:spPr>
        <p:txBody>
          <a:bodyPr wrap="none" lIns="0" rIns="0" tIns="0" bIns="0" anchor="t">
            <a:noAutofit/>
          </a:bodyPr>
          <a:lstStyle/>
          <a:p>
            <a:pPr algn="l">
              <a:lnSpc>
                <a:spcPct val="135000"/>
              </a:lnSpc>
            </a:pPr>
            <a:r>
              <a:rPr sz="1200" b="0">
                <a:solidFill>
                  <a:srgbClr val="1D1D1F"/>
                </a:solidFill>
                <a:latin typeface="JetBrains Mono"/>
                <a:cs typeface="JetBrains Mono"/>
                <a:ea typeface="JetBrains Mono"/>
              </a:rPr>
              <a:t>ActionGroup #1  —  5 actions</a:t>
            </a:r>
          </a:p>
        </p:txBody>
      </p:sp>
      <p:sp>
        <p:nvSpPr>
          <p:cNvPr id="42" name="Rectangle 41"/>
          <p:cNvSpPr/>
          <p:nvPr/>
        </p:nvSpPr>
        <p:spPr>
          <a:xfrm>
            <a:off x="11125504" y="3931920"/>
            <a:ext cx="457200" cy="10972"/>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1125504" y="3858768"/>
            <a:ext cx="10972" cy="82296"/>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1573560" y="3858768"/>
            <a:ext cx="10972" cy="82296"/>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668304" y="4078224"/>
            <a:ext cx="9144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#2</a:t>
            </a:r>
          </a:p>
        </p:txBody>
      </p:sp>
      <p:sp>
        <p:nvSpPr>
          <p:cNvPr id="46" name="TextBox 45"/>
          <p:cNvSpPr txBox="1"/>
          <p:nvPr/>
        </p:nvSpPr>
        <p:spPr>
          <a:xfrm>
            <a:off x="6279184" y="4599432"/>
            <a:ext cx="356616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Ctrl+Z</a:t>
            </a:r>
            <a:r>
              <a:rPr sz="1500" b="0">
                <a:solidFill>
                  <a:srgbClr val="1D1D1F"/>
                </a:solidFill>
                <a:latin typeface="JetBrains Mono"/>
                <a:cs typeface="JetBrains Mono"/>
                <a:ea typeface="JetBrains Mono"/>
              </a:rPr>
              <a:t>   →   5 actions reversed</a:t>
            </a:r>
          </a:p>
        </p:txBody>
      </p:sp>
      <p:sp>
        <p:nvSpPr>
          <p:cNvPr id="47" name="TextBox 46"/>
          <p:cNvSpPr txBox="1"/>
          <p:nvPr/>
        </p:nvSpPr>
        <p:spPr>
          <a:xfrm>
            <a:off x="6279184" y="4873752"/>
            <a:ext cx="356616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a 400 ms gap or a whitespace boundary forces a new group</a:t>
            </a:r>
          </a:p>
        </p:txBody>
      </p:sp>
      <p:sp>
        <p:nvSpPr>
          <p:cNvPr id="48" name="TextBox 47"/>
          <p:cNvSpPr txBox="1"/>
          <p:nvPr/>
        </p:nvSpPr>
        <p:spPr>
          <a:xfrm>
            <a:off x="609904" y="589788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history is bounded by edits, not by file size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50">
        <p159:morph option="byObject"/>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/docs/feasibility.md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09 / 17      0 errors</a:t>
            </a:r>
          </a:p>
        </p:txBody>
      </p:sp>
      <p:sp>
        <p:nvSpPr>
          <p:cNvPr id="8" name="TextBox 7"/>
          <p:cNvSpPr txBox="1"/>
          <p:nvPr/>
        </p:nvSpPr>
        <p:spPr>
          <a:xfrm>
            <a:off x="9936784" y="52120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mem</a:t>
            </a:r>
          </a:p>
        </p:txBody>
      </p:sp>
      <p:sp>
        <p:nvSpPr>
          <p:cNvPr id="9" name="!!m_mem"/>
          <p:cNvSpPr txBox="1"/>
          <p:nvPr/>
        </p:nvSpPr>
        <p:spPr>
          <a:xfrm>
            <a:off x="9753904" y="52120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15–25 MB</a:t>
            </a:r>
          </a:p>
        </p:txBody>
      </p:sp>
      <p:sp>
        <p:nvSpPr>
          <p:cNvPr id="10" name="TextBox 9"/>
          <p:cNvSpPr txBox="1"/>
          <p:nvPr/>
        </p:nvSpPr>
        <p:spPr>
          <a:xfrm>
            <a:off x="9936784" y="54406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boot</a:t>
            </a:r>
          </a:p>
        </p:txBody>
      </p:sp>
      <p:sp>
        <p:nvSpPr>
          <p:cNvPr id="11" name="!!m_boot"/>
          <p:cNvSpPr txBox="1"/>
          <p:nvPr/>
        </p:nvSpPr>
        <p:spPr>
          <a:xfrm>
            <a:off x="9753904" y="54406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100 ms</a:t>
            </a:r>
          </a:p>
        </p:txBody>
      </p:sp>
      <p:sp>
        <p:nvSpPr>
          <p:cNvPr id="12" name="TextBox 11"/>
          <p:cNvSpPr txBox="1"/>
          <p:nvPr/>
        </p:nvSpPr>
        <p:spPr>
          <a:xfrm>
            <a:off x="9936784" y="56692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input</a:t>
            </a:r>
          </a:p>
        </p:txBody>
      </p:sp>
      <p:sp>
        <p:nvSpPr>
          <p:cNvPr id="13" name="!!m_input"/>
          <p:cNvSpPr txBox="1"/>
          <p:nvPr/>
        </p:nvSpPr>
        <p:spPr>
          <a:xfrm>
            <a:off x="9753904" y="56692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7 ms</a:t>
            </a:r>
          </a:p>
        </p:txBody>
      </p:sp>
      <p:sp>
        <p:nvSpPr>
          <p:cNvPr id="14" name="TextBox 13"/>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Technical Feasibility</a:t>
            </a:r>
          </a:p>
        </p:txBody>
      </p:sp>
      <p:sp>
        <p:nvSpPr>
          <p:cNvPr id="15" name="TextBox 14"/>
          <p:cNvSpPr txBox="1"/>
          <p:nvPr/>
        </p:nvSpPr>
        <p:spPr>
          <a:xfrm>
            <a:off x="609904" y="1737360"/>
            <a:ext cx="10058400" cy="320040"/>
          </a:xfrm>
          <a:prstGeom prst="rect">
            <a:avLst/>
          </a:prstGeom>
          <a:noFill/>
        </p:spPr>
        <p:txBody>
          <a:bodyPr wrap="none" lIns="0" rIns="0" tIns="0" bIns="0" anchor="t">
            <a:noAutofit/>
          </a:bodyPr>
          <a:lstStyle/>
          <a:p>
            <a:pPr algn="l">
              <a:lnSpc>
                <a:spcPct val="100000"/>
              </a:lnSpc>
            </a:pPr>
            <a:r>
              <a:rPr sz="1600" b="0">
                <a:solidFill>
                  <a:srgbClr val="6E6E73"/>
                </a:solidFill>
                <a:latin typeface="Inter"/>
                <a:cs typeface="Inter"/>
                <a:ea typeface="Inter"/>
              </a:rPr>
              <a:t>Five questions asked before the first commit, answered with measurements after the last.</a:t>
            </a:r>
          </a:p>
        </p:txBody>
      </p:sp>
      <p:sp>
        <p:nvSpPr>
          <p:cNvPr id="16" name="TextBox 15"/>
          <p:cNvSpPr txBox="1"/>
          <p:nvPr/>
        </p:nvSpPr>
        <p:spPr>
          <a:xfrm>
            <a:off x="609904" y="2450592"/>
            <a:ext cx="1600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technical</a:t>
            </a:r>
          </a:p>
        </p:txBody>
      </p:sp>
      <p:sp>
        <p:nvSpPr>
          <p:cNvPr id="17" name="TextBox 16"/>
          <p:cNvSpPr txBox="1"/>
          <p:nvPr/>
        </p:nvSpPr>
        <p:spPr>
          <a:xfrm>
            <a:off x="2438704" y="2436876"/>
            <a:ext cx="3246120" cy="292608"/>
          </a:xfrm>
          <a:prstGeom prst="rect">
            <a:avLst/>
          </a:prstGeom>
          <a:noFill/>
        </p:spPr>
        <p:txBody>
          <a:bodyPr wrap="none" lIns="0" rIns="0" tIns="0" bIns="0" anchor="t">
            <a:noAutofit/>
          </a:bodyPr>
          <a:lstStyle/>
          <a:p>
            <a:pPr algn="l">
              <a:lnSpc>
                <a:spcPct val="100000"/>
              </a:lnSpc>
            </a:pPr>
            <a:r>
              <a:rPr sz="1400" b="0">
                <a:solidFill>
                  <a:srgbClr val="1D1D1F"/>
                </a:solidFill>
                <a:latin typeface="Inter"/>
                <a:cs typeface="Inter"/>
                <a:ea typeface="Inter"/>
              </a:rPr>
              <a:t>60 fps paint on a 100K-line file?</a:t>
            </a:r>
          </a:p>
        </p:txBody>
      </p:sp>
      <p:sp>
        <p:nvSpPr>
          <p:cNvPr id="18" name="TextBox 17"/>
          <p:cNvSpPr txBox="1"/>
          <p:nvPr/>
        </p:nvSpPr>
        <p:spPr>
          <a:xfrm>
            <a:off x="5913424" y="2441448"/>
            <a:ext cx="3611880" cy="292608"/>
          </a:xfrm>
          <a:prstGeom prst="rect">
            <a:avLst/>
          </a:prstGeom>
          <a:noFill/>
        </p:spPr>
        <p:txBody>
          <a:bodyPr wrap="none" lIns="0" rIns="0" tIns="0" bIns="0" anchor="t">
            <a:noAutofit/>
          </a:bodyPr>
          <a:lstStyle/>
          <a:p>
            <a:pPr algn="l">
              <a:lnSpc>
                <a:spcPct val="100000"/>
              </a:lnSpc>
            </a:pPr>
            <a:r>
              <a:rPr sz="1300" b="0">
                <a:solidFill>
                  <a:srgbClr val="3A3A3C"/>
                </a:solidFill>
                <a:latin typeface="Inter"/>
                <a:cs typeface="Inter"/>
                <a:ea typeface="Inter"/>
              </a:rPr>
              <a:t>Culling makes paint O(V) — ~5 ms at any size</a:t>
            </a:r>
          </a:p>
        </p:txBody>
      </p:sp>
      <p:sp>
        <p:nvSpPr>
          <p:cNvPr id="19" name="TextBox 18"/>
          <p:cNvSpPr txBox="1"/>
          <p:nvPr/>
        </p:nvSpPr>
        <p:spPr>
          <a:xfrm>
            <a:off x="9753904" y="2450592"/>
            <a:ext cx="1828800" cy="314325"/>
          </a:xfrm>
          <a:prstGeom prst="rect">
            <a:avLst/>
          </a:prstGeom>
          <a:noFill/>
        </p:spPr>
        <p:txBody>
          <a:bodyPr wrap="none" lIns="0" rIns="0" tIns="0" bIns="0" anchor="t">
            <a:noAutofit/>
          </a:bodyPr>
          <a:lstStyle/>
          <a:p>
            <a:pPr algn="r">
              <a:lnSpc>
                <a:spcPct val="135000"/>
              </a:lnSpc>
            </a:pPr>
            <a:r>
              <a:rPr sz="1300" b="1">
                <a:solidFill>
                  <a:srgbClr val="146B2C"/>
                </a:solidFill>
                <a:latin typeface="JetBrains Mono"/>
                <a:cs typeface="JetBrains Mono"/>
                <a:ea typeface="JetBrains Mono"/>
              </a:rPr>
              <a:t>feasible</a:t>
            </a:r>
          </a:p>
        </p:txBody>
      </p:sp>
      <p:sp>
        <p:nvSpPr>
          <p:cNvPr id="20" name="TextBox 19"/>
          <p:cNvSpPr txBox="1"/>
          <p:nvPr/>
        </p:nvSpPr>
        <p:spPr>
          <a:xfrm>
            <a:off x="609904" y="2990088"/>
            <a:ext cx="1600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latency</a:t>
            </a:r>
          </a:p>
        </p:txBody>
      </p:sp>
      <p:sp>
        <p:nvSpPr>
          <p:cNvPr id="21" name="TextBox 20"/>
          <p:cNvSpPr txBox="1"/>
          <p:nvPr/>
        </p:nvSpPr>
        <p:spPr>
          <a:xfrm>
            <a:off x="2438704" y="2976372"/>
            <a:ext cx="3246120" cy="292608"/>
          </a:xfrm>
          <a:prstGeom prst="rect">
            <a:avLst/>
          </a:prstGeom>
          <a:noFill/>
        </p:spPr>
        <p:txBody>
          <a:bodyPr wrap="none" lIns="0" rIns="0" tIns="0" bIns="0" anchor="t">
            <a:noAutofit/>
          </a:bodyPr>
          <a:lstStyle/>
          <a:p>
            <a:pPr algn="l">
              <a:lnSpc>
                <a:spcPct val="100000"/>
              </a:lnSpc>
            </a:pPr>
            <a:r>
              <a:rPr sz="1400" b="0">
                <a:solidFill>
                  <a:srgbClr val="1D1D1F"/>
                </a:solidFill>
                <a:latin typeface="Inter"/>
                <a:cs typeface="Inter"/>
                <a:ea typeface="Inter"/>
              </a:rPr>
              <a:t>Sub-frame latency, no GPU renderer?</a:t>
            </a:r>
          </a:p>
        </p:txBody>
      </p:sp>
      <p:sp>
        <p:nvSpPr>
          <p:cNvPr id="22" name="TextBox 21"/>
          <p:cNvSpPr txBox="1"/>
          <p:nvPr/>
        </p:nvSpPr>
        <p:spPr>
          <a:xfrm>
            <a:off x="5913424" y="2980944"/>
            <a:ext cx="3611880" cy="292608"/>
          </a:xfrm>
          <a:prstGeom prst="rect">
            <a:avLst/>
          </a:prstGeom>
          <a:noFill/>
        </p:spPr>
        <p:txBody>
          <a:bodyPr wrap="none" lIns="0" rIns="0" tIns="0" bIns="0" anchor="t">
            <a:noAutofit/>
          </a:bodyPr>
          <a:lstStyle/>
          <a:p>
            <a:pPr algn="l">
              <a:lnSpc>
                <a:spcPct val="100000"/>
              </a:lnSpc>
            </a:pPr>
            <a:r>
              <a:rPr sz="1300" b="0">
                <a:solidFill>
                  <a:srgbClr val="3A3A3C"/>
                </a:solidFill>
                <a:latin typeface="Inter"/>
                <a:cs typeface="Inter"/>
                <a:ea typeface="Inter"/>
              </a:rPr>
              <a:t>6.21 ms measured, 10.4 ms headroom</a:t>
            </a:r>
          </a:p>
        </p:txBody>
      </p:sp>
      <p:sp>
        <p:nvSpPr>
          <p:cNvPr id="23" name="TextBox 22"/>
          <p:cNvSpPr txBox="1"/>
          <p:nvPr/>
        </p:nvSpPr>
        <p:spPr>
          <a:xfrm>
            <a:off x="9753904" y="2990088"/>
            <a:ext cx="1828800" cy="314325"/>
          </a:xfrm>
          <a:prstGeom prst="rect">
            <a:avLst/>
          </a:prstGeom>
          <a:noFill/>
        </p:spPr>
        <p:txBody>
          <a:bodyPr wrap="none" lIns="0" rIns="0" tIns="0" bIns="0" anchor="t">
            <a:noAutofit/>
          </a:bodyPr>
          <a:lstStyle/>
          <a:p>
            <a:pPr algn="r">
              <a:lnSpc>
                <a:spcPct val="135000"/>
              </a:lnSpc>
            </a:pPr>
            <a:r>
              <a:rPr sz="1300" b="1">
                <a:solidFill>
                  <a:srgbClr val="146B2C"/>
                </a:solidFill>
                <a:latin typeface="JetBrains Mono"/>
                <a:cs typeface="JetBrains Mono"/>
                <a:ea typeface="JetBrains Mono"/>
              </a:rPr>
              <a:t>feasible</a:t>
            </a:r>
          </a:p>
        </p:txBody>
      </p:sp>
      <p:sp>
        <p:nvSpPr>
          <p:cNvPr id="24" name="TextBox 23"/>
          <p:cNvSpPr txBox="1"/>
          <p:nvPr/>
        </p:nvSpPr>
        <p:spPr>
          <a:xfrm>
            <a:off x="609904" y="3529584"/>
            <a:ext cx="1600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schedule</a:t>
            </a:r>
          </a:p>
        </p:txBody>
      </p:sp>
      <p:sp>
        <p:nvSpPr>
          <p:cNvPr id="25" name="TextBox 24"/>
          <p:cNvSpPr txBox="1"/>
          <p:nvPr/>
        </p:nvSpPr>
        <p:spPr>
          <a:xfrm>
            <a:off x="2438704" y="3515868"/>
            <a:ext cx="3246120" cy="292608"/>
          </a:xfrm>
          <a:prstGeom prst="rect">
            <a:avLst/>
          </a:prstGeom>
          <a:noFill/>
        </p:spPr>
        <p:txBody>
          <a:bodyPr wrap="none" lIns="0" rIns="0" tIns="0" bIns="0" anchor="t">
            <a:noAutofit/>
          </a:bodyPr>
          <a:lstStyle/>
          <a:p>
            <a:pPr algn="l">
              <a:lnSpc>
                <a:spcPct val="100000"/>
              </a:lnSpc>
            </a:pPr>
            <a:r>
              <a:rPr sz="1400" b="0">
                <a:solidFill>
                  <a:srgbClr val="1D1D1F"/>
                </a:solidFill>
                <a:latin typeface="Inter"/>
                <a:cs typeface="Inter"/>
                <a:ea typeface="Inter"/>
              </a:rPr>
              <a:t>One developer, one semester?</a:t>
            </a:r>
          </a:p>
        </p:txBody>
      </p:sp>
      <p:sp>
        <p:nvSpPr>
          <p:cNvPr id="26" name="TextBox 25"/>
          <p:cNvSpPr txBox="1"/>
          <p:nvPr/>
        </p:nvSpPr>
        <p:spPr>
          <a:xfrm>
            <a:off x="5913424" y="3520440"/>
            <a:ext cx="3611880" cy="292608"/>
          </a:xfrm>
          <a:prstGeom prst="rect">
            <a:avLst/>
          </a:prstGeom>
          <a:noFill/>
        </p:spPr>
        <p:txBody>
          <a:bodyPr wrap="none" lIns="0" rIns="0" tIns="0" bIns="0" anchor="t">
            <a:noAutofit/>
          </a:bodyPr>
          <a:lstStyle/>
          <a:p>
            <a:pPr algn="l">
              <a:lnSpc>
                <a:spcPct val="100000"/>
              </a:lnSpc>
            </a:pPr>
            <a:r>
              <a:rPr sz="1300" b="0">
                <a:solidFill>
                  <a:srgbClr val="3A3A3C"/>
                </a:solidFill>
                <a:latin typeface="Inter"/>
                <a:cs typeface="Inter"/>
                <a:ea typeface="Inter"/>
              </a:rPr>
              <a:t>~2,500 LOC, zero dependencies to version</a:t>
            </a:r>
          </a:p>
        </p:txBody>
      </p:sp>
      <p:sp>
        <p:nvSpPr>
          <p:cNvPr id="27" name="TextBox 26"/>
          <p:cNvSpPr txBox="1"/>
          <p:nvPr/>
        </p:nvSpPr>
        <p:spPr>
          <a:xfrm>
            <a:off x="9753904" y="3529584"/>
            <a:ext cx="1828800" cy="314325"/>
          </a:xfrm>
          <a:prstGeom prst="rect">
            <a:avLst/>
          </a:prstGeom>
          <a:noFill/>
        </p:spPr>
        <p:txBody>
          <a:bodyPr wrap="none" lIns="0" rIns="0" tIns="0" bIns="0" anchor="t">
            <a:noAutofit/>
          </a:bodyPr>
          <a:lstStyle/>
          <a:p>
            <a:pPr algn="r">
              <a:lnSpc>
                <a:spcPct val="135000"/>
              </a:lnSpc>
            </a:pPr>
            <a:r>
              <a:rPr sz="1300" b="1">
                <a:solidFill>
                  <a:srgbClr val="146B2C"/>
                </a:solidFill>
                <a:latin typeface="JetBrains Mono"/>
                <a:cs typeface="JetBrains Mono"/>
                <a:ea typeface="JetBrains Mono"/>
              </a:rPr>
              <a:t>feasible</a:t>
            </a:r>
          </a:p>
        </p:txBody>
      </p:sp>
      <p:sp>
        <p:nvSpPr>
          <p:cNvPr id="28" name="TextBox 27"/>
          <p:cNvSpPr txBox="1"/>
          <p:nvPr/>
        </p:nvSpPr>
        <p:spPr>
          <a:xfrm>
            <a:off x="609904" y="4069080"/>
            <a:ext cx="1600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economic</a:t>
            </a:r>
          </a:p>
        </p:txBody>
      </p:sp>
      <p:sp>
        <p:nvSpPr>
          <p:cNvPr id="29" name="TextBox 28"/>
          <p:cNvSpPr txBox="1"/>
          <p:nvPr/>
        </p:nvSpPr>
        <p:spPr>
          <a:xfrm>
            <a:off x="2438704" y="4055364"/>
            <a:ext cx="3246120" cy="292608"/>
          </a:xfrm>
          <a:prstGeom prst="rect">
            <a:avLst/>
          </a:prstGeom>
          <a:noFill/>
        </p:spPr>
        <p:txBody>
          <a:bodyPr wrap="none" lIns="0" rIns="0" tIns="0" bIns="0" anchor="t">
            <a:noAutofit/>
          </a:bodyPr>
          <a:lstStyle/>
          <a:p>
            <a:pPr algn="l">
              <a:lnSpc>
                <a:spcPct val="100000"/>
              </a:lnSpc>
            </a:pPr>
            <a:r>
              <a:rPr sz="1400" b="0">
                <a:solidFill>
                  <a:srgbClr val="1D1D1F"/>
                </a:solidFill>
                <a:latin typeface="Inter"/>
                <a:cs typeface="Inter"/>
                <a:ea typeface="Inter"/>
              </a:rPr>
              <a:t>Licence and toolchain cost?</a:t>
            </a:r>
          </a:p>
        </p:txBody>
      </p:sp>
      <p:sp>
        <p:nvSpPr>
          <p:cNvPr id="30" name="TextBox 29"/>
          <p:cNvSpPr txBox="1"/>
          <p:nvPr/>
        </p:nvSpPr>
        <p:spPr>
          <a:xfrm>
            <a:off x="5913424" y="4059936"/>
            <a:ext cx="3611880" cy="292608"/>
          </a:xfrm>
          <a:prstGeom prst="rect">
            <a:avLst/>
          </a:prstGeom>
          <a:noFill/>
        </p:spPr>
        <p:txBody>
          <a:bodyPr wrap="none" lIns="0" rIns="0" tIns="0" bIns="0" anchor="t">
            <a:noAutofit/>
          </a:bodyPr>
          <a:lstStyle/>
          <a:p>
            <a:pPr algn="l">
              <a:lnSpc>
                <a:spcPct val="100000"/>
              </a:lnSpc>
            </a:pPr>
            <a:r>
              <a:rPr sz="1300" b="0">
                <a:solidFill>
                  <a:srgbClr val="3A3A3C"/>
                </a:solidFill>
                <a:latin typeface="Inter"/>
                <a:cs typeface="Inter"/>
                <a:ea typeface="Inter"/>
              </a:rPr>
              <a:t>Qt6 LGPL  ·  CMake  ·  g++  —  all zero-cost</a:t>
            </a:r>
          </a:p>
        </p:txBody>
      </p:sp>
      <p:sp>
        <p:nvSpPr>
          <p:cNvPr id="31" name="TextBox 30"/>
          <p:cNvSpPr txBox="1"/>
          <p:nvPr/>
        </p:nvSpPr>
        <p:spPr>
          <a:xfrm>
            <a:off x="9753904" y="4069080"/>
            <a:ext cx="1828800" cy="314325"/>
          </a:xfrm>
          <a:prstGeom prst="rect">
            <a:avLst/>
          </a:prstGeom>
          <a:noFill/>
        </p:spPr>
        <p:txBody>
          <a:bodyPr wrap="none" lIns="0" rIns="0" tIns="0" bIns="0" anchor="t">
            <a:noAutofit/>
          </a:bodyPr>
          <a:lstStyle/>
          <a:p>
            <a:pPr algn="r">
              <a:lnSpc>
                <a:spcPct val="135000"/>
              </a:lnSpc>
            </a:pPr>
            <a:r>
              <a:rPr sz="1300" b="1">
                <a:solidFill>
                  <a:srgbClr val="146B2C"/>
                </a:solidFill>
                <a:latin typeface="JetBrains Mono"/>
                <a:cs typeface="JetBrains Mono"/>
                <a:ea typeface="JetBrains Mono"/>
              </a:rPr>
              <a:t>feasible</a:t>
            </a:r>
          </a:p>
        </p:txBody>
      </p:sp>
      <p:sp>
        <p:nvSpPr>
          <p:cNvPr id="32" name="TextBox 31"/>
          <p:cNvSpPr txBox="1"/>
          <p:nvPr/>
        </p:nvSpPr>
        <p:spPr>
          <a:xfrm>
            <a:off x="609904" y="4608576"/>
            <a:ext cx="1600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operational</a:t>
            </a:r>
          </a:p>
        </p:txBody>
      </p:sp>
      <p:sp>
        <p:nvSpPr>
          <p:cNvPr id="33" name="TextBox 32"/>
          <p:cNvSpPr txBox="1"/>
          <p:nvPr/>
        </p:nvSpPr>
        <p:spPr>
          <a:xfrm>
            <a:off x="2438704" y="4594860"/>
            <a:ext cx="3246120" cy="292608"/>
          </a:xfrm>
          <a:prstGeom prst="rect">
            <a:avLst/>
          </a:prstGeom>
          <a:noFill/>
        </p:spPr>
        <p:txBody>
          <a:bodyPr wrap="none" lIns="0" rIns="0" tIns="0" bIns="0" anchor="t">
            <a:noAutofit/>
          </a:bodyPr>
          <a:lstStyle/>
          <a:p>
            <a:pPr algn="l">
              <a:lnSpc>
                <a:spcPct val="100000"/>
              </a:lnSpc>
            </a:pPr>
            <a:r>
              <a:rPr sz="1400" b="0">
                <a:solidFill>
                  <a:srgbClr val="1D1D1F"/>
                </a:solidFill>
                <a:latin typeface="Inter"/>
                <a:cs typeface="Inter"/>
                <a:ea typeface="Inter"/>
              </a:rPr>
              <a:t>Deployment on target hardware?</a:t>
            </a:r>
          </a:p>
        </p:txBody>
      </p:sp>
      <p:sp>
        <p:nvSpPr>
          <p:cNvPr id="34" name="TextBox 33"/>
          <p:cNvSpPr txBox="1"/>
          <p:nvPr/>
        </p:nvSpPr>
        <p:spPr>
          <a:xfrm>
            <a:off x="5913424" y="4599432"/>
            <a:ext cx="3611880" cy="292608"/>
          </a:xfrm>
          <a:prstGeom prst="rect">
            <a:avLst/>
          </a:prstGeom>
          <a:noFill/>
        </p:spPr>
        <p:txBody>
          <a:bodyPr wrap="none" lIns="0" rIns="0" tIns="0" bIns="0" anchor="t">
            <a:noAutofit/>
          </a:bodyPr>
          <a:lstStyle/>
          <a:p>
            <a:pPr algn="l">
              <a:lnSpc>
                <a:spcPct val="100000"/>
              </a:lnSpc>
            </a:pPr>
            <a:r>
              <a:rPr sz="1300" b="0">
                <a:solidFill>
                  <a:srgbClr val="3A3A3C"/>
                </a:solidFill>
                <a:latin typeface="Inter"/>
                <a:cs typeface="Inter"/>
                <a:ea typeface="Inter"/>
              </a:rPr>
              <a:t>Standalone WIN32 .exe, no installer</a:t>
            </a:r>
          </a:p>
        </p:txBody>
      </p:sp>
      <p:sp>
        <p:nvSpPr>
          <p:cNvPr id="35" name="TextBox 34"/>
          <p:cNvSpPr txBox="1"/>
          <p:nvPr/>
        </p:nvSpPr>
        <p:spPr>
          <a:xfrm>
            <a:off x="9753904" y="4608576"/>
            <a:ext cx="1828800" cy="314325"/>
          </a:xfrm>
          <a:prstGeom prst="rect">
            <a:avLst/>
          </a:prstGeom>
          <a:noFill/>
        </p:spPr>
        <p:txBody>
          <a:bodyPr wrap="none" lIns="0" rIns="0" tIns="0" bIns="0" anchor="t">
            <a:noAutofit/>
          </a:bodyPr>
          <a:lstStyle/>
          <a:p>
            <a:pPr algn="r">
              <a:lnSpc>
                <a:spcPct val="135000"/>
              </a:lnSpc>
            </a:pPr>
            <a:r>
              <a:rPr sz="1300" b="1">
                <a:solidFill>
                  <a:srgbClr val="146B2C"/>
                </a:solidFill>
                <a:latin typeface="JetBrains Mono"/>
                <a:cs typeface="JetBrains Mono"/>
                <a:ea typeface="JetBrains Mono"/>
              </a:rPr>
              <a:t>feasible</a:t>
            </a:r>
          </a:p>
        </p:txBody>
      </p:sp>
      <p:sp>
        <p:nvSpPr>
          <p:cNvPr id="36" name="Rectangle 35"/>
          <p:cNvSpPr/>
          <p:nvPr/>
        </p:nvSpPr>
        <p:spPr>
          <a:xfrm>
            <a:off x="609904" y="232257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09904" y="2862072"/>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09904" y="3401568"/>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09904" y="3941063"/>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09904" y="44805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09904" y="502005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09904" y="2103120"/>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dimension</a:t>
            </a:r>
          </a:p>
        </p:txBody>
      </p:sp>
      <p:sp>
        <p:nvSpPr>
          <p:cNvPr id="43" name="TextBox 42"/>
          <p:cNvSpPr txBox="1"/>
          <p:nvPr/>
        </p:nvSpPr>
        <p:spPr>
          <a:xfrm>
            <a:off x="2438704" y="2103120"/>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question</a:t>
            </a:r>
          </a:p>
        </p:txBody>
      </p:sp>
      <p:sp>
        <p:nvSpPr>
          <p:cNvPr id="44" name="TextBox 43"/>
          <p:cNvSpPr txBox="1"/>
          <p:nvPr/>
        </p:nvSpPr>
        <p:spPr>
          <a:xfrm>
            <a:off x="5913424" y="2103120"/>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evidence</a:t>
            </a:r>
          </a:p>
        </p:txBody>
      </p:sp>
      <p:sp>
        <p:nvSpPr>
          <p:cNvPr id="45" name="TextBox 44"/>
          <p:cNvSpPr txBox="1"/>
          <p:nvPr/>
        </p:nvSpPr>
        <p:spPr>
          <a:xfrm>
            <a:off x="9753904" y="2103120"/>
            <a:ext cx="1828800" cy="280035"/>
          </a:xfrm>
          <a:prstGeom prst="rect">
            <a:avLst/>
          </a:prstGeom>
          <a:noFill/>
        </p:spPr>
        <p:txBody>
          <a:bodyPr wrap="none" lIns="0" rIns="0" tIns="0" bIns="0" anchor="t">
            <a:noAutofit/>
          </a:bodyPr>
          <a:lstStyle/>
          <a:p>
            <a:pPr algn="r">
              <a:lnSpc>
                <a:spcPct val="135000"/>
              </a:lnSpc>
            </a:pPr>
            <a:r>
              <a:rPr sz="1100" b="0">
                <a:solidFill>
                  <a:srgbClr val="A1A1A6"/>
                </a:solidFill>
                <a:latin typeface="JetBrains Mono"/>
                <a:cs typeface="JetBrains Mono"/>
                <a:ea typeface="JetBrains Mono"/>
              </a:rPr>
              <a:t>verdict</a:t>
            </a:r>
          </a:p>
        </p:txBody>
      </p:sp>
      <p:sp>
        <p:nvSpPr>
          <p:cNvPr id="46" name="!!cmd"/>
          <p:cNvSpPr/>
          <p:nvPr/>
        </p:nvSpPr>
        <p:spPr>
          <a:xfrm>
            <a:off x="609904" y="5157216"/>
            <a:ext cx="8595360" cy="402336"/>
          </a:xfrm>
          <a:prstGeom prst="rect">
            <a:avLst/>
          </a:prstGeom>
          <a:solidFill>
            <a:srgbClr val="E3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47064" y="5271516"/>
            <a:ext cx="8321040" cy="331470"/>
          </a:xfrm>
          <a:prstGeom prst="rect">
            <a:avLst/>
          </a:prstGeom>
          <a:noFill/>
        </p:spPr>
        <p:txBody>
          <a:bodyPr wrap="none" lIns="0" rIns="0" tIns="0" bIns="0" anchor="t">
            <a:noAutofit/>
          </a:bodyPr>
          <a:lstStyle/>
          <a:p>
            <a:pPr algn="l">
              <a:lnSpc>
                <a:spcPct val="135000"/>
              </a:lnSpc>
            </a:pPr>
            <a:r>
              <a:rPr sz="1400" b="0">
                <a:solidFill>
                  <a:srgbClr val="1D1D1F"/>
                </a:solidFill>
                <a:latin typeface="JetBrains Mono"/>
                <a:cs typeface="JetBrains Mono"/>
                <a:ea typeface="JetBrains Mono"/>
              </a:rPr>
              <a:t>every verdict above rests on a measurement, not an estimate.</a:t>
            </a:r>
          </a:p>
        </p:txBody>
      </p:sp>
      <p:sp>
        <p:nvSpPr>
          <p:cNvPr id="48" name="TextBox 47"/>
          <p:cNvSpPr txBox="1"/>
          <p:nvPr/>
        </p:nvSpPr>
        <p:spPr>
          <a:xfrm>
            <a:off x="609904" y="585216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the schedule row is the one that actually decided the data structure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00">
        <p159:morph option="byObject"/>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/CMakeLists.txt</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10 / 17      0 errors</a:t>
            </a:r>
          </a:p>
        </p:txBody>
      </p:sp>
      <p:sp>
        <p:nvSpPr>
          <p:cNvPr id="8" name="TextBox 7"/>
          <p:cNvSpPr txBox="1"/>
          <p:nvPr/>
        </p:nvSpPr>
        <p:spPr>
          <a:xfrm>
            <a:off x="9936784" y="52120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mem</a:t>
            </a:r>
          </a:p>
        </p:txBody>
      </p:sp>
      <p:sp>
        <p:nvSpPr>
          <p:cNvPr id="9" name="!!m_mem"/>
          <p:cNvSpPr txBox="1"/>
          <p:nvPr/>
        </p:nvSpPr>
        <p:spPr>
          <a:xfrm>
            <a:off x="9753904" y="52120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15–25 MB</a:t>
            </a:r>
          </a:p>
        </p:txBody>
      </p:sp>
      <p:sp>
        <p:nvSpPr>
          <p:cNvPr id="10" name="TextBox 9"/>
          <p:cNvSpPr txBox="1"/>
          <p:nvPr/>
        </p:nvSpPr>
        <p:spPr>
          <a:xfrm>
            <a:off x="9936784" y="54406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boot</a:t>
            </a:r>
          </a:p>
        </p:txBody>
      </p:sp>
      <p:sp>
        <p:nvSpPr>
          <p:cNvPr id="11" name="!!m_boot"/>
          <p:cNvSpPr txBox="1"/>
          <p:nvPr/>
        </p:nvSpPr>
        <p:spPr>
          <a:xfrm>
            <a:off x="9753904" y="54406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100 ms</a:t>
            </a:r>
          </a:p>
        </p:txBody>
      </p:sp>
      <p:sp>
        <p:nvSpPr>
          <p:cNvPr id="12" name="TextBox 11"/>
          <p:cNvSpPr txBox="1"/>
          <p:nvPr/>
        </p:nvSpPr>
        <p:spPr>
          <a:xfrm>
            <a:off x="9936784" y="56692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input</a:t>
            </a:r>
          </a:p>
        </p:txBody>
      </p:sp>
      <p:sp>
        <p:nvSpPr>
          <p:cNvPr id="13" name="!!m_input"/>
          <p:cNvSpPr txBox="1"/>
          <p:nvPr/>
        </p:nvSpPr>
        <p:spPr>
          <a:xfrm>
            <a:off x="9753904" y="56692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7 ms</a:t>
            </a:r>
          </a:p>
        </p:txBody>
      </p:sp>
      <p:sp>
        <p:nvSpPr>
          <p:cNvPr id="14" name="TextBox 13"/>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Technology Stack</a:t>
            </a:r>
          </a:p>
        </p:txBody>
      </p:sp>
      <p:sp>
        <p:nvSpPr>
          <p:cNvPr id="15" name="!!cmd"/>
          <p:cNvSpPr/>
          <p:nvPr/>
        </p:nvSpPr>
        <p:spPr>
          <a:xfrm>
            <a:off x="2118664" y="2139696"/>
            <a:ext cx="2240280" cy="310896"/>
          </a:xfrm>
          <a:prstGeom prst="rect">
            <a:avLst/>
          </a:prstGeom>
          <a:solidFill>
            <a:srgbClr val="E3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9904" y="2194560"/>
            <a:ext cx="141732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language</a:t>
            </a:r>
          </a:p>
        </p:txBody>
      </p:sp>
      <p:sp>
        <p:nvSpPr>
          <p:cNvPr id="17" name="TextBox 16"/>
          <p:cNvSpPr txBox="1"/>
          <p:nvPr/>
        </p:nvSpPr>
        <p:spPr>
          <a:xfrm>
            <a:off x="2164384" y="2189988"/>
            <a:ext cx="2468880" cy="331470"/>
          </a:xfrm>
          <a:prstGeom prst="rect">
            <a:avLst/>
          </a:prstGeom>
          <a:noFill/>
        </p:spPr>
        <p:txBody>
          <a:bodyPr wrap="none" lIns="0" rIns="0" tIns="0" bIns="0" anchor="t">
            <a:noAutofit/>
          </a:bodyPr>
          <a:lstStyle/>
          <a:p>
            <a:pPr algn="l">
              <a:lnSpc>
                <a:spcPct val="135000"/>
              </a:lnSpc>
            </a:pPr>
            <a:r>
              <a:rPr sz="1400" b="1">
                <a:solidFill>
                  <a:srgbClr val="1D1D1F"/>
                </a:solidFill>
                <a:latin typeface="JetBrains Mono"/>
                <a:cs typeface="JetBrains Mono"/>
                <a:ea typeface="JetBrains Mono"/>
              </a:rPr>
              <a:t>C++17</a:t>
            </a:r>
          </a:p>
        </p:txBody>
      </p:sp>
      <p:sp>
        <p:nvSpPr>
          <p:cNvPr id="18" name="TextBox 17"/>
          <p:cNvSpPr txBox="1"/>
          <p:nvPr/>
        </p:nvSpPr>
        <p:spPr>
          <a:xfrm>
            <a:off x="4770424" y="2189988"/>
            <a:ext cx="3703320" cy="292608"/>
          </a:xfrm>
          <a:prstGeom prst="rect">
            <a:avLst/>
          </a:prstGeom>
          <a:noFill/>
        </p:spPr>
        <p:txBody>
          <a:bodyPr wrap="none" lIns="0" rIns="0" tIns="0" bIns="0" anchor="t">
            <a:noAutofit/>
          </a:bodyPr>
          <a:lstStyle/>
          <a:p>
            <a:pPr algn="l">
              <a:lnSpc>
                <a:spcPct val="100000"/>
              </a:lnSpc>
            </a:pPr>
            <a:r>
              <a:rPr sz="1500" b="0">
                <a:solidFill>
                  <a:srgbClr val="3A3A3C"/>
                </a:solidFill>
                <a:latin typeface="Inter"/>
                <a:cs typeface="Inter"/>
                <a:ea typeface="Inter"/>
              </a:rPr>
              <a:t>No collector in the input path</a:t>
            </a:r>
          </a:p>
        </p:txBody>
      </p:sp>
      <p:sp>
        <p:nvSpPr>
          <p:cNvPr id="19" name="TextBox 18"/>
          <p:cNvSpPr txBox="1"/>
          <p:nvPr/>
        </p:nvSpPr>
        <p:spPr>
          <a:xfrm>
            <a:off x="8610904" y="2194560"/>
            <a:ext cx="2971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Rust · C#</a:t>
            </a:r>
          </a:p>
        </p:txBody>
      </p:sp>
      <p:sp>
        <p:nvSpPr>
          <p:cNvPr id="20" name="TextBox 19"/>
          <p:cNvSpPr txBox="1"/>
          <p:nvPr/>
        </p:nvSpPr>
        <p:spPr>
          <a:xfrm>
            <a:off x="609904" y="2724912"/>
            <a:ext cx="141732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framework</a:t>
            </a:r>
          </a:p>
        </p:txBody>
      </p:sp>
      <p:sp>
        <p:nvSpPr>
          <p:cNvPr id="21" name="!!row_qt"/>
          <p:cNvSpPr txBox="1"/>
          <p:nvPr/>
        </p:nvSpPr>
        <p:spPr>
          <a:xfrm>
            <a:off x="2164384" y="2720340"/>
            <a:ext cx="2468880" cy="331470"/>
          </a:xfrm>
          <a:prstGeom prst="rect">
            <a:avLst/>
          </a:prstGeom>
          <a:noFill/>
        </p:spPr>
        <p:txBody>
          <a:bodyPr wrap="none" lIns="0" rIns="0" tIns="0" bIns="0" anchor="t">
            <a:noAutofit/>
          </a:bodyPr>
          <a:lstStyle/>
          <a:p>
            <a:pPr algn="l">
              <a:lnSpc>
                <a:spcPct val="135000"/>
              </a:lnSpc>
            </a:pPr>
            <a:r>
              <a:rPr sz="1400" b="1">
                <a:solidFill>
                  <a:srgbClr val="1D1D1F"/>
                </a:solidFill>
                <a:latin typeface="JetBrains Mono"/>
                <a:cs typeface="JetBrains Mono"/>
                <a:ea typeface="JetBrains Mono"/>
              </a:rPr>
              <a:t>Qt6 Widgets</a:t>
            </a:r>
          </a:p>
        </p:txBody>
      </p:sp>
      <p:sp>
        <p:nvSpPr>
          <p:cNvPr id="22" name="TextBox 21"/>
          <p:cNvSpPr txBox="1"/>
          <p:nvPr/>
        </p:nvSpPr>
        <p:spPr>
          <a:xfrm>
            <a:off x="4770424" y="2720340"/>
            <a:ext cx="3703320" cy="292608"/>
          </a:xfrm>
          <a:prstGeom prst="rect">
            <a:avLst/>
          </a:prstGeom>
          <a:noFill/>
        </p:spPr>
        <p:txBody>
          <a:bodyPr wrap="none" lIns="0" rIns="0" tIns="0" bIns="0" anchor="t">
            <a:noAutofit/>
          </a:bodyPr>
          <a:lstStyle/>
          <a:p>
            <a:pPr algn="l">
              <a:lnSpc>
                <a:spcPct val="100000"/>
              </a:lnSpc>
            </a:pPr>
            <a:r>
              <a:rPr sz="1500" b="0">
                <a:solidFill>
                  <a:srgbClr val="3A3A3C"/>
                </a:solidFill>
                <a:latin typeface="Inter"/>
                <a:cs typeface="Inter"/>
                <a:ea typeface="Inter"/>
              </a:rPr>
              <a:t>Native event loop, no scene graph</a:t>
            </a:r>
          </a:p>
        </p:txBody>
      </p:sp>
      <p:sp>
        <p:nvSpPr>
          <p:cNvPr id="23" name="TextBox 22"/>
          <p:cNvSpPr txBox="1"/>
          <p:nvPr/>
        </p:nvSpPr>
        <p:spPr>
          <a:xfrm>
            <a:off x="8610904" y="2724912"/>
            <a:ext cx="2971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Electron · QML</a:t>
            </a:r>
          </a:p>
        </p:txBody>
      </p:sp>
      <p:sp>
        <p:nvSpPr>
          <p:cNvPr id="24" name="TextBox 23"/>
          <p:cNvSpPr txBox="1"/>
          <p:nvPr/>
        </p:nvSpPr>
        <p:spPr>
          <a:xfrm>
            <a:off x="609904" y="3255264"/>
            <a:ext cx="141732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render</a:t>
            </a:r>
          </a:p>
        </p:txBody>
      </p:sp>
      <p:sp>
        <p:nvSpPr>
          <p:cNvPr id="25" name="TextBox 24"/>
          <p:cNvSpPr txBox="1"/>
          <p:nvPr/>
        </p:nvSpPr>
        <p:spPr>
          <a:xfrm>
            <a:off x="2164384" y="3250692"/>
            <a:ext cx="2468880" cy="331470"/>
          </a:xfrm>
          <a:prstGeom prst="rect">
            <a:avLst/>
          </a:prstGeom>
          <a:noFill/>
        </p:spPr>
        <p:txBody>
          <a:bodyPr wrap="none" lIns="0" rIns="0" tIns="0" bIns="0" anchor="t">
            <a:noAutofit/>
          </a:bodyPr>
          <a:lstStyle/>
          <a:p>
            <a:pPr algn="l">
              <a:lnSpc>
                <a:spcPct val="135000"/>
              </a:lnSpc>
            </a:pPr>
            <a:r>
              <a:rPr sz="1400" b="1">
                <a:solidFill>
                  <a:srgbClr val="1D1D1F"/>
                </a:solidFill>
                <a:latin typeface="JetBrains Mono"/>
                <a:cs typeface="JetBrains Mono"/>
                <a:ea typeface="JetBrains Mono"/>
              </a:rPr>
              <a:t>QPainter on QWidget</a:t>
            </a:r>
          </a:p>
        </p:txBody>
      </p:sp>
      <p:sp>
        <p:nvSpPr>
          <p:cNvPr id="26" name="TextBox 25"/>
          <p:cNvSpPr txBox="1"/>
          <p:nvPr/>
        </p:nvSpPr>
        <p:spPr>
          <a:xfrm>
            <a:off x="4770424" y="3250692"/>
            <a:ext cx="3703320" cy="292608"/>
          </a:xfrm>
          <a:prstGeom prst="rect">
            <a:avLst/>
          </a:prstGeom>
          <a:noFill/>
        </p:spPr>
        <p:txBody>
          <a:bodyPr wrap="none" lIns="0" rIns="0" tIns="0" bIns="0" anchor="t">
            <a:noAutofit/>
          </a:bodyPr>
          <a:lstStyle/>
          <a:p>
            <a:pPr algn="l">
              <a:lnSpc>
                <a:spcPct val="100000"/>
              </a:lnSpc>
            </a:pPr>
            <a:r>
              <a:rPr sz="1500" b="0">
                <a:solidFill>
                  <a:srgbClr val="3A3A3C"/>
                </a:solidFill>
                <a:latin typeface="Inter"/>
                <a:cs typeface="Inter"/>
                <a:ea typeface="Inter"/>
              </a:rPr>
              <a:t>Owns the paint loop — enables culling</a:t>
            </a:r>
          </a:p>
        </p:txBody>
      </p:sp>
      <p:sp>
        <p:nvSpPr>
          <p:cNvPr id="27" name="TextBox 26"/>
          <p:cNvSpPr txBox="1"/>
          <p:nvPr/>
        </p:nvSpPr>
        <p:spPr>
          <a:xfrm>
            <a:off x="8610904" y="3255264"/>
            <a:ext cx="2971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QTextEdit · QPlainTextEdit</a:t>
            </a:r>
          </a:p>
        </p:txBody>
      </p:sp>
      <p:sp>
        <p:nvSpPr>
          <p:cNvPr id="28" name="TextBox 27"/>
          <p:cNvSpPr txBox="1"/>
          <p:nvPr/>
        </p:nvSpPr>
        <p:spPr>
          <a:xfrm>
            <a:off x="609904" y="3785615"/>
            <a:ext cx="141732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process</a:t>
            </a:r>
          </a:p>
        </p:txBody>
      </p:sp>
      <p:sp>
        <p:nvSpPr>
          <p:cNvPr id="29" name="TextBox 28"/>
          <p:cNvSpPr txBox="1"/>
          <p:nvPr/>
        </p:nvSpPr>
        <p:spPr>
          <a:xfrm>
            <a:off x="2164384" y="3781044"/>
            <a:ext cx="2468880" cy="331470"/>
          </a:xfrm>
          <a:prstGeom prst="rect">
            <a:avLst/>
          </a:prstGeom>
          <a:noFill/>
        </p:spPr>
        <p:txBody>
          <a:bodyPr wrap="none" lIns="0" rIns="0" tIns="0" bIns="0" anchor="t">
            <a:noAutofit/>
          </a:bodyPr>
          <a:lstStyle/>
          <a:p>
            <a:pPr algn="l">
              <a:lnSpc>
                <a:spcPct val="135000"/>
              </a:lnSpc>
            </a:pPr>
            <a:r>
              <a:rPr sz="1400" b="1">
                <a:solidFill>
                  <a:srgbClr val="1D1D1F"/>
                </a:solidFill>
                <a:latin typeface="JetBrains Mono"/>
                <a:cs typeface="JetBrains Mono"/>
                <a:ea typeface="JetBrains Mono"/>
              </a:rPr>
              <a:t>QProcess</a:t>
            </a:r>
          </a:p>
        </p:txBody>
      </p:sp>
      <p:sp>
        <p:nvSpPr>
          <p:cNvPr id="30" name="TextBox 29"/>
          <p:cNvSpPr txBox="1"/>
          <p:nvPr/>
        </p:nvSpPr>
        <p:spPr>
          <a:xfrm>
            <a:off x="4770424" y="3781044"/>
            <a:ext cx="3703320" cy="292608"/>
          </a:xfrm>
          <a:prstGeom prst="rect">
            <a:avLst/>
          </a:prstGeom>
          <a:noFill/>
        </p:spPr>
        <p:txBody>
          <a:bodyPr wrap="none" lIns="0" rIns="0" tIns="0" bIns="0" anchor="t">
            <a:noAutofit/>
          </a:bodyPr>
          <a:lstStyle/>
          <a:p>
            <a:pPr algn="l">
              <a:lnSpc>
                <a:spcPct val="100000"/>
              </a:lnSpc>
            </a:pPr>
            <a:r>
              <a:rPr sz="1500" b="0">
                <a:solidFill>
                  <a:srgbClr val="3A3A3C"/>
                </a:solidFill>
                <a:latin typeface="Inter"/>
                <a:cs typeface="Inter"/>
                <a:ea typeface="Inter"/>
              </a:rPr>
              <a:t>One persistent shell for the F5 loop</a:t>
            </a:r>
          </a:p>
        </p:txBody>
      </p:sp>
      <p:sp>
        <p:nvSpPr>
          <p:cNvPr id="31" name="TextBox 30"/>
          <p:cNvSpPr txBox="1"/>
          <p:nvPr/>
        </p:nvSpPr>
        <p:spPr>
          <a:xfrm>
            <a:off x="8610904" y="3785615"/>
            <a:ext cx="2971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one-shot system() calls</a:t>
            </a:r>
          </a:p>
        </p:txBody>
      </p:sp>
      <p:sp>
        <p:nvSpPr>
          <p:cNvPr id="32" name="TextBox 31"/>
          <p:cNvSpPr txBox="1"/>
          <p:nvPr/>
        </p:nvSpPr>
        <p:spPr>
          <a:xfrm>
            <a:off x="609904" y="4315968"/>
            <a:ext cx="141732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build</a:t>
            </a:r>
          </a:p>
        </p:txBody>
      </p:sp>
      <p:sp>
        <p:nvSpPr>
          <p:cNvPr id="33" name="TextBox 32"/>
          <p:cNvSpPr txBox="1"/>
          <p:nvPr/>
        </p:nvSpPr>
        <p:spPr>
          <a:xfrm>
            <a:off x="2164384" y="4311396"/>
            <a:ext cx="2468880" cy="331470"/>
          </a:xfrm>
          <a:prstGeom prst="rect">
            <a:avLst/>
          </a:prstGeom>
          <a:noFill/>
        </p:spPr>
        <p:txBody>
          <a:bodyPr wrap="none" lIns="0" rIns="0" tIns="0" bIns="0" anchor="t">
            <a:noAutofit/>
          </a:bodyPr>
          <a:lstStyle/>
          <a:p>
            <a:pPr algn="l">
              <a:lnSpc>
                <a:spcPct val="135000"/>
              </a:lnSpc>
            </a:pPr>
            <a:r>
              <a:rPr sz="1400" b="1">
                <a:solidFill>
                  <a:srgbClr val="1D1D1F"/>
                </a:solidFill>
                <a:latin typeface="JetBrains Mono"/>
                <a:cs typeface="JetBrains Mono"/>
                <a:ea typeface="JetBrains Mono"/>
              </a:rPr>
              <a:t>CMake + AUTOMOC</a:t>
            </a:r>
          </a:p>
        </p:txBody>
      </p:sp>
      <p:sp>
        <p:nvSpPr>
          <p:cNvPr id="34" name="TextBox 33"/>
          <p:cNvSpPr txBox="1"/>
          <p:nvPr/>
        </p:nvSpPr>
        <p:spPr>
          <a:xfrm>
            <a:off x="4770424" y="4311396"/>
            <a:ext cx="3703320" cy="292608"/>
          </a:xfrm>
          <a:prstGeom prst="rect">
            <a:avLst/>
          </a:prstGeom>
          <a:noFill/>
        </p:spPr>
        <p:txBody>
          <a:bodyPr wrap="none" lIns="0" rIns="0" tIns="0" bIns="0" anchor="t">
            <a:noAutofit/>
          </a:bodyPr>
          <a:lstStyle/>
          <a:p>
            <a:pPr algn="l">
              <a:lnSpc>
                <a:spcPct val="100000"/>
              </a:lnSpc>
            </a:pPr>
            <a:r>
              <a:rPr sz="1500" b="0">
                <a:solidFill>
                  <a:srgbClr val="3A3A3C"/>
                </a:solidFill>
                <a:latin typeface="Inter"/>
                <a:cs typeface="Inter"/>
                <a:ea typeface="Inter"/>
              </a:rPr>
              <a:t>Standalone WIN32 .exe, no installer</a:t>
            </a:r>
          </a:p>
        </p:txBody>
      </p:sp>
      <p:sp>
        <p:nvSpPr>
          <p:cNvPr id="35" name="TextBox 34"/>
          <p:cNvSpPr txBox="1"/>
          <p:nvPr/>
        </p:nvSpPr>
        <p:spPr>
          <a:xfrm>
            <a:off x="8610904" y="4315968"/>
            <a:ext cx="2971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qmake · MSBuild</a:t>
            </a:r>
          </a:p>
        </p:txBody>
      </p:sp>
      <p:sp>
        <p:nvSpPr>
          <p:cNvPr id="36" name="TextBox 35"/>
          <p:cNvSpPr txBox="1"/>
          <p:nvPr/>
        </p:nvSpPr>
        <p:spPr>
          <a:xfrm>
            <a:off x="609904" y="4846320"/>
            <a:ext cx="141732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deps</a:t>
            </a:r>
          </a:p>
        </p:txBody>
      </p:sp>
      <p:sp>
        <p:nvSpPr>
          <p:cNvPr id="37" name="TextBox 36"/>
          <p:cNvSpPr txBox="1"/>
          <p:nvPr/>
        </p:nvSpPr>
        <p:spPr>
          <a:xfrm>
            <a:off x="2164384" y="4841748"/>
            <a:ext cx="2468880" cy="331470"/>
          </a:xfrm>
          <a:prstGeom prst="rect">
            <a:avLst/>
          </a:prstGeom>
          <a:noFill/>
        </p:spPr>
        <p:txBody>
          <a:bodyPr wrap="none" lIns="0" rIns="0" tIns="0" bIns="0" anchor="t">
            <a:noAutofit/>
          </a:bodyPr>
          <a:lstStyle/>
          <a:p>
            <a:pPr algn="l">
              <a:lnSpc>
                <a:spcPct val="135000"/>
              </a:lnSpc>
            </a:pPr>
            <a:r>
              <a:rPr sz="1400" b="1">
                <a:solidFill>
                  <a:srgbClr val="1D1D1F"/>
                </a:solidFill>
                <a:latin typeface="JetBrains Mono"/>
                <a:cs typeface="JetBrains Mono"/>
                <a:ea typeface="JetBrains Mono"/>
              </a:rPr>
              <a:t>0 external (Qt only)</a:t>
            </a:r>
          </a:p>
        </p:txBody>
      </p:sp>
      <p:sp>
        <p:nvSpPr>
          <p:cNvPr id="38" name="TextBox 37"/>
          <p:cNvSpPr txBox="1"/>
          <p:nvPr/>
        </p:nvSpPr>
        <p:spPr>
          <a:xfrm>
            <a:off x="4770424" y="4841748"/>
            <a:ext cx="3703320" cy="292608"/>
          </a:xfrm>
          <a:prstGeom prst="rect">
            <a:avLst/>
          </a:prstGeom>
          <a:noFill/>
        </p:spPr>
        <p:txBody>
          <a:bodyPr wrap="none" lIns="0" rIns="0" tIns="0" bIns="0" anchor="t">
            <a:noAutofit/>
          </a:bodyPr>
          <a:lstStyle/>
          <a:p>
            <a:pPr algn="l">
              <a:lnSpc>
                <a:spcPct val="100000"/>
              </a:lnSpc>
            </a:pPr>
            <a:r>
              <a:rPr sz="1500" b="0">
                <a:solidFill>
                  <a:srgbClr val="3A3A3C"/>
                </a:solidFill>
                <a:latin typeface="Inter"/>
                <a:cs typeface="Inter"/>
                <a:ea typeface="Inter"/>
              </a:rPr>
              <a:t>Single-binary distribution</a:t>
            </a:r>
          </a:p>
        </p:txBody>
      </p:sp>
      <p:sp>
        <p:nvSpPr>
          <p:cNvPr id="39" name="TextBox 38"/>
          <p:cNvSpPr txBox="1"/>
          <p:nvPr/>
        </p:nvSpPr>
        <p:spPr>
          <a:xfrm>
            <a:off x="8610904" y="4846320"/>
            <a:ext cx="2971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vcpkg dependency tree</a:t>
            </a:r>
          </a:p>
        </p:txBody>
      </p:sp>
      <p:sp>
        <p:nvSpPr>
          <p:cNvPr id="40" name="Rectangle 39"/>
          <p:cNvSpPr/>
          <p:nvPr/>
        </p:nvSpPr>
        <p:spPr>
          <a:xfrm>
            <a:off x="609904" y="205740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09904" y="2587752"/>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09904" y="3118104"/>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09904" y="3648456"/>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09904" y="4178808"/>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09904" y="47091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609904" y="5239512"/>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09904" y="1901952"/>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layer</a:t>
            </a:r>
          </a:p>
        </p:txBody>
      </p:sp>
      <p:sp>
        <p:nvSpPr>
          <p:cNvPr id="48" name="TextBox 47"/>
          <p:cNvSpPr txBox="1"/>
          <p:nvPr/>
        </p:nvSpPr>
        <p:spPr>
          <a:xfrm>
            <a:off x="2164384" y="1901952"/>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chosen</a:t>
            </a:r>
          </a:p>
        </p:txBody>
      </p:sp>
      <p:sp>
        <p:nvSpPr>
          <p:cNvPr id="49" name="TextBox 48"/>
          <p:cNvSpPr txBox="1"/>
          <p:nvPr/>
        </p:nvSpPr>
        <p:spPr>
          <a:xfrm>
            <a:off x="4770424" y="1901952"/>
            <a:ext cx="27432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constraint it satisfies</a:t>
            </a:r>
          </a:p>
        </p:txBody>
      </p:sp>
      <p:sp>
        <p:nvSpPr>
          <p:cNvPr id="50" name="TextBox 49"/>
          <p:cNvSpPr txBox="1"/>
          <p:nvPr/>
        </p:nvSpPr>
        <p:spPr>
          <a:xfrm>
            <a:off x="8610904" y="1901952"/>
            <a:ext cx="18288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rejected</a:t>
            </a:r>
          </a:p>
        </p:txBody>
      </p:sp>
      <p:sp>
        <p:nvSpPr>
          <p:cNvPr id="51" name="TextBox 50"/>
          <p:cNvSpPr txBox="1"/>
          <p:nvPr/>
        </p:nvSpPr>
        <p:spPr>
          <a:xfrm>
            <a:off x="609904" y="589788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every dependency is a decision. the rejected column is the one worth arguing about.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00">
        <p159:morph option="byObject"/>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/docs/postmortem.md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11 / 17      0 errors</a:t>
            </a:r>
          </a:p>
        </p:txBody>
      </p:sp>
      <p:sp>
        <p:nvSpPr>
          <p:cNvPr id="8" name="TextBox 7"/>
          <p:cNvSpPr txBox="1"/>
          <p:nvPr/>
        </p:nvSpPr>
        <p:spPr>
          <a:xfrm>
            <a:off x="9936784" y="52120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mem</a:t>
            </a:r>
          </a:p>
        </p:txBody>
      </p:sp>
      <p:sp>
        <p:nvSpPr>
          <p:cNvPr id="9" name="!!m_mem"/>
          <p:cNvSpPr txBox="1"/>
          <p:nvPr/>
        </p:nvSpPr>
        <p:spPr>
          <a:xfrm>
            <a:off x="9753904" y="52120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15–25 MB</a:t>
            </a:r>
          </a:p>
        </p:txBody>
      </p:sp>
      <p:sp>
        <p:nvSpPr>
          <p:cNvPr id="10" name="TextBox 9"/>
          <p:cNvSpPr txBox="1"/>
          <p:nvPr/>
        </p:nvSpPr>
        <p:spPr>
          <a:xfrm>
            <a:off x="9936784" y="54406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boot</a:t>
            </a:r>
          </a:p>
        </p:txBody>
      </p:sp>
      <p:sp>
        <p:nvSpPr>
          <p:cNvPr id="11" name="!!m_boot"/>
          <p:cNvSpPr txBox="1"/>
          <p:nvPr/>
        </p:nvSpPr>
        <p:spPr>
          <a:xfrm>
            <a:off x="9753904" y="54406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100 ms</a:t>
            </a:r>
          </a:p>
        </p:txBody>
      </p:sp>
      <p:sp>
        <p:nvSpPr>
          <p:cNvPr id="12" name="TextBox 11"/>
          <p:cNvSpPr txBox="1"/>
          <p:nvPr/>
        </p:nvSpPr>
        <p:spPr>
          <a:xfrm>
            <a:off x="9936784" y="5669280"/>
            <a:ext cx="914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input</a:t>
            </a:r>
          </a:p>
        </p:txBody>
      </p:sp>
      <p:sp>
        <p:nvSpPr>
          <p:cNvPr id="13" name="!!m_input"/>
          <p:cNvSpPr txBox="1"/>
          <p:nvPr/>
        </p:nvSpPr>
        <p:spPr>
          <a:xfrm>
            <a:off x="9753904" y="5669280"/>
            <a:ext cx="1828800" cy="314325"/>
          </a:xfrm>
          <a:prstGeom prst="rect">
            <a:avLst/>
          </a:prstGeom>
          <a:noFill/>
        </p:spPr>
        <p:txBody>
          <a:bodyPr wrap="none" lIns="0" rIns="0" tIns="0" bIns="0" anchor="t">
            <a:noAutofit/>
          </a:bodyPr>
          <a:lstStyle/>
          <a:p>
            <a:pPr algn="r">
              <a:lnSpc>
                <a:spcPct val="135000"/>
              </a:lnSpc>
            </a:pPr>
            <a:r>
              <a:rPr sz="1300" b="0">
                <a:solidFill>
                  <a:srgbClr val="1D1D1F"/>
                </a:solidFill>
                <a:latin typeface="JetBrains Mono"/>
                <a:cs typeface="JetBrains Mono"/>
                <a:ea typeface="JetBrains Mono"/>
              </a:rPr>
              <a:t>&lt; 7 ms</a:t>
            </a:r>
          </a:p>
        </p:txBody>
      </p:sp>
      <p:sp>
        <p:nvSpPr>
          <p:cNvPr id="14" name="TextBox 13"/>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Three Things That Did Not Work</a:t>
            </a:r>
          </a:p>
        </p:txBody>
      </p:sp>
      <p:sp>
        <p:nvSpPr>
          <p:cNvPr id="15" name="TextBox 14"/>
          <p:cNvSpPr txBox="1"/>
          <p:nvPr/>
        </p:nvSpPr>
        <p:spPr>
          <a:xfrm>
            <a:off x="609904" y="2194560"/>
            <a:ext cx="2377440" cy="914400"/>
          </a:xfrm>
          <a:prstGeom prst="rect">
            <a:avLst/>
          </a:prstGeom>
          <a:noFill/>
        </p:spPr>
        <p:txBody>
          <a:bodyPr wrap="square" lIns="0" rIns="0" tIns="0" bIns="0" anchor="t">
            <a:noAutofit/>
          </a:bodyPr>
          <a:lstStyle/>
          <a:p>
            <a:pPr algn="l">
              <a:lnSpc>
                <a:spcPct val="135000"/>
              </a:lnSpc>
            </a:pPr>
            <a:r>
              <a:rPr sz="1400" b="0">
                <a:solidFill>
                  <a:srgbClr val="1D1D1F"/>
                </a:solidFill>
                <a:latin typeface="Inter"/>
                <a:cs typeface="Inter"/>
                <a:ea typeface="Inter"/>
              </a:rPr>
              <a:t>Froze 1–2 s, then crashed on Ctrl+V</a:t>
            </a:r>
          </a:p>
        </p:txBody>
      </p:sp>
      <p:sp>
        <p:nvSpPr>
          <p:cNvPr id="16" name="TextBox 15"/>
          <p:cNvSpPr txBox="1"/>
          <p:nvPr/>
        </p:nvSpPr>
        <p:spPr>
          <a:xfrm>
            <a:off x="3124504" y="2194560"/>
            <a:ext cx="2788920" cy="91440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A QAction shortcut re-dispatched a synthetic QKeyEvent into the same pipeline — unbounded recursion</a:t>
            </a:r>
          </a:p>
        </p:txBody>
      </p:sp>
      <p:sp>
        <p:nvSpPr>
          <p:cNvPr id="17" name="TextBox 16"/>
          <p:cNvSpPr txBox="1"/>
          <p:nvPr/>
        </p:nvSpPr>
        <p:spPr>
          <a:xfrm>
            <a:off x="6096304" y="2194560"/>
            <a:ext cx="2514600" cy="914400"/>
          </a:xfrm>
          <a:prstGeom prst="rect">
            <a:avLst/>
          </a:prstGeom>
          <a:noFill/>
        </p:spPr>
        <p:txBody>
          <a:bodyPr wrap="square" lIns="0" rIns="0" tIns="0" bIns="0" anchor="t">
            <a:noAutofit/>
          </a:bodyPr>
          <a:lstStyle/>
          <a:p>
            <a:pPr algn="l">
              <a:lnSpc>
                <a:spcPct val="135000"/>
              </a:lnSpc>
            </a:pPr>
            <a:r>
              <a:rPr sz="1200" b="0">
                <a:solidFill>
                  <a:srgbClr val="3A3A3C"/>
                </a:solidFill>
                <a:latin typeface="Inter"/>
                <a:cs typeface="Inter"/>
                <a:ea typeface="Inter"/>
              </a:rPr>
              <a:t>Removed every QKeySequence from the Edit menu. keyPressEvent is the only owner of shortcuts.</a:t>
            </a:r>
          </a:p>
        </p:txBody>
      </p:sp>
      <p:sp>
        <p:nvSpPr>
          <p:cNvPr id="18" name="TextBox 17"/>
          <p:cNvSpPr txBox="1"/>
          <p:nvPr/>
        </p:nvSpPr>
        <p:spPr>
          <a:xfrm>
            <a:off x="8839504" y="2194560"/>
            <a:ext cx="1828800" cy="586740"/>
          </a:xfrm>
          <a:prstGeom prst="rect">
            <a:avLst/>
          </a:prstGeom>
          <a:noFill/>
        </p:spPr>
        <p:txBody>
          <a:bodyPr wrap="none" lIns="0" rIns="0" tIns="0" bIns="0" anchor="t">
            <a:noAutofit/>
          </a:bodyPr>
          <a:lstStyle/>
          <a:p>
            <a:pPr algn="l">
              <a:lnSpc>
                <a:spcPct val="150000"/>
              </a:lnSpc>
            </a:pPr>
            <a:r>
              <a:rPr sz="1300" b="0">
                <a:solidFill>
                  <a:srgbClr val="A1A1A6"/>
                </a:solidFill>
                <a:latin typeface="JetBrains Mono"/>
                <a:cs typeface="JetBrains Mono"/>
                <a:ea typeface="JetBrains Mono"/>
              </a:rPr>
              <a:t>stack overflow</a:t>
            </a:r>
          </a:p>
          <a:p>
            <a:pPr algn="l">
              <a:lnSpc>
                <a:spcPct val="150000"/>
              </a:lnSpc>
            </a:pPr>
            <a:r>
              <a:rPr sz="1300" b="1">
                <a:solidFill>
                  <a:srgbClr val="146B2C"/>
                </a:solidFill>
                <a:latin typeface="JetBrains Mono"/>
                <a:cs typeface="JetBrains Mono"/>
                <a:ea typeface="JetBrains Mono"/>
              </a:rPr>
              <a:t>→  0 crashes</a:t>
            </a:r>
          </a:p>
        </p:txBody>
      </p:sp>
      <p:sp>
        <p:nvSpPr>
          <p:cNvPr id="19" name="!!row_qt"/>
          <p:cNvSpPr txBox="1"/>
          <p:nvPr/>
        </p:nvSpPr>
        <p:spPr>
          <a:xfrm>
            <a:off x="609904" y="3200400"/>
            <a:ext cx="2377440" cy="914400"/>
          </a:xfrm>
          <a:prstGeom prst="rect">
            <a:avLst/>
          </a:prstGeom>
          <a:noFill/>
        </p:spPr>
        <p:txBody>
          <a:bodyPr wrap="square" lIns="0" rIns="0" tIns="0" bIns="0" anchor="t">
            <a:noAutofit/>
          </a:bodyPr>
          <a:lstStyle/>
          <a:p>
            <a:pPr algn="l">
              <a:lnSpc>
                <a:spcPct val="135000"/>
              </a:lnSpc>
            </a:pPr>
            <a:r>
              <a:rPr sz="1400" b="0">
                <a:solidFill>
                  <a:srgbClr val="1D1D1F"/>
                </a:solidFill>
                <a:latin typeface="Inter"/>
                <a:cs typeface="Inter"/>
                <a:ea typeface="Inter"/>
              </a:rPr>
              <a:t>Tab moved focus instead of indenting</a:t>
            </a:r>
          </a:p>
        </p:txBody>
      </p:sp>
      <p:sp>
        <p:nvSpPr>
          <p:cNvPr id="20" name="TextBox 19"/>
          <p:cNvSpPr txBox="1"/>
          <p:nvPr/>
        </p:nvSpPr>
        <p:spPr>
          <a:xfrm>
            <a:off x="3124504" y="3200400"/>
            <a:ext cx="2788920" cy="91440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Qt consumes Tab inside QWidget::event() for focus navigation, before keyPressEvent runs</a:t>
            </a:r>
          </a:p>
        </p:txBody>
      </p:sp>
      <p:sp>
        <p:nvSpPr>
          <p:cNvPr id="21" name="TextBox 20"/>
          <p:cNvSpPr txBox="1"/>
          <p:nvPr/>
        </p:nvSpPr>
        <p:spPr>
          <a:xfrm>
            <a:off x="6096304" y="3200400"/>
            <a:ext cx="2514600" cy="914400"/>
          </a:xfrm>
          <a:prstGeom prst="rect">
            <a:avLst/>
          </a:prstGeom>
          <a:noFill/>
        </p:spPr>
        <p:txBody>
          <a:bodyPr wrap="square" lIns="0" rIns="0" tIns="0" bIns="0" anchor="t">
            <a:noAutofit/>
          </a:bodyPr>
          <a:lstStyle/>
          <a:p>
            <a:pPr algn="l">
              <a:lnSpc>
                <a:spcPct val="135000"/>
              </a:lnSpc>
            </a:pPr>
            <a:r>
              <a:rPr sz="1200" b="0">
                <a:solidFill>
                  <a:srgbClr val="3A3A3C"/>
                </a:solidFill>
                <a:latin typeface="Inter"/>
                <a:cs typeface="Inter"/>
                <a:ea typeface="Inter"/>
              </a:rPr>
              <a:t>Override event(), intercept Tab and Backtab, forward, return true.</a:t>
            </a:r>
          </a:p>
        </p:txBody>
      </p:sp>
      <p:sp>
        <p:nvSpPr>
          <p:cNvPr id="22" name="TextBox 21"/>
          <p:cNvSpPr txBox="1"/>
          <p:nvPr/>
        </p:nvSpPr>
        <p:spPr>
          <a:xfrm>
            <a:off x="8839504" y="3200400"/>
            <a:ext cx="1828800" cy="586740"/>
          </a:xfrm>
          <a:prstGeom prst="rect">
            <a:avLst/>
          </a:prstGeom>
          <a:noFill/>
        </p:spPr>
        <p:txBody>
          <a:bodyPr wrap="none" lIns="0" rIns="0" tIns="0" bIns="0" anchor="t">
            <a:noAutofit/>
          </a:bodyPr>
          <a:lstStyle/>
          <a:p>
            <a:pPr algn="l">
              <a:lnSpc>
                <a:spcPct val="150000"/>
              </a:lnSpc>
            </a:pPr>
            <a:r>
              <a:rPr sz="1300" b="0">
                <a:solidFill>
                  <a:srgbClr val="A1A1A6"/>
                </a:solidFill>
                <a:latin typeface="JetBrains Mono"/>
                <a:cs typeface="JetBrains Mono"/>
                <a:ea typeface="JetBrains Mono"/>
              </a:rPr>
              <a:t>focus steal</a:t>
            </a:r>
          </a:p>
          <a:p>
            <a:pPr algn="l">
              <a:lnSpc>
                <a:spcPct val="150000"/>
              </a:lnSpc>
            </a:pPr>
            <a:r>
              <a:rPr sz="1300" b="1">
                <a:solidFill>
                  <a:srgbClr val="146B2C"/>
                </a:solidFill>
                <a:latin typeface="JetBrains Mono"/>
                <a:cs typeface="JetBrains Mono"/>
                <a:ea typeface="JetBrains Mono"/>
              </a:rPr>
              <a:t>→  Tab owned</a:t>
            </a:r>
          </a:p>
        </p:txBody>
      </p:sp>
      <p:sp>
        <p:nvSpPr>
          <p:cNvPr id="23" name="TextBox 22"/>
          <p:cNvSpPr txBox="1"/>
          <p:nvPr/>
        </p:nvSpPr>
        <p:spPr>
          <a:xfrm>
            <a:off x="609904" y="4206240"/>
            <a:ext cx="2377440" cy="914400"/>
          </a:xfrm>
          <a:prstGeom prst="rect">
            <a:avLst/>
          </a:prstGeom>
          <a:noFill/>
        </p:spPr>
        <p:txBody>
          <a:bodyPr wrap="square" lIns="0" rIns="0" tIns="0" bIns="0" anchor="t">
            <a:noAutofit/>
          </a:bodyPr>
          <a:lstStyle/>
          <a:p>
            <a:pPr algn="l">
              <a:lnSpc>
                <a:spcPct val="135000"/>
              </a:lnSpc>
            </a:pPr>
            <a:r>
              <a:rPr sz="1400" b="0">
                <a:solidFill>
                  <a:srgbClr val="1D1D1F"/>
                </a:solidFill>
                <a:latin typeface="Inter"/>
                <a:cs typeface="Inter"/>
                <a:ea typeface="Inter"/>
              </a:rPr>
              <a:t>Typing 'a' triggered Select All</a:t>
            </a:r>
          </a:p>
        </p:txBody>
      </p:sp>
      <p:sp>
        <p:nvSpPr>
          <p:cNvPr id="24" name="TextBox 23"/>
          <p:cNvSpPr txBox="1"/>
          <p:nvPr/>
        </p:nvSpPr>
        <p:spPr>
          <a:xfrm>
            <a:off x="3124504" y="4206240"/>
            <a:ext cx="2788920" cy="91440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One switch handled Ctrl+A and bare 'a'. Key_A matched first and swallowed the character</a:t>
            </a:r>
          </a:p>
        </p:txBody>
      </p:sp>
      <p:sp>
        <p:nvSpPr>
          <p:cNvPr id="25" name="TextBox 24"/>
          <p:cNvSpPr txBox="1"/>
          <p:nvPr/>
        </p:nvSpPr>
        <p:spPr>
          <a:xfrm>
            <a:off x="6096304" y="4206240"/>
            <a:ext cx="2514600" cy="914400"/>
          </a:xfrm>
          <a:prstGeom prst="rect">
            <a:avLst/>
          </a:prstGeom>
          <a:noFill/>
        </p:spPr>
        <p:txBody>
          <a:bodyPr wrap="square" lIns="0" rIns="0" tIns="0" bIns="0" anchor="t">
            <a:noAutofit/>
          </a:bodyPr>
          <a:lstStyle/>
          <a:p>
            <a:pPr algn="l">
              <a:lnSpc>
                <a:spcPct val="135000"/>
              </a:lnSpc>
            </a:pPr>
            <a:r>
              <a:rPr sz="1200" b="0">
                <a:solidFill>
                  <a:srgbClr val="3A3A3C"/>
                </a:solidFill>
                <a:latin typeface="Inter"/>
                <a:cs typeface="Inter"/>
                <a:ea typeface="Inter"/>
              </a:rPr>
              <a:t>Two switch blocks gated on ControlModifier — shortcuts and typing never share a case.</a:t>
            </a:r>
          </a:p>
        </p:txBody>
      </p:sp>
      <p:sp>
        <p:nvSpPr>
          <p:cNvPr id="26" name="TextBox 25"/>
          <p:cNvSpPr txBox="1"/>
          <p:nvPr/>
        </p:nvSpPr>
        <p:spPr>
          <a:xfrm>
            <a:off x="8839504" y="4206240"/>
            <a:ext cx="1828800" cy="586740"/>
          </a:xfrm>
          <a:prstGeom prst="rect">
            <a:avLst/>
          </a:prstGeom>
          <a:noFill/>
        </p:spPr>
        <p:txBody>
          <a:bodyPr wrap="none" lIns="0" rIns="0" tIns="0" bIns="0" anchor="t">
            <a:noAutofit/>
          </a:bodyPr>
          <a:lstStyle/>
          <a:p>
            <a:pPr algn="l">
              <a:lnSpc>
                <a:spcPct val="150000"/>
              </a:lnSpc>
            </a:pPr>
            <a:r>
              <a:rPr sz="1300" b="0">
                <a:solidFill>
                  <a:srgbClr val="A1A1A6"/>
                </a:solidFill>
                <a:latin typeface="JetBrains Mono"/>
                <a:cs typeface="JetBrains Mono"/>
                <a:ea typeface="JetBrains Mono"/>
              </a:rPr>
              <a:t>mis-dispatch</a:t>
            </a:r>
          </a:p>
          <a:p>
            <a:pPr algn="l">
              <a:lnSpc>
                <a:spcPct val="150000"/>
              </a:lnSpc>
            </a:pPr>
            <a:r>
              <a:rPr sz="1300" b="1">
                <a:solidFill>
                  <a:srgbClr val="146B2C"/>
                </a:solidFill>
                <a:latin typeface="JetBrains Mono"/>
                <a:cs typeface="JetBrains Mono"/>
                <a:ea typeface="JetBrains Mono"/>
              </a:rPr>
              <a:t>→  0</a:t>
            </a:r>
          </a:p>
        </p:txBody>
      </p:sp>
      <p:sp>
        <p:nvSpPr>
          <p:cNvPr id="27" name="Rectangle 26"/>
          <p:cNvSpPr/>
          <p:nvPr/>
        </p:nvSpPr>
        <p:spPr>
          <a:xfrm>
            <a:off x="609904" y="2075688"/>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09904" y="3081528"/>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09904" y="4087368"/>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09904" y="5093208"/>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09904" y="1892807"/>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symptom</a:t>
            </a:r>
          </a:p>
        </p:txBody>
      </p:sp>
      <p:sp>
        <p:nvSpPr>
          <p:cNvPr id="32" name="TextBox 31"/>
          <p:cNvSpPr txBox="1"/>
          <p:nvPr/>
        </p:nvSpPr>
        <p:spPr>
          <a:xfrm>
            <a:off x="3124504" y="1892807"/>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root cause</a:t>
            </a:r>
          </a:p>
        </p:txBody>
      </p:sp>
      <p:sp>
        <p:nvSpPr>
          <p:cNvPr id="33" name="TextBox 32"/>
          <p:cNvSpPr txBox="1"/>
          <p:nvPr/>
        </p:nvSpPr>
        <p:spPr>
          <a:xfrm>
            <a:off x="6096304" y="1892807"/>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fix</a:t>
            </a:r>
          </a:p>
        </p:txBody>
      </p:sp>
      <p:sp>
        <p:nvSpPr>
          <p:cNvPr id="34" name="TextBox 33"/>
          <p:cNvSpPr txBox="1"/>
          <p:nvPr/>
        </p:nvSpPr>
        <p:spPr>
          <a:xfrm>
            <a:off x="8839504" y="1892807"/>
            <a:ext cx="13716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outcome</a:t>
            </a:r>
          </a:p>
        </p:txBody>
      </p:sp>
      <p:sp>
        <p:nvSpPr>
          <p:cNvPr id="35" name="TextBox 34"/>
          <p:cNvSpPr txBox="1"/>
          <p:nvPr/>
        </p:nvSpPr>
        <p:spPr>
          <a:xfrm>
            <a:off x="609904" y="5248656"/>
            <a:ext cx="8778240" cy="297180"/>
          </a:xfrm>
          <a:prstGeom prst="rect">
            <a:avLst/>
          </a:prstGeom>
          <a:noFill/>
        </p:spPr>
        <p:txBody>
          <a:bodyPr wrap="none" lIns="0" rIns="0" tIns="0" bIns="0" anchor="t">
            <a:noAutofit/>
          </a:bodyPr>
          <a:lstStyle/>
          <a:p>
            <a:pPr algn="l">
              <a:lnSpc>
                <a:spcPct val="135000"/>
              </a:lnSpc>
            </a:pPr>
            <a:r>
              <a:rPr sz="1200" b="0">
                <a:solidFill>
                  <a:srgbClr val="6E6E73"/>
                </a:solidFill>
                <a:latin typeface="JetBrains Mono"/>
                <a:cs typeface="JetBrains Mono"/>
                <a:ea typeface="JetBrains Mono"/>
              </a:rPr>
              <a:t>open debt   ·   const_cast in handleDelete   ·   rebuildCommentState is O(N) per keystroke   ·   no test suite</a:t>
            </a:r>
          </a:p>
        </p:txBody>
      </p:sp>
      <p:sp>
        <p:nvSpPr>
          <p:cNvPr id="36" name="TextBox 35"/>
          <p:cNvSpPr txBox="1"/>
          <p:nvPr/>
        </p:nvSpPr>
        <p:spPr>
          <a:xfrm>
            <a:off x="609904" y="589788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every one of these was a Qt event-pipeline problem, not a C++ problem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00">
        <p159:morph option="byObject"/>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/docs/benchmarks.md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12 / 17      0 errors</a:t>
            </a:r>
          </a:p>
        </p:txBody>
      </p:sp>
      <p:sp>
        <p:nvSpPr>
          <p:cNvPr id="8" name="TextBox 7"/>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Where the Seven Milliseconds Go</a:t>
            </a:r>
          </a:p>
        </p:txBody>
      </p:sp>
      <p:sp>
        <p:nvSpPr>
          <p:cNvPr id="9" name="TextBox 8"/>
          <p:cNvSpPr txBox="1"/>
          <p:nvPr/>
        </p:nvSpPr>
        <p:spPr>
          <a:xfrm>
            <a:off x="609904" y="1792224"/>
            <a:ext cx="64008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input → pixel, critical path      —      1 in = 1.5 ms</a:t>
            </a:r>
          </a:p>
        </p:txBody>
      </p:sp>
      <p:sp>
        <p:nvSpPr>
          <p:cNvPr id="10" name="Rectangle 9"/>
          <p:cNvSpPr/>
          <p:nvPr/>
        </p:nvSpPr>
        <p:spPr>
          <a:xfrm>
            <a:off x="609904" y="2194560"/>
            <a:ext cx="128689" cy="292608"/>
          </a:xfrm>
          <a:prstGeom prst="rect">
            <a:avLst/>
          </a:prstGeom>
          <a:solidFill>
            <a:srgbClr val="6E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38594" y="2194560"/>
            <a:ext cx="3049524" cy="292608"/>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788118" y="2194560"/>
            <a:ext cx="609904" cy="292608"/>
          </a:xfrm>
          <a:prstGeom prst="rect">
            <a:avLst/>
          </a:prstGeom>
          <a:solidFill>
            <a:srgbClr val="A1A1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98023" y="2194560"/>
            <a:ext cx="6336300" cy="292608"/>
          </a:xfrm>
          <a:prstGeom prst="rect">
            <a:avLst/>
          </a:prstGeom>
          <a:noFill/>
          <a:ln w="6858">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0734324" y="2048255"/>
            <a:ext cx="12801" cy="585216"/>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76724" y="2688336"/>
            <a:ext cx="3657600" cy="297180"/>
          </a:xfrm>
          <a:prstGeom prst="rect">
            <a:avLst/>
          </a:prstGeom>
          <a:noFill/>
        </p:spPr>
        <p:txBody>
          <a:bodyPr wrap="none" lIns="0" rIns="0" tIns="0" bIns="0" anchor="t">
            <a:noAutofit/>
          </a:bodyPr>
          <a:lstStyle/>
          <a:p>
            <a:pPr algn="r">
              <a:lnSpc>
                <a:spcPct val="135000"/>
              </a:lnSpc>
            </a:pPr>
            <a:r>
              <a:rPr sz="1200" b="0">
                <a:solidFill>
                  <a:srgbClr val="1D1D1F"/>
                </a:solidFill>
                <a:latin typeface="JetBrains Mono"/>
                <a:cs typeface="JetBrains Mono"/>
                <a:ea typeface="JetBrains Mono"/>
              </a:rPr>
              <a:t>16.6 ms  —  60 fps frame budget</a:t>
            </a:r>
          </a:p>
        </p:txBody>
      </p:sp>
      <p:sp>
        <p:nvSpPr>
          <p:cNvPr id="16" name="TextBox 15"/>
          <p:cNvSpPr txBox="1"/>
          <p:nvPr/>
        </p:nvSpPr>
        <p:spPr>
          <a:xfrm>
            <a:off x="609904" y="2688336"/>
            <a:ext cx="4572000" cy="297180"/>
          </a:xfrm>
          <a:prstGeom prst="rect">
            <a:avLst/>
          </a:prstGeom>
          <a:noFill/>
        </p:spPr>
        <p:txBody>
          <a:bodyPr wrap="none" lIns="0" rIns="0" tIns="0" bIns="0" anchor="t">
            <a:noAutofit/>
          </a:bodyPr>
          <a:lstStyle/>
          <a:p>
            <a:pPr algn="l">
              <a:lnSpc>
                <a:spcPct val="135000"/>
              </a:lnSpc>
            </a:pPr>
            <a:r>
              <a:rPr sz="1200" b="0">
                <a:solidFill>
                  <a:srgbClr val="6E6E73"/>
                </a:solidFill>
                <a:latin typeface="JetBrains Mono"/>
                <a:cs typeface="JetBrains Mono"/>
                <a:ea typeface="JetBrains Mono"/>
              </a:rPr>
              <a:t>6.21 ms measured  ·  10.4 ms headroom</a:t>
            </a:r>
          </a:p>
        </p:txBody>
      </p:sp>
      <p:sp>
        <p:nvSpPr>
          <p:cNvPr id="17" name="TextBox 16"/>
          <p:cNvSpPr txBox="1"/>
          <p:nvPr/>
        </p:nvSpPr>
        <p:spPr>
          <a:xfrm>
            <a:off x="609904" y="3154680"/>
            <a:ext cx="32918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Qt event dispatch</a:t>
            </a:r>
          </a:p>
        </p:txBody>
      </p:sp>
      <p:sp>
        <p:nvSpPr>
          <p:cNvPr id="18" name="TextBox 17"/>
          <p:cNvSpPr txBox="1"/>
          <p:nvPr/>
        </p:nvSpPr>
        <p:spPr>
          <a:xfrm>
            <a:off x="2895904" y="3154680"/>
            <a:ext cx="1371600" cy="314325"/>
          </a:xfrm>
          <a:prstGeom prst="rect">
            <a:avLst/>
          </a:prstGeom>
          <a:noFill/>
        </p:spPr>
        <p:txBody>
          <a:bodyPr wrap="none" lIns="0" rIns="0" tIns="0" bIns="0" anchor="t">
            <a:noAutofit/>
          </a:bodyPr>
          <a:lstStyle/>
          <a:p>
            <a:pPr algn="r">
              <a:lnSpc>
                <a:spcPct val="135000"/>
              </a:lnSpc>
            </a:pPr>
            <a:r>
              <a:rPr sz="1300" b="0">
                <a:solidFill>
                  <a:srgbClr val="6E6E73"/>
                </a:solidFill>
                <a:latin typeface="JetBrains Mono"/>
                <a:cs typeface="JetBrains Mono"/>
                <a:ea typeface="JetBrains Mono"/>
              </a:rPr>
              <a:t>0.100 ms</a:t>
            </a:r>
          </a:p>
        </p:txBody>
      </p:sp>
      <p:sp>
        <p:nvSpPr>
          <p:cNvPr id="19" name="TextBox 18"/>
          <p:cNvSpPr txBox="1"/>
          <p:nvPr/>
        </p:nvSpPr>
        <p:spPr>
          <a:xfrm>
            <a:off x="609904" y="3447288"/>
            <a:ext cx="32918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keyPressEvent + buffer</a:t>
            </a:r>
          </a:p>
        </p:txBody>
      </p:sp>
      <p:sp>
        <p:nvSpPr>
          <p:cNvPr id="20" name="TextBox 19"/>
          <p:cNvSpPr txBox="1"/>
          <p:nvPr/>
        </p:nvSpPr>
        <p:spPr>
          <a:xfrm>
            <a:off x="2895904" y="3447288"/>
            <a:ext cx="1371600" cy="314325"/>
          </a:xfrm>
          <a:prstGeom prst="rect">
            <a:avLst/>
          </a:prstGeom>
          <a:noFill/>
        </p:spPr>
        <p:txBody>
          <a:bodyPr wrap="none" lIns="0" rIns="0" tIns="0" bIns="0" anchor="t">
            <a:noAutofit/>
          </a:bodyPr>
          <a:lstStyle/>
          <a:p>
            <a:pPr algn="r">
              <a:lnSpc>
                <a:spcPct val="135000"/>
              </a:lnSpc>
            </a:pPr>
            <a:r>
              <a:rPr sz="1300" b="0">
                <a:solidFill>
                  <a:srgbClr val="6E6E73"/>
                </a:solidFill>
                <a:latin typeface="JetBrains Mono"/>
                <a:cs typeface="JetBrains Mono"/>
                <a:ea typeface="JetBrains Mono"/>
              </a:rPr>
              <a:t>0.010 ms</a:t>
            </a:r>
          </a:p>
        </p:txBody>
      </p:sp>
      <p:sp>
        <p:nvSpPr>
          <p:cNvPr id="21" name="TextBox 20"/>
          <p:cNvSpPr txBox="1"/>
          <p:nvPr/>
        </p:nvSpPr>
        <p:spPr>
          <a:xfrm>
            <a:off x="609904" y="3739896"/>
            <a:ext cx="32918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undo record</a:t>
            </a:r>
          </a:p>
        </p:txBody>
      </p:sp>
      <p:sp>
        <p:nvSpPr>
          <p:cNvPr id="22" name="TextBox 21"/>
          <p:cNvSpPr txBox="1"/>
          <p:nvPr/>
        </p:nvSpPr>
        <p:spPr>
          <a:xfrm>
            <a:off x="2895904" y="3739896"/>
            <a:ext cx="1371600" cy="314325"/>
          </a:xfrm>
          <a:prstGeom prst="rect">
            <a:avLst/>
          </a:prstGeom>
          <a:noFill/>
        </p:spPr>
        <p:txBody>
          <a:bodyPr wrap="none" lIns="0" rIns="0" tIns="0" bIns="0" anchor="t">
            <a:noAutofit/>
          </a:bodyPr>
          <a:lstStyle/>
          <a:p>
            <a:pPr algn="r">
              <a:lnSpc>
                <a:spcPct val="135000"/>
              </a:lnSpc>
            </a:pPr>
            <a:r>
              <a:rPr sz="1300" b="0">
                <a:solidFill>
                  <a:srgbClr val="6E6E73"/>
                </a:solidFill>
                <a:latin typeface="JetBrains Mono"/>
                <a:cs typeface="JetBrains Mono"/>
                <a:ea typeface="JetBrains Mono"/>
              </a:rPr>
              <a:t>0.001 ms</a:t>
            </a:r>
          </a:p>
        </p:txBody>
      </p:sp>
      <p:sp>
        <p:nvSpPr>
          <p:cNvPr id="23" name="TextBox 22"/>
          <p:cNvSpPr txBox="1"/>
          <p:nvPr/>
        </p:nvSpPr>
        <p:spPr>
          <a:xfrm>
            <a:off x="609904" y="4032504"/>
            <a:ext cx="32918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rebuildCommentState</a:t>
            </a:r>
          </a:p>
        </p:txBody>
      </p:sp>
      <p:sp>
        <p:nvSpPr>
          <p:cNvPr id="24" name="TextBox 23"/>
          <p:cNvSpPr txBox="1"/>
          <p:nvPr/>
        </p:nvSpPr>
        <p:spPr>
          <a:xfrm>
            <a:off x="2895904" y="4032504"/>
            <a:ext cx="1371600" cy="314325"/>
          </a:xfrm>
          <a:prstGeom prst="rect">
            <a:avLst/>
          </a:prstGeom>
          <a:noFill/>
        </p:spPr>
        <p:txBody>
          <a:bodyPr wrap="none" lIns="0" rIns="0" tIns="0" bIns="0" anchor="t">
            <a:noAutofit/>
          </a:bodyPr>
          <a:lstStyle/>
          <a:p>
            <a:pPr algn="r">
              <a:lnSpc>
                <a:spcPct val="135000"/>
              </a:lnSpc>
            </a:pPr>
            <a:r>
              <a:rPr sz="1300" b="0">
                <a:solidFill>
                  <a:srgbClr val="6E6E73"/>
                </a:solidFill>
                <a:latin typeface="JetBrains Mono"/>
                <a:cs typeface="JetBrains Mono"/>
                <a:ea typeface="JetBrains Mono"/>
              </a:rPr>
              <a:t>0.100 ms</a:t>
            </a:r>
          </a:p>
        </p:txBody>
      </p:sp>
      <p:sp>
        <p:nvSpPr>
          <p:cNvPr id="25" name="TextBox 24"/>
          <p:cNvSpPr txBox="1"/>
          <p:nvPr/>
        </p:nvSpPr>
        <p:spPr>
          <a:xfrm>
            <a:off x="609904" y="4325112"/>
            <a:ext cx="32918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paintEvent  (~50 lines)</a:t>
            </a:r>
          </a:p>
        </p:txBody>
      </p:sp>
      <p:sp>
        <p:nvSpPr>
          <p:cNvPr id="26" name="TextBox 25"/>
          <p:cNvSpPr txBox="1"/>
          <p:nvPr/>
        </p:nvSpPr>
        <p:spPr>
          <a:xfrm>
            <a:off x="2895904" y="4325112"/>
            <a:ext cx="1371600" cy="314325"/>
          </a:xfrm>
          <a:prstGeom prst="rect">
            <a:avLst/>
          </a:prstGeom>
          <a:noFill/>
        </p:spPr>
        <p:txBody>
          <a:bodyPr wrap="none" lIns="0" rIns="0" tIns="0" bIns="0" anchor="t">
            <a:noAutofit/>
          </a:bodyPr>
          <a:lstStyle/>
          <a:p>
            <a:pPr algn="r">
              <a:lnSpc>
                <a:spcPct val="135000"/>
              </a:lnSpc>
            </a:pPr>
            <a:r>
              <a:rPr sz="1300" b="1">
                <a:solidFill>
                  <a:srgbClr val="1D1D1F"/>
                </a:solidFill>
                <a:latin typeface="JetBrains Mono"/>
                <a:cs typeface="JetBrains Mono"/>
                <a:ea typeface="JetBrains Mono"/>
              </a:rPr>
              <a:t>5.000 ms</a:t>
            </a:r>
          </a:p>
        </p:txBody>
      </p:sp>
      <p:sp>
        <p:nvSpPr>
          <p:cNvPr id="27" name="TextBox 26"/>
          <p:cNvSpPr txBox="1"/>
          <p:nvPr/>
        </p:nvSpPr>
        <p:spPr>
          <a:xfrm>
            <a:off x="609904" y="4617720"/>
            <a:ext cx="32918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GPU compositing</a:t>
            </a:r>
          </a:p>
        </p:txBody>
      </p:sp>
      <p:sp>
        <p:nvSpPr>
          <p:cNvPr id="28" name="TextBox 27"/>
          <p:cNvSpPr txBox="1"/>
          <p:nvPr/>
        </p:nvSpPr>
        <p:spPr>
          <a:xfrm>
            <a:off x="2895904" y="4617720"/>
            <a:ext cx="1371600" cy="314325"/>
          </a:xfrm>
          <a:prstGeom prst="rect">
            <a:avLst/>
          </a:prstGeom>
          <a:noFill/>
        </p:spPr>
        <p:txBody>
          <a:bodyPr wrap="none" lIns="0" rIns="0" tIns="0" bIns="0" anchor="t">
            <a:noAutofit/>
          </a:bodyPr>
          <a:lstStyle/>
          <a:p>
            <a:pPr algn="r">
              <a:lnSpc>
                <a:spcPct val="135000"/>
              </a:lnSpc>
            </a:pPr>
            <a:r>
              <a:rPr sz="1300" b="0">
                <a:solidFill>
                  <a:srgbClr val="6E6E73"/>
                </a:solidFill>
                <a:latin typeface="JetBrains Mono"/>
                <a:cs typeface="JetBrains Mono"/>
                <a:ea typeface="JetBrains Mono"/>
              </a:rPr>
              <a:t>1.000 ms</a:t>
            </a:r>
          </a:p>
        </p:txBody>
      </p:sp>
      <p:sp>
        <p:nvSpPr>
          <p:cNvPr id="29" name="Rectangle 28"/>
          <p:cNvSpPr/>
          <p:nvPr/>
        </p:nvSpPr>
        <p:spPr>
          <a:xfrm>
            <a:off x="609904" y="4928616"/>
            <a:ext cx="36576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9904" y="5056632"/>
            <a:ext cx="1828800" cy="314325"/>
          </a:xfrm>
          <a:prstGeom prst="rect">
            <a:avLst/>
          </a:prstGeom>
          <a:noFill/>
        </p:spPr>
        <p:txBody>
          <a:bodyPr wrap="none" lIns="0" rIns="0" tIns="0" bIns="0" anchor="t">
            <a:noAutofit/>
          </a:bodyPr>
          <a:lstStyle/>
          <a:p>
            <a:pPr algn="l">
              <a:lnSpc>
                <a:spcPct val="135000"/>
              </a:lnSpc>
            </a:pPr>
            <a:r>
              <a:rPr sz="1300" b="1">
                <a:solidFill>
                  <a:srgbClr val="1D1D1F"/>
                </a:solidFill>
                <a:latin typeface="JetBrains Mono"/>
                <a:cs typeface="JetBrains Mono"/>
                <a:ea typeface="JetBrains Mono"/>
              </a:rPr>
              <a:t>total</a:t>
            </a:r>
          </a:p>
        </p:txBody>
      </p:sp>
      <p:sp>
        <p:nvSpPr>
          <p:cNvPr id="31" name="TextBox 30"/>
          <p:cNvSpPr txBox="1"/>
          <p:nvPr/>
        </p:nvSpPr>
        <p:spPr>
          <a:xfrm>
            <a:off x="2895904" y="5056632"/>
            <a:ext cx="1371600" cy="314325"/>
          </a:xfrm>
          <a:prstGeom prst="rect">
            <a:avLst/>
          </a:prstGeom>
          <a:noFill/>
        </p:spPr>
        <p:txBody>
          <a:bodyPr wrap="none" lIns="0" rIns="0" tIns="0" bIns="0" anchor="t">
            <a:noAutofit/>
          </a:bodyPr>
          <a:lstStyle/>
          <a:p>
            <a:pPr algn="r">
              <a:lnSpc>
                <a:spcPct val="135000"/>
              </a:lnSpc>
            </a:pPr>
            <a:r>
              <a:rPr sz="1300" b="1">
                <a:solidFill>
                  <a:srgbClr val="1D1D1F"/>
                </a:solidFill>
                <a:latin typeface="JetBrains Mono"/>
                <a:cs typeface="JetBrains Mono"/>
                <a:ea typeface="JetBrains Mono"/>
              </a:rPr>
              <a:t>6.211 ms</a:t>
            </a:r>
          </a:p>
        </p:txBody>
      </p:sp>
      <p:sp>
        <p:nvSpPr>
          <p:cNvPr id="32" name="!!m_mem"/>
          <p:cNvSpPr txBox="1"/>
          <p:nvPr/>
        </p:nvSpPr>
        <p:spPr>
          <a:xfrm>
            <a:off x="5090464" y="3108960"/>
            <a:ext cx="2148840" cy="685800"/>
          </a:xfrm>
          <a:prstGeom prst="rect">
            <a:avLst/>
          </a:prstGeom>
          <a:noFill/>
        </p:spPr>
        <p:txBody>
          <a:bodyPr wrap="none" lIns="0" rIns="0" tIns="0" bIns="0" anchor="t">
            <a:noAutofit/>
          </a:bodyPr>
          <a:lstStyle/>
          <a:p>
            <a:pPr algn="r">
              <a:lnSpc>
                <a:spcPct val="100000"/>
              </a:lnSpc>
            </a:pPr>
            <a:r>
              <a:rPr sz="4400" b="1">
                <a:solidFill>
                  <a:srgbClr val="1D1D1F"/>
                </a:solidFill>
                <a:latin typeface="JetBrains Mono"/>
                <a:cs typeface="JetBrains Mono"/>
                <a:ea typeface="JetBrains Mono"/>
              </a:rPr>
              <a:t>15–25</a:t>
            </a:r>
          </a:p>
        </p:txBody>
      </p:sp>
      <p:sp>
        <p:nvSpPr>
          <p:cNvPr id="33" name="TextBox 32"/>
          <p:cNvSpPr txBox="1"/>
          <p:nvPr/>
        </p:nvSpPr>
        <p:spPr>
          <a:xfrm>
            <a:off x="7330744" y="3323844"/>
            <a:ext cx="822960" cy="365760"/>
          </a:xfrm>
          <a:prstGeom prst="rect">
            <a:avLst/>
          </a:prstGeom>
          <a:noFill/>
        </p:spPr>
        <p:txBody>
          <a:bodyPr wrap="none" lIns="0" rIns="0" tIns="0" bIns="0" anchor="t">
            <a:noAutofit/>
          </a:bodyPr>
          <a:lstStyle/>
          <a:p>
            <a:pPr algn="l">
              <a:lnSpc>
                <a:spcPct val="100000"/>
              </a:lnSpc>
            </a:pPr>
            <a:r>
              <a:rPr sz="2000" b="0">
                <a:solidFill>
                  <a:srgbClr val="6E6E73"/>
                </a:solidFill>
                <a:latin typeface="JetBrains Mono"/>
                <a:cs typeface="JetBrains Mono"/>
                <a:ea typeface="JetBrains Mono"/>
              </a:rPr>
              <a:t>MB</a:t>
            </a:r>
          </a:p>
        </p:txBody>
      </p:sp>
      <p:sp>
        <p:nvSpPr>
          <p:cNvPr id="34" name="TextBox 33"/>
          <p:cNvSpPr txBox="1"/>
          <p:nvPr/>
        </p:nvSpPr>
        <p:spPr>
          <a:xfrm>
            <a:off x="8245144" y="3332988"/>
            <a:ext cx="3383280" cy="347472"/>
          </a:xfrm>
          <a:prstGeom prst="rect">
            <a:avLst/>
          </a:prstGeom>
          <a:noFill/>
        </p:spPr>
        <p:txBody>
          <a:bodyPr wrap="none" lIns="0" rIns="0" tIns="0" bIns="0" anchor="t">
            <a:noAutofit/>
          </a:bodyPr>
          <a:lstStyle/>
          <a:p>
            <a:pPr algn="l">
              <a:lnSpc>
                <a:spcPct val="100000"/>
              </a:lnSpc>
            </a:pPr>
            <a:r>
              <a:rPr sz="1700" b="0">
                <a:solidFill>
                  <a:srgbClr val="6E6E73"/>
                </a:solidFill>
                <a:latin typeface="Inter"/>
                <a:cs typeface="Inter"/>
                <a:ea typeface="Inter"/>
              </a:rPr>
              <a:t>resident, idle</a:t>
            </a:r>
          </a:p>
        </p:txBody>
      </p:sp>
      <p:sp>
        <p:nvSpPr>
          <p:cNvPr id="35" name="!!m_boot"/>
          <p:cNvSpPr txBox="1"/>
          <p:nvPr/>
        </p:nvSpPr>
        <p:spPr>
          <a:xfrm>
            <a:off x="5090464" y="3886200"/>
            <a:ext cx="2148840" cy="685800"/>
          </a:xfrm>
          <a:prstGeom prst="rect">
            <a:avLst/>
          </a:prstGeom>
          <a:noFill/>
        </p:spPr>
        <p:txBody>
          <a:bodyPr wrap="none" lIns="0" rIns="0" tIns="0" bIns="0" anchor="t">
            <a:noAutofit/>
          </a:bodyPr>
          <a:lstStyle/>
          <a:p>
            <a:pPr algn="r">
              <a:lnSpc>
                <a:spcPct val="100000"/>
              </a:lnSpc>
            </a:pPr>
            <a:r>
              <a:rPr sz="4400" b="1">
                <a:solidFill>
                  <a:srgbClr val="1D1D1F"/>
                </a:solidFill>
                <a:latin typeface="JetBrains Mono"/>
                <a:cs typeface="JetBrains Mono"/>
                <a:ea typeface="JetBrains Mono"/>
              </a:rPr>
              <a:t>&lt; 100</a:t>
            </a:r>
          </a:p>
        </p:txBody>
      </p:sp>
      <p:sp>
        <p:nvSpPr>
          <p:cNvPr id="36" name="TextBox 35"/>
          <p:cNvSpPr txBox="1"/>
          <p:nvPr/>
        </p:nvSpPr>
        <p:spPr>
          <a:xfrm>
            <a:off x="7330744" y="4101084"/>
            <a:ext cx="822960" cy="365760"/>
          </a:xfrm>
          <a:prstGeom prst="rect">
            <a:avLst/>
          </a:prstGeom>
          <a:noFill/>
        </p:spPr>
        <p:txBody>
          <a:bodyPr wrap="none" lIns="0" rIns="0" tIns="0" bIns="0" anchor="t">
            <a:noAutofit/>
          </a:bodyPr>
          <a:lstStyle/>
          <a:p>
            <a:pPr algn="l">
              <a:lnSpc>
                <a:spcPct val="100000"/>
              </a:lnSpc>
            </a:pPr>
            <a:r>
              <a:rPr sz="2000" b="0">
                <a:solidFill>
                  <a:srgbClr val="6E6E73"/>
                </a:solidFill>
                <a:latin typeface="JetBrains Mono"/>
                <a:cs typeface="JetBrains Mono"/>
                <a:ea typeface="JetBrains Mono"/>
              </a:rPr>
              <a:t>ms</a:t>
            </a:r>
          </a:p>
        </p:txBody>
      </p:sp>
      <p:sp>
        <p:nvSpPr>
          <p:cNvPr id="37" name="TextBox 36"/>
          <p:cNvSpPr txBox="1"/>
          <p:nvPr/>
        </p:nvSpPr>
        <p:spPr>
          <a:xfrm>
            <a:off x="8245144" y="4110228"/>
            <a:ext cx="3383280" cy="347472"/>
          </a:xfrm>
          <a:prstGeom prst="rect">
            <a:avLst/>
          </a:prstGeom>
          <a:noFill/>
        </p:spPr>
        <p:txBody>
          <a:bodyPr wrap="none" lIns="0" rIns="0" tIns="0" bIns="0" anchor="t">
            <a:noAutofit/>
          </a:bodyPr>
          <a:lstStyle/>
          <a:p>
            <a:pPr algn="l">
              <a:lnSpc>
                <a:spcPct val="100000"/>
              </a:lnSpc>
            </a:pPr>
            <a:r>
              <a:rPr sz="1700" b="0">
                <a:solidFill>
                  <a:srgbClr val="6E6E73"/>
                </a:solidFill>
                <a:latin typeface="Inter"/>
                <a:cs typeface="Inter"/>
                <a:ea typeface="Inter"/>
              </a:rPr>
              <a:t>cold start</a:t>
            </a:r>
          </a:p>
        </p:txBody>
      </p:sp>
      <p:sp>
        <p:nvSpPr>
          <p:cNvPr id="38" name="!!m_input"/>
          <p:cNvSpPr txBox="1"/>
          <p:nvPr/>
        </p:nvSpPr>
        <p:spPr>
          <a:xfrm>
            <a:off x="5090464" y="4663440"/>
            <a:ext cx="2148840" cy="685800"/>
          </a:xfrm>
          <a:prstGeom prst="rect">
            <a:avLst/>
          </a:prstGeom>
          <a:noFill/>
        </p:spPr>
        <p:txBody>
          <a:bodyPr wrap="none" lIns="0" rIns="0" tIns="0" bIns="0" anchor="t">
            <a:noAutofit/>
          </a:bodyPr>
          <a:lstStyle/>
          <a:p>
            <a:pPr algn="r">
              <a:lnSpc>
                <a:spcPct val="100000"/>
              </a:lnSpc>
            </a:pPr>
            <a:r>
              <a:rPr sz="4400" b="1">
                <a:solidFill>
                  <a:srgbClr val="1D1D1F"/>
                </a:solidFill>
                <a:latin typeface="JetBrains Mono"/>
                <a:cs typeface="JetBrains Mono"/>
                <a:ea typeface="JetBrains Mono"/>
              </a:rPr>
              <a:t>&lt; 7</a:t>
            </a:r>
          </a:p>
        </p:txBody>
      </p:sp>
      <p:sp>
        <p:nvSpPr>
          <p:cNvPr id="39" name="TextBox 38"/>
          <p:cNvSpPr txBox="1"/>
          <p:nvPr/>
        </p:nvSpPr>
        <p:spPr>
          <a:xfrm>
            <a:off x="7330744" y="4878324"/>
            <a:ext cx="822960" cy="365760"/>
          </a:xfrm>
          <a:prstGeom prst="rect">
            <a:avLst/>
          </a:prstGeom>
          <a:noFill/>
        </p:spPr>
        <p:txBody>
          <a:bodyPr wrap="none" lIns="0" rIns="0" tIns="0" bIns="0" anchor="t">
            <a:noAutofit/>
          </a:bodyPr>
          <a:lstStyle/>
          <a:p>
            <a:pPr algn="l">
              <a:lnSpc>
                <a:spcPct val="100000"/>
              </a:lnSpc>
            </a:pPr>
            <a:r>
              <a:rPr sz="2000" b="0">
                <a:solidFill>
                  <a:srgbClr val="6E6E73"/>
                </a:solidFill>
                <a:latin typeface="JetBrains Mono"/>
                <a:cs typeface="JetBrains Mono"/>
                <a:ea typeface="JetBrains Mono"/>
              </a:rPr>
              <a:t>ms</a:t>
            </a:r>
          </a:p>
        </p:txBody>
      </p:sp>
      <p:sp>
        <p:nvSpPr>
          <p:cNvPr id="40" name="TextBox 39"/>
          <p:cNvSpPr txBox="1"/>
          <p:nvPr/>
        </p:nvSpPr>
        <p:spPr>
          <a:xfrm>
            <a:off x="8245144" y="4887468"/>
            <a:ext cx="3383280" cy="347472"/>
          </a:xfrm>
          <a:prstGeom prst="rect">
            <a:avLst/>
          </a:prstGeom>
          <a:noFill/>
        </p:spPr>
        <p:txBody>
          <a:bodyPr wrap="none" lIns="0" rIns="0" tIns="0" bIns="0" anchor="t">
            <a:noAutofit/>
          </a:bodyPr>
          <a:lstStyle/>
          <a:p>
            <a:pPr algn="l">
              <a:lnSpc>
                <a:spcPct val="100000"/>
              </a:lnSpc>
            </a:pPr>
            <a:r>
              <a:rPr sz="1700" b="0">
                <a:solidFill>
                  <a:srgbClr val="6E6E73"/>
                </a:solidFill>
                <a:latin typeface="Inter"/>
                <a:cs typeface="Inter"/>
                <a:ea typeface="Inter"/>
              </a:rPr>
              <a:t>input to pixel</a:t>
            </a:r>
          </a:p>
        </p:txBody>
      </p:sp>
      <p:sp>
        <p:nvSpPr>
          <p:cNvPr id="41" name="Rectangle 40"/>
          <p:cNvSpPr/>
          <p:nvPr/>
        </p:nvSpPr>
        <p:spPr>
          <a:xfrm>
            <a:off x="609904" y="5559552"/>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09904" y="5669280"/>
            <a:ext cx="1097280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O1  ≤ 50 MB → 15–25 MB  </a:t>
            </a:r>
            <a:r>
              <a:rPr sz="1300" b="1">
                <a:solidFill>
                  <a:srgbClr val="146B2C"/>
                </a:solidFill>
                <a:latin typeface="JetBrains Mono"/>
                <a:cs typeface="JetBrains Mono"/>
                <a:ea typeface="JetBrains Mono"/>
              </a:rPr>
              <a:t>pass</a:t>
            </a:r>
            <a:r>
              <a:rPr sz="1300" b="0">
                <a:solidFill>
                  <a:srgbClr val="1D1D1F"/>
                </a:solidFill>
                <a:latin typeface="JetBrains Mono"/>
                <a:cs typeface="JetBrains Mono"/>
                <a:ea typeface="JetBrains Mono"/>
              </a:rPr>
              <a:t>        O2  ≤ 100 ms → &lt; 100 ms  </a:t>
            </a:r>
            <a:r>
              <a:rPr sz="1300" b="1">
                <a:solidFill>
                  <a:srgbClr val="146B2C"/>
                </a:solidFill>
                <a:latin typeface="JetBrains Mono"/>
                <a:cs typeface="JetBrains Mono"/>
                <a:ea typeface="JetBrains Mono"/>
              </a:rPr>
              <a:t>pass</a:t>
            </a:r>
            <a:r>
              <a:rPr sz="1300" b="0">
                <a:solidFill>
                  <a:srgbClr val="1D1D1F"/>
                </a:solidFill>
                <a:latin typeface="JetBrains Mono"/>
                <a:cs typeface="JetBrains Mono"/>
                <a:ea typeface="JetBrains Mono"/>
              </a:rPr>
              <a:t>        O3  ≤ 16.6 ms → 6.2 ms  </a:t>
            </a:r>
            <a:r>
              <a:rPr sz="1300" b="1">
                <a:solidFill>
                  <a:srgbClr val="146B2C"/>
                </a:solidFill>
                <a:latin typeface="JetBrains Mono"/>
                <a:cs typeface="JetBrains Mono"/>
                <a:ea typeface="JetBrains Mono"/>
              </a:rPr>
              <a:t>pass</a:t>
            </a:r>
            <a:r>
              <a:rPr sz="1300" b="0">
                <a:solidFill>
                  <a:srgbClr val="1D1D1F"/>
                </a:solidFill>
                <a:latin typeface="JetBrains Mono"/>
                <a:cs typeface="JetBrains Mono"/>
                <a:ea typeface="JetBrains Mono"/>
              </a:rPr>
              <a:t>        O4  O(V) → O(V)  </a:t>
            </a:r>
            <a:r>
              <a:rPr sz="1300" b="1">
                <a:solidFill>
                  <a:srgbClr val="146B2C"/>
                </a:solidFill>
                <a:latin typeface="JetBrains Mono"/>
                <a:cs typeface="JetBrains Mono"/>
                <a:ea typeface="JetBrains Mono"/>
              </a:rPr>
              <a:t>pass</a:t>
            </a:r>
          </a:p>
        </p:txBody>
      </p:sp>
      <p:sp>
        <p:nvSpPr>
          <p:cNvPr id="43" name="TextBox 42"/>
          <p:cNvSpPr txBox="1"/>
          <p:nvPr/>
        </p:nvSpPr>
        <p:spPr>
          <a:xfrm>
            <a:off x="609904" y="5925312"/>
            <a:ext cx="109728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measured with QElapsedTimer, keyPressEvent entry → paintEvent exit  ·  release build  ·  mid-range CPU, integrated GPU  ·  ~50-line viewport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00">
        <p159:morph option="byObject"/>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/src/ui/main_window.cpp</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13 / 17      0 errors</a:t>
            </a:r>
          </a:p>
        </p:txBody>
      </p:sp>
      <p:sp>
        <p:nvSpPr>
          <p:cNvPr id="8" name="TextBox 7"/>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The Edit → Compile → Run Loop</a:t>
            </a:r>
          </a:p>
        </p:txBody>
      </p:sp>
      <p:sp>
        <p:nvSpPr>
          <p:cNvPr id="9" name="TextBox 8"/>
          <p:cNvSpPr txBox="1"/>
          <p:nvPr/>
        </p:nvSpPr>
        <p:spPr>
          <a:xfrm>
            <a:off x="609904" y="1737360"/>
            <a:ext cx="7315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F5   ·   one keystroke, five stages, one persistent shell</a:t>
            </a:r>
          </a:p>
        </p:txBody>
      </p:sp>
      <p:sp>
        <p:nvSpPr>
          <p:cNvPr id="10" name="!!axis"/>
          <p:cNvSpPr/>
          <p:nvPr/>
        </p:nvSpPr>
        <p:spPr>
          <a:xfrm>
            <a:off x="609904" y="2633472"/>
            <a:ext cx="10972800" cy="10972"/>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09904" y="2450591"/>
            <a:ext cx="10972" cy="18288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9904" y="2148839"/>
            <a:ext cx="210312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save</a:t>
            </a:r>
          </a:p>
        </p:txBody>
      </p:sp>
      <p:sp>
        <p:nvSpPr>
          <p:cNvPr id="13" name="TextBox 12"/>
          <p:cNvSpPr txBox="1"/>
          <p:nvPr/>
        </p:nvSpPr>
        <p:spPr>
          <a:xfrm>
            <a:off x="609904" y="2779776"/>
            <a:ext cx="2057400" cy="54864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auto-save; prompt Save As if untitled</a:t>
            </a:r>
          </a:p>
        </p:txBody>
      </p:sp>
      <p:sp>
        <p:nvSpPr>
          <p:cNvPr id="14" name="Rectangle 13"/>
          <p:cNvSpPr/>
          <p:nvPr/>
        </p:nvSpPr>
        <p:spPr>
          <a:xfrm>
            <a:off x="2804464" y="2450591"/>
            <a:ext cx="10972" cy="18288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804464" y="2148839"/>
            <a:ext cx="210312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cd</a:t>
            </a:r>
          </a:p>
        </p:txBody>
      </p:sp>
      <p:sp>
        <p:nvSpPr>
          <p:cNvPr id="16" name="TextBox 15"/>
          <p:cNvSpPr txBox="1"/>
          <p:nvPr/>
        </p:nvSpPr>
        <p:spPr>
          <a:xfrm>
            <a:off x="2804464" y="2779776"/>
            <a:ext cx="2057400" cy="54864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navigate to the file's directory</a:t>
            </a:r>
          </a:p>
        </p:txBody>
      </p:sp>
      <p:sp>
        <p:nvSpPr>
          <p:cNvPr id="17" name="Rectangle 16"/>
          <p:cNvSpPr/>
          <p:nvPr/>
        </p:nvSpPr>
        <p:spPr>
          <a:xfrm>
            <a:off x="4999024" y="2450591"/>
            <a:ext cx="10972" cy="18288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999024" y="2148839"/>
            <a:ext cx="210312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g++</a:t>
            </a:r>
          </a:p>
        </p:txBody>
      </p:sp>
      <p:sp>
        <p:nvSpPr>
          <p:cNvPr id="19" name="TextBox 18"/>
          <p:cNvSpPr txBox="1"/>
          <p:nvPr/>
        </p:nvSpPr>
        <p:spPr>
          <a:xfrm>
            <a:off x="4999024" y="2779776"/>
            <a:ext cx="2057400" cy="54864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compile to a sibling .exe</a:t>
            </a:r>
          </a:p>
        </p:txBody>
      </p:sp>
      <p:sp>
        <p:nvSpPr>
          <p:cNvPr id="20" name="Rectangle 19"/>
          <p:cNvSpPr/>
          <p:nvPr/>
        </p:nvSpPr>
        <p:spPr>
          <a:xfrm>
            <a:off x="7193584" y="2450591"/>
            <a:ext cx="10972" cy="18288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93584" y="2148839"/>
            <a:ext cx="210312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if ($?)</a:t>
            </a:r>
          </a:p>
        </p:txBody>
      </p:sp>
      <p:sp>
        <p:nvSpPr>
          <p:cNvPr id="22" name="TextBox 21"/>
          <p:cNvSpPr txBox="1"/>
          <p:nvPr/>
        </p:nvSpPr>
        <p:spPr>
          <a:xfrm>
            <a:off x="7193584" y="2779776"/>
            <a:ext cx="2057400" cy="54864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gate on the compiler's exit code</a:t>
            </a:r>
          </a:p>
        </p:txBody>
      </p:sp>
      <p:sp>
        <p:nvSpPr>
          <p:cNvPr id="23" name="Rectangle 22"/>
          <p:cNvSpPr/>
          <p:nvPr/>
        </p:nvSpPr>
        <p:spPr>
          <a:xfrm>
            <a:off x="9388144" y="2450591"/>
            <a:ext cx="10972" cy="182880"/>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88144" y="2148839"/>
            <a:ext cx="2103120" cy="348615"/>
          </a:xfrm>
          <a:prstGeom prst="rect">
            <a:avLst/>
          </a:prstGeom>
          <a:noFill/>
        </p:spPr>
        <p:txBody>
          <a:bodyPr wrap="none" lIns="0" rIns="0" tIns="0" bIns="0" anchor="t">
            <a:noAutofit/>
          </a:bodyPr>
          <a:lstStyle/>
          <a:p>
            <a:pPr algn="l">
              <a:lnSpc>
                <a:spcPct val="135000"/>
              </a:lnSpc>
            </a:pPr>
            <a:r>
              <a:rPr sz="1500" b="1">
                <a:solidFill>
                  <a:srgbClr val="1D1D1F"/>
                </a:solidFill>
                <a:latin typeface="JetBrains Mono"/>
                <a:cs typeface="JetBrains Mono"/>
                <a:ea typeface="JetBrains Mono"/>
              </a:rPr>
              <a:t>.\out.exe</a:t>
            </a:r>
          </a:p>
        </p:txBody>
      </p:sp>
      <p:sp>
        <p:nvSpPr>
          <p:cNvPr id="25" name="TextBox 24"/>
          <p:cNvSpPr txBox="1"/>
          <p:nvPr/>
        </p:nvSpPr>
        <p:spPr>
          <a:xfrm>
            <a:off x="9388144" y="2779776"/>
            <a:ext cx="2057400" cy="548640"/>
          </a:xfrm>
          <a:prstGeom prst="rect">
            <a:avLst/>
          </a:prstGeom>
          <a:noFill/>
        </p:spPr>
        <p:txBody>
          <a:bodyPr wrap="square" lIns="0" rIns="0" tIns="0" bIns="0" anchor="t">
            <a:noAutofit/>
          </a:bodyPr>
          <a:lstStyle/>
          <a:p>
            <a:pPr algn="l">
              <a:lnSpc>
                <a:spcPct val="135000"/>
              </a:lnSpc>
            </a:pPr>
            <a:r>
              <a:rPr sz="1200" b="0">
                <a:solidFill>
                  <a:srgbClr val="6E6E73"/>
                </a:solidFill>
                <a:latin typeface="Inter"/>
                <a:cs typeface="Inter"/>
                <a:ea typeface="Inter"/>
              </a:rPr>
              <a:t>run inside the same session</a:t>
            </a:r>
          </a:p>
        </p:txBody>
      </p:sp>
      <p:sp>
        <p:nvSpPr>
          <p:cNvPr id="26" name="Rectangle 25"/>
          <p:cNvSpPr/>
          <p:nvPr/>
        </p:nvSpPr>
        <p:spPr>
          <a:xfrm>
            <a:off x="609904" y="3493008"/>
            <a:ext cx="8595360" cy="402336"/>
          </a:xfrm>
          <a:prstGeom prst="rect">
            <a:avLst/>
          </a:prstGeom>
          <a:solidFill>
            <a:srgbClr val="E3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7064" y="3607308"/>
            <a:ext cx="8321040" cy="331470"/>
          </a:xfrm>
          <a:prstGeom prst="rect">
            <a:avLst/>
          </a:prstGeom>
          <a:noFill/>
        </p:spPr>
        <p:txBody>
          <a:bodyPr wrap="none" lIns="0" rIns="0" tIns="0" bIns="0" anchor="t">
            <a:noAutofit/>
          </a:bodyPr>
          <a:lstStyle/>
          <a:p>
            <a:pPr algn="l">
              <a:lnSpc>
                <a:spcPct val="135000"/>
              </a:lnSpc>
            </a:pPr>
            <a:r>
              <a:rPr sz="1400" b="0">
                <a:solidFill>
                  <a:srgbClr val="6E6E73"/>
                </a:solidFill>
                <a:latin typeface="JetBrains Mono"/>
                <a:cs typeface="JetBrains Mono"/>
                <a:ea typeface="JetBrains Mono"/>
              </a:rPr>
              <a:t>g++ </a:t>
            </a:r>
            <a:r>
              <a:rPr sz="1400" b="0">
                <a:solidFill>
                  <a:srgbClr val="1D1D1F"/>
                </a:solidFill>
                <a:latin typeface="JetBrains Mono"/>
                <a:cs typeface="JetBrains Mono"/>
                <a:ea typeface="JetBrains Mono"/>
              </a:rPr>
              <a:t>"main.cpp" -o "main.exe" ; if ($?) { .\main.exe }</a:t>
            </a:r>
          </a:p>
        </p:txBody>
      </p:sp>
      <p:sp>
        <p:nvSpPr>
          <p:cNvPr id="28" name="TextBox 27"/>
          <p:cNvSpPr txBox="1"/>
          <p:nvPr/>
        </p:nvSpPr>
        <p:spPr>
          <a:xfrm>
            <a:off x="9388144" y="3616452"/>
            <a:ext cx="219456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QProcess  ·  PowerShell</a:t>
            </a:r>
          </a:p>
        </p:txBody>
      </p:sp>
      <p:sp>
        <p:nvSpPr>
          <p:cNvPr id="29" name="TextBox 28"/>
          <p:cNvSpPr txBox="1"/>
          <p:nvPr/>
        </p:nvSpPr>
        <p:spPr>
          <a:xfrm>
            <a:off x="609904" y="4050791"/>
            <a:ext cx="73152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the shell stays alive for the whole session — the cd survives between runs</a:t>
            </a:r>
          </a:p>
        </p:txBody>
      </p:sp>
      <p:sp>
        <p:nvSpPr>
          <p:cNvPr id="30" name="Rectangle 29"/>
          <p:cNvSpPr/>
          <p:nvPr/>
        </p:nvSpPr>
        <p:spPr>
          <a:xfrm>
            <a:off x="609904" y="4462272"/>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09904" y="4645152"/>
            <a:ext cx="12344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who</a:t>
            </a:r>
          </a:p>
        </p:txBody>
      </p:sp>
      <p:sp>
        <p:nvSpPr>
          <p:cNvPr id="32" name="TextBox 31"/>
          <p:cNvSpPr txBox="1"/>
          <p:nvPr/>
        </p:nvSpPr>
        <p:spPr>
          <a:xfrm>
            <a:off x="1890064" y="4645152"/>
            <a:ext cx="585216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competitive programmers  ·  students on low-spec machines</a:t>
            </a:r>
          </a:p>
        </p:txBody>
      </p:sp>
      <p:sp>
        <p:nvSpPr>
          <p:cNvPr id="33" name="TextBox 32"/>
          <p:cNvSpPr txBox="1"/>
          <p:nvPr/>
        </p:nvSpPr>
        <p:spPr>
          <a:xfrm>
            <a:off x="609904" y="4946904"/>
            <a:ext cx="12344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workload</a:t>
            </a:r>
          </a:p>
        </p:txBody>
      </p:sp>
      <p:sp>
        <p:nvSpPr>
          <p:cNvPr id="34" name="TextBox 33"/>
          <p:cNvSpPr txBox="1"/>
          <p:nvPr/>
        </p:nvSpPr>
        <p:spPr>
          <a:xfrm>
            <a:off x="1890064" y="4946904"/>
            <a:ext cx="5852160" cy="314325"/>
          </a:xfrm>
          <a:prstGeom prst="rect">
            <a:avLst/>
          </a:prstGeom>
          <a:noFill/>
        </p:spPr>
        <p:txBody>
          <a:bodyPr wrap="none" lIns="0" rIns="0" tIns="0" bIns="0" anchor="t">
            <a:noAutofit/>
          </a:bodyPr>
          <a:lstStyle/>
          <a:p>
            <a:pPr algn="l">
              <a:lnSpc>
                <a:spcPct val="135000"/>
              </a:lnSpc>
            </a:pPr>
            <a:r>
              <a:rPr sz="1300" b="0">
                <a:solidFill>
                  <a:srgbClr val="3A3A3C"/>
                </a:solidFill>
                <a:latin typeface="JetBrains Mono"/>
                <a:cs typeface="JetBrains Mono"/>
                <a:ea typeface="JetBrains Mono"/>
              </a:rPr>
              <a:t>one file, 100–300 lines, recompiled dozens of times per contest</a:t>
            </a:r>
          </a:p>
        </p:txBody>
      </p:sp>
      <p:sp>
        <p:nvSpPr>
          <p:cNvPr id="35" name="TextBox 34"/>
          <p:cNvSpPr txBox="1"/>
          <p:nvPr/>
        </p:nvSpPr>
        <p:spPr>
          <a:xfrm>
            <a:off x="609904" y="5248656"/>
            <a:ext cx="12344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constraint</a:t>
            </a:r>
          </a:p>
        </p:txBody>
      </p:sp>
      <p:sp>
        <p:nvSpPr>
          <p:cNvPr id="36" name="TextBox 35"/>
          <p:cNvSpPr txBox="1"/>
          <p:nvPr/>
        </p:nvSpPr>
        <p:spPr>
          <a:xfrm>
            <a:off x="1890064" y="5248656"/>
            <a:ext cx="5852160" cy="314325"/>
          </a:xfrm>
          <a:prstGeom prst="rect">
            <a:avLst/>
          </a:prstGeom>
          <a:noFill/>
        </p:spPr>
        <p:txBody>
          <a:bodyPr wrap="none" lIns="0" rIns="0" tIns="0" bIns="0" anchor="t">
            <a:noAutofit/>
          </a:bodyPr>
          <a:lstStyle/>
          <a:p>
            <a:pPr algn="l">
              <a:lnSpc>
                <a:spcPct val="135000"/>
              </a:lnSpc>
            </a:pPr>
            <a:r>
              <a:rPr sz="1300" b="0">
                <a:solidFill>
                  <a:srgbClr val="3A3A3C"/>
                </a:solidFill>
                <a:latin typeface="JetBrains Mono"/>
                <a:cs typeface="JetBrains Mono"/>
                <a:ea typeface="JetBrains Mono"/>
              </a:rPr>
              <a:t>restart cost invisible  ·  no stall mid-keystroke  ·  no GC pause</a:t>
            </a:r>
          </a:p>
        </p:txBody>
      </p:sp>
      <p:sp>
        <p:nvSpPr>
          <p:cNvPr id="37" name="TextBox 36"/>
          <p:cNvSpPr txBox="1"/>
          <p:nvPr/>
        </p:nvSpPr>
        <p:spPr>
          <a:xfrm>
            <a:off x="8290864" y="4581144"/>
            <a:ext cx="2240280" cy="640080"/>
          </a:xfrm>
          <a:prstGeom prst="rect">
            <a:avLst/>
          </a:prstGeom>
          <a:noFill/>
        </p:spPr>
        <p:txBody>
          <a:bodyPr wrap="none" lIns="0" rIns="0" tIns="0" bIns="0" anchor="t">
            <a:noAutofit/>
          </a:bodyPr>
          <a:lstStyle/>
          <a:p>
            <a:pPr algn="r">
              <a:lnSpc>
                <a:spcPct val="100000"/>
              </a:lnSpc>
            </a:pPr>
            <a:r>
              <a:rPr sz="3400" b="1">
                <a:solidFill>
                  <a:srgbClr val="1D1D1F"/>
                </a:solidFill>
                <a:latin typeface="JetBrains Mono"/>
                <a:cs typeface="JetBrains Mono"/>
                <a:ea typeface="JetBrains Mono"/>
              </a:rPr>
              <a:t>≈ 1.2 s</a:t>
            </a:r>
          </a:p>
        </p:txBody>
      </p:sp>
      <p:sp>
        <p:nvSpPr>
          <p:cNvPr id="38" name="TextBox 37"/>
          <p:cNvSpPr txBox="1"/>
          <p:nvPr/>
        </p:nvSpPr>
        <p:spPr>
          <a:xfrm>
            <a:off x="8290864" y="5212080"/>
            <a:ext cx="2240280" cy="256032"/>
          </a:xfrm>
          <a:prstGeom prst="rect">
            <a:avLst/>
          </a:prstGeom>
          <a:noFill/>
        </p:spPr>
        <p:txBody>
          <a:bodyPr wrap="none" lIns="0" rIns="0" tIns="0" bIns="0" anchor="t">
            <a:noAutofit/>
          </a:bodyPr>
          <a:lstStyle/>
          <a:p>
            <a:pPr algn="r">
              <a:lnSpc>
                <a:spcPct val="100000"/>
              </a:lnSpc>
            </a:pPr>
            <a:r>
              <a:rPr sz="1200" b="0">
                <a:solidFill>
                  <a:srgbClr val="6E6E73"/>
                </a:solidFill>
                <a:latin typeface="Inter"/>
                <a:cs typeface="Inter"/>
                <a:ea typeface="Inter"/>
              </a:rPr>
              <a:t>g++, 300-line solution</a:t>
            </a:r>
          </a:p>
        </p:txBody>
      </p:sp>
      <p:sp>
        <p:nvSpPr>
          <p:cNvPr id="39" name="!!m_input"/>
          <p:cNvSpPr txBox="1"/>
          <p:nvPr/>
        </p:nvSpPr>
        <p:spPr>
          <a:xfrm>
            <a:off x="10759744" y="4690872"/>
            <a:ext cx="822960" cy="274320"/>
          </a:xfrm>
          <a:prstGeom prst="rect">
            <a:avLst/>
          </a:prstGeom>
          <a:noFill/>
        </p:spPr>
        <p:txBody>
          <a:bodyPr wrap="none" lIns="0" rIns="0" tIns="0" bIns="0" anchor="t">
            <a:noAutofit/>
          </a:bodyPr>
          <a:lstStyle/>
          <a:p>
            <a:pPr algn="l">
              <a:lnSpc>
                <a:spcPct val="100000"/>
              </a:lnSpc>
            </a:pPr>
            <a:r>
              <a:rPr sz="1400" b="0">
                <a:solidFill>
                  <a:srgbClr val="A1A1A6"/>
                </a:solidFill>
                <a:latin typeface="JetBrains Mono"/>
                <a:cs typeface="JetBrains Mono"/>
                <a:ea typeface="JetBrains Mono"/>
              </a:rPr>
              <a:t>&lt; 7 ms</a:t>
            </a:r>
          </a:p>
        </p:txBody>
      </p:sp>
      <p:sp>
        <p:nvSpPr>
          <p:cNvPr id="40" name="TextBox 39"/>
          <p:cNvSpPr txBox="1"/>
          <p:nvPr/>
        </p:nvSpPr>
        <p:spPr>
          <a:xfrm>
            <a:off x="10759744" y="4965192"/>
            <a:ext cx="914400" cy="502920"/>
          </a:xfrm>
          <a:prstGeom prst="rect">
            <a:avLst/>
          </a:prstGeom>
          <a:noFill/>
        </p:spPr>
        <p:txBody>
          <a:bodyPr wrap="square" lIns="0" rIns="0" tIns="0" bIns="0" anchor="t">
            <a:noAutofit/>
          </a:bodyPr>
          <a:lstStyle/>
          <a:p>
            <a:pPr algn="l">
              <a:lnSpc>
                <a:spcPct val="130000"/>
              </a:lnSpc>
            </a:pPr>
            <a:r>
              <a:rPr sz="1200" b="0">
                <a:solidFill>
                  <a:srgbClr val="A1A1A6"/>
                </a:solidFill>
                <a:latin typeface="Inter"/>
                <a:cs typeface="Inter"/>
                <a:ea typeface="Inter"/>
              </a:rPr>
              <a:t>valence's share</a:t>
            </a:r>
          </a:p>
        </p:txBody>
      </p:sp>
      <p:sp>
        <p:nvSpPr>
          <p:cNvPr id="41" name="TextBox 40"/>
          <p:cNvSpPr txBox="1"/>
          <p:nvPr/>
        </p:nvSpPr>
        <p:spPr>
          <a:xfrm>
            <a:off x="609904" y="5852160"/>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the editor is not the bottleneck. the compiler is. that is the correct outcome.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50">
        <p159:morph option="byObject"/>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/docs/roadmap.md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14 / 17      0 errors</a:t>
            </a:r>
          </a:p>
        </p:txBody>
      </p:sp>
      <p:sp>
        <p:nvSpPr>
          <p:cNvPr id="8" name="TextBox 7"/>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Future Scope</a:t>
            </a:r>
          </a:p>
        </p:txBody>
      </p:sp>
      <p:sp>
        <p:nvSpPr>
          <p:cNvPr id="9" name="TextBox 8"/>
          <p:cNvSpPr txBox="1"/>
          <p:nvPr/>
        </p:nvSpPr>
        <p:spPr>
          <a:xfrm>
            <a:off x="609904" y="1737360"/>
            <a:ext cx="73152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where the current design stops — measured, not guessed</a:t>
            </a:r>
          </a:p>
        </p:txBody>
      </p:sp>
      <p:sp>
        <p:nvSpPr>
          <p:cNvPr id="10" name="TextBox 9"/>
          <p:cNvSpPr txBox="1"/>
          <p:nvPr/>
        </p:nvSpPr>
        <p:spPr>
          <a:xfrm>
            <a:off x="609904" y="2093976"/>
            <a:ext cx="201168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file size</a:t>
            </a:r>
          </a:p>
        </p:txBody>
      </p:sp>
      <p:sp>
        <p:nvSpPr>
          <p:cNvPr id="11" name="TextBox 10"/>
          <p:cNvSpPr txBox="1"/>
          <p:nvPr/>
        </p:nvSpPr>
        <p:spPr>
          <a:xfrm>
            <a:off x="2804464" y="2093976"/>
            <a:ext cx="201168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insert</a:t>
            </a:r>
          </a:p>
        </p:txBody>
      </p:sp>
      <p:sp>
        <p:nvSpPr>
          <p:cNvPr id="12" name="TextBox 11"/>
          <p:cNvSpPr txBox="1"/>
          <p:nvPr/>
        </p:nvSpPr>
        <p:spPr>
          <a:xfrm>
            <a:off x="4999024" y="2093976"/>
            <a:ext cx="237744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rebuildCommentState</a:t>
            </a:r>
          </a:p>
        </p:txBody>
      </p:sp>
      <p:sp>
        <p:nvSpPr>
          <p:cNvPr id="13" name="TextBox 12"/>
          <p:cNvSpPr txBox="1"/>
          <p:nvPr/>
        </p:nvSpPr>
        <p:spPr>
          <a:xfrm>
            <a:off x="7559344" y="2093976"/>
            <a:ext cx="18288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paintEvent</a:t>
            </a:r>
          </a:p>
        </p:txBody>
      </p:sp>
      <p:sp>
        <p:nvSpPr>
          <p:cNvPr id="14" name="TextBox 13"/>
          <p:cNvSpPr txBox="1"/>
          <p:nvPr/>
        </p:nvSpPr>
        <p:spPr>
          <a:xfrm>
            <a:off x="9571024" y="2093976"/>
            <a:ext cx="201168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verdict</a:t>
            </a:r>
          </a:p>
        </p:txBody>
      </p:sp>
      <p:sp>
        <p:nvSpPr>
          <p:cNvPr id="15" name="TextBox 14"/>
          <p:cNvSpPr txBox="1"/>
          <p:nvPr/>
        </p:nvSpPr>
        <p:spPr>
          <a:xfrm>
            <a:off x="609904" y="2395728"/>
            <a:ext cx="201168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5,000 lines</a:t>
            </a:r>
          </a:p>
        </p:txBody>
      </p:sp>
      <p:sp>
        <p:nvSpPr>
          <p:cNvPr id="16" name="TextBox 15"/>
          <p:cNvSpPr txBox="1"/>
          <p:nvPr/>
        </p:nvSpPr>
        <p:spPr>
          <a:xfrm>
            <a:off x="2804464" y="2395728"/>
            <a:ext cx="201168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&lt; 0.01 ms</a:t>
            </a:r>
          </a:p>
        </p:txBody>
      </p:sp>
      <p:sp>
        <p:nvSpPr>
          <p:cNvPr id="17" name="TextBox 16"/>
          <p:cNvSpPr txBox="1"/>
          <p:nvPr/>
        </p:nvSpPr>
        <p:spPr>
          <a:xfrm>
            <a:off x="4999024" y="2395728"/>
            <a:ext cx="23774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~0.1 ms</a:t>
            </a:r>
          </a:p>
        </p:txBody>
      </p:sp>
      <p:sp>
        <p:nvSpPr>
          <p:cNvPr id="18" name="TextBox 17"/>
          <p:cNvSpPr txBox="1"/>
          <p:nvPr/>
        </p:nvSpPr>
        <p:spPr>
          <a:xfrm>
            <a:off x="7559344" y="2395728"/>
            <a:ext cx="18288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~3 ms</a:t>
            </a:r>
          </a:p>
        </p:txBody>
      </p:sp>
      <p:sp>
        <p:nvSpPr>
          <p:cNvPr id="19" name="TextBox 18"/>
          <p:cNvSpPr txBox="1"/>
          <p:nvPr/>
        </p:nvSpPr>
        <p:spPr>
          <a:xfrm>
            <a:off x="9571024" y="2395728"/>
            <a:ext cx="201168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comfortable</a:t>
            </a:r>
          </a:p>
        </p:txBody>
      </p:sp>
      <p:sp>
        <p:nvSpPr>
          <p:cNvPr id="20" name="TextBox 19"/>
          <p:cNvSpPr txBox="1"/>
          <p:nvPr/>
        </p:nvSpPr>
        <p:spPr>
          <a:xfrm>
            <a:off x="609904" y="2761488"/>
            <a:ext cx="201168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50,000 lines</a:t>
            </a:r>
          </a:p>
        </p:txBody>
      </p:sp>
      <p:sp>
        <p:nvSpPr>
          <p:cNvPr id="21" name="TextBox 20"/>
          <p:cNvSpPr txBox="1"/>
          <p:nvPr/>
        </p:nvSpPr>
        <p:spPr>
          <a:xfrm>
            <a:off x="2804464" y="2761488"/>
            <a:ext cx="201168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~0.05 ms</a:t>
            </a:r>
          </a:p>
        </p:txBody>
      </p:sp>
      <p:sp>
        <p:nvSpPr>
          <p:cNvPr id="22" name="TextBox 21"/>
          <p:cNvSpPr txBox="1"/>
          <p:nvPr/>
        </p:nvSpPr>
        <p:spPr>
          <a:xfrm>
            <a:off x="4999024" y="2761488"/>
            <a:ext cx="237744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~1 ms</a:t>
            </a:r>
          </a:p>
        </p:txBody>
      </p:sp>
      <p:sp>
        <p:nvSpPr>
          <p:cNvPr id="23" name="TextBox 22"/>
          <p:cNvSpPr txBox="1"/>
          <p:nvPr/>
        </p:nvSpPr>
        <p:spPr>
          <a:xfrm>
            <a:off x="7559344" y="2761488"/>
            <a:ext cx="182880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~3 ms</a:t>
            </a:r>
          </a:p>
        </p:txBody>
      </p:sp>
      <p:sp>
        <p:nvSpPr>
          <p:cNvPr id="24" name="TextBox 23"/>
          <p:cNvSpPr txBox="1"/>
          <p:nvPr/>
        </p:nvSpPr>
        <p:spPr>
          <a:xfrm>
            <a:off x="9571024" y="2761488"/>
            <a:ext cx="201168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comfortable</a:t>
            </a:r>
          </a:p>
        </p:txBody>
      </p:sp>
      <p:sp>
        <p:nvSpPr>
          <p:cNvPr id="25" name="TextBox 24"/>
          <p:cNvSpPr txBox="1"/>
          <p:nvPr/>
        </p:nvSpPr>
        <p:spPr>
          <a:xfrm>
            <a:off x="609904" y="3127248"/>
            <a:ext cx="201168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500,000 lines</a:t>
            </a:r>
          </a:p>
        </p:txBody>
      </p:sp>
      <p:sp>
        <p:nvSpPr>
          <p:cNvPr id="26" name="TextBox 25"/>
          <p:cNvSpPr txBox="1"/>
          <p:nvPr/>
        </p:nvSpPr>
        <p:spPr>
          <a:xfrm>
            <a:off x="2804464" y="3127248"/>
            <a:ext cx="201168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~0.5 ms</a:t>
            </a:r>
          </a:p>
        </p:txBody>
      </p:sp>
      <p:sp>
        <p:nvSpPr>
          <p:cNvPr id="27" name="TextBox 26"/>
          <p:cNvSpPr txBox="1"/>
          <p:nvPr/>
        </p:nvSpPr>
        <p:spPr>
          <a:xfrm>
            <a:off x="4999024" y="3127248"/>
            <a:ext cx="23774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~10 ms</a:t>
            </a:r>
          </a:p>
        </p:txBody>
      </p:sp>
      <p:sp>
        <p:nvSpPr>
          <p:cNvPr id="28" name="TextBox 27"/>
          <p:cNvSpPr txBox="1"/>
          <p:nvPr/>
        </p:nvSpPr>
        <p:spPr>
          <a:xfrm>
            <a:off x="7559344" y="3127248"/>
            <a:ext cx="182880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~3 ms</a:t>
            </a:r>
          </a:p>
        </p:txBody>
      </p:sp>
      <p:sp>
        <p:nvSpPr>
          <p:cNvPr id="29" name="TextBox 28"/>
          <p:cNvSpPr txBox="1"/>
          <p:nvPr/>
        </p:nvSpPr>
        <p:spPr>
          <a:xfrm>
            <a:off x="9571024" y="3127248"/>
            <a:ext cx="201168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rescan dominates</a:t>
            </a:r>
          </a:p>
        </p:txBody>
      </p:sp>
      <p:sp>
        <p:nvSpPr>
          <p:cNvPr id="30" name="TextBox 29"/>
          <p:cNvSpPr txBox="1"/>
          <p:nvPr/>
        </p:nvSpPr>
        <p:spPr>
          <a:xfrm>
            <a:off x="609904" y="3493008"/>
            <a:ext cx="201168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5,000,000 lines</a:t>
            </a:r>
          </a:p>
        </p:txBody>
      </p:sp>
      <p:sp>
        <p:nvSpPr>
          <p:cNvPr id="31" name="TextBox 30"/>
          <p:cNvSpPr txBox="1"/>
          <p:nvPr/>
        </p:nvSpPr>
        <p:spPr>
          <a:xfrm>
            <a:off x="2804464" y="3493008"/>
            <a:ext cx="201168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~5 ms</a:t>
            </a:r>
          </a:p>
        </p:txBody>
      </p:sp>
      <p:sp>
        <p:nvSpPr>
          <p:cNvPr id="32" name="TextBox 31"/>
          <p:cNvSpPr txBox="1"/>
          <p:nvPr/>
        </p:nvSpPr>
        <p:spPr>
          <a:xfrm>
            <a:off x="4999024" y="3493008"/>
            <a:ext cx="237744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~100 ms</a:t>
            </a:r>
          </a:p>
        </p:txBody>
      </p:sp>
      <p:sp>
        <p:nvSpPr>
          <p:cNvPr id="33" name="TextBox 32"/>
          <p:cNvSpPr txBox="1"/>
          <p:nvPr/>
        </p:nvSpPr>
        <p:spPr>
          <a:xfrm>
            <a:off x="7559344" y="3493008"/>
            <a:ext cx="182880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~3 ms</a:t>
            </a:r>
          </a:p>
        </p:txBody>
      </p:sp>
      <p:sp>
        <p:nvSpPr>
          <p:cNvPr id="34" name="TextBox 33"/>
          <p:cNvSpPr txBox="1"/>
          <p:nvPr/>
        </p:nvSpPr>
        <p:spPr>
          <a:xfrm>
            <a:off x="9571024" y="3493008"/>
            <a:ext cx="2011680" cy="314325"/>
          </a:xfrm>
          <a:prstGeom prst="rect">
            <a:avLst/>
          </a:prstGeom>
          <a:noFill/>
        </p:spPr>
        <p:txBody>
          <a:bodyPr wrap="none" lIns="0" rIns="0" tIns="0" bIns="0" anchor="t">
            <a:noAutofit/>
          </a:bodyPr>
          <a:lstStyle/>
          <a:p>
            <a:pPr algn="l">
              <a:lnSpc>
                <a:spcPct val="135000"/>
              </a:lnSpc>
            </a:pPr>
            <a:r>
              <a:rPr sz="1300" b="0">
                <a:solidFill>
                  <a:srgbClr val="1D1D1F"/>
                </a:solidFill>
                <a:latin typeface="JetBrains Mono"/>
                <a:cs typeface="JetBrains Mono"/>
                <a:ea typeface="JetBrains Mono"/>
              </a:rPr>
              <a:t>needs a piece table</a:t>
            </a:r>
          </a:p>
        </p:txBody>
      </p:sp>
      <p:sp>
        <p:nvSpPr>
          <p:cNvPr id="35" name="Rectangle 34"/>
          <p:cNvSpPr/>
          <p:nvPr/>
        </p:nvSpPr>
        <p:spPr>
          <a:xfrm>
            <a:off x="609904" y="228600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09904" y="26517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09904" y="301752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09904" y="338328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09904" y="3749039"/>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axis"/>
          <p:cNvSpPr/>
          <p:nvPr/>
        </p:nvSpPr>
        <p:spPr>
          <a:xfrm>
            <a:off x="609904" y="4590288"/>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09904" y="4581144"/>
            <a:ext cx="2743200" cy="25603"/>
          </a:xfrm>
          <a:prstGeom prst="rect">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09904" y="4407407"/>
            <a:ext cx="6858" cy="18288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09904" y="4105655"/>
            <a:ext cx="2194560" cy="314325"/>
          </a:xfrm>
          <a:prstGeom prst="rect">
            <a:avLst/>
          </a:prstGeom>
          <a:noFill/>
        </p:spPr>
        <p:txBody>
          <a:bodyPr wrap="none" lIns="0" rIns="0" tIns="0" bIns="0" anchor="t">
            <a:noAutofit/>
          </a:bodyPr>
          <a:lstStyle/>
          <a:p>
            <a:pPr algn="l">
              <a:lnSpc>
                <a:spcPct val="135000"/>
              </a:lnSpc>
            </a:pPr>
            <a:r>
              <a:rPr sz="1300" b="1">
                <a:solidFill>
                  <a:srgbClr val="1D1D1F"/>
                </a:solidFill>
                <a:latin typeface="JetBrains Mono"/>
                <a:cs typeface="JetBrains Mono"/>
                <a:ea typeface="JetBrains Mono"/>
              </a:rPr>
              <a:t>shipped</a:t>
            </a:r>
          </a:p>
        </p:txBody>
      </p:sp>
      <p:sp>
        <p:nvSpPr>
          <p:cNvPr id="44" name="TextBox 43"/>
          <p:cNvSpPr txBox="1"/>
          <p:nvPr/>
        </p:nvSpPr>
        <p:spPr>
          <a:xfrm>
            <a:off x="609904" y="4828031"/>
            <a:ext cx="2514600" cy="96012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Buffer · undo · viewport culling · lexer · tabs · terminal · F5</a:t>
            </a:r>
          </a:p>
        </p:txBody>
      </p:sp>
      <p:sp>
        <p:nvSpPr>
          <p:cNvPr id="45" name="Rectangle 44"/>
          <p:cNvSpPr/>
          <p:nvPr/>
        </p:nvSpPr>
        <p:spPr>
          <a:xfrm>
            <a:off x="3353104" y="4407407"/>
            <a:ext cx="6858" cy="18288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3353104" y="4105655"/>
            <a:ext cx="219456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v1.1</a:t>
            </a:r>
          </a:p>
        </p:txBody>
      </p:sp>
      <p:sp>
        <p:nvSpPr>
          <p:cNvPr id="47" name="TextBox 46"/>
          <p:cNvSpPr txBox="1"/>
          <p:nvPr/>
        </p:nvSpPr>
        <p:spPr>
          <a:xfrm>
            <a:off x="3353104" y="4828031"/>
            <a:ext cx="2514600" cy="960120"/>
          </a:xfrm>
          <a:prstGeom prst="rect">
            <a:avLst/>
          </a:prstGeom>
          <a:noFill/>
        </p:spPr>
        <p:txBody>
          <a:bodyPr wrap="square" lIns="0" rIns="0" tIns="0" bIns="0" anchor="t">
            <a:noAutofit/>
          </a:bodyPr>
          <a:lstStyle/>
          <a:p>
            <a:pPr algn="l">
              <a:lnSpc>
                <a:spcPct val="138000"/>
              </a:lnSpc>
            </a:pPr>
            <a:r>
              <a:rPr sz="1300" b="0">
                <a:solidFill>
                  <a:srgbClr val="6E6E73"/>
                </a:solidFill>
                <a:latin typeface="Inter"/>
                <a:cs typeface="Inter"/>
                <a:ea typeface="Inter"/>
              </a:rPr>
              <a:t>Incremental comment rescan · sticky column · deleteForwardChar</a:t>
            </a:r>
          </a:p>
        </p:txBody>
      </p:sp>
      <p:sp>
        <p:nvSpPr>
          <p:cNvPr id="48" name="Rectangle 47"/>
          <p:cNvSpPr/>
          <p:nvPr/>
        </p:nvSpPr>
        <p:spPr>
          <a:xfrm>
            <a:off x="6096304" y="4407407"/>
            <a:ext cx="6858" cy="18288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096304" y="4105655"/>
            <a:ext cx="219456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v1.2</a:t>
            </a:r>
          </a:p>
        </p:txBody>
      </p:sp>
      <p:sp>
        <p:nvSpPr>
          <p:cNvPr id="50" name="TextBox 49"/>
          <p:cNvSpPr txBox="1"/>
          <p:nvPr/>
        </p:nvSpPr>
        <p:spPr>
          <a:xfrm>
            <a:off x="6096304" y="4828031"/>
            <a:ext cx="2514600" cy="960120"/>
          </a:xfrm>
          <a:prstGeom prst="rect">
            <a:avLst/>
          </a:prstGeom>
          <a:noFill/>
        </p:spPr>
        <p:txBody>
          <a:bodyPr wrap="square" lIns="0" rIns="0" tIns="0" bIns="0" anchor="t">
            <a:noAutofit/>
          </a:bodyPr>
          <a:lstStyle/>
          <a:p>
            <a:pPr algn="l">
              <a:lnSpc>
                <a:spcPct val="138000"/>
              </a:lnSpc>
            </a:pPr>
            <a:r>
              <a:rPr sz="1300" b="0">
                <a:solidFill>
                  <a:srgbClr val="6E6E73"/>
                </a:solidFill>
                <a:latin typeface="Inter"/>
                <a:cs typeface="Inter"/>
                <a:ea typeface="Inter"/>
              </a:rPr>
              <a:t>clangd over JSON-RPC — diagnostics, completion · find and replace</a:t>
            </a:r>
          </a:p>
        </p:txBody>
      </p:sp>
      <p:sp>
        <p:nvSpPr>
          <p:cNvPr id="51" name="Rectangle 50"/>
          <p:cNvSpPr/>
          <p:nvPr/>
        </p:nvSpPr>
        <p:spPr>
          <a:xfrm>
            <a:off x="8839504" y="4407407"/>
            <a:ext cx="6858" cy="18288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839504" y="4105655"/>
            <a:ext cx="219456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v2.0</a:t>
            </a:r>
          </a:p>
        </p:txBody>
      </p:sp>
      <p:sp>
        <p:nvSpPr>
          <p:cNvPr id="53" name="TextBox 52"/>
          <p:cNvSpPr txBox="1"/>
          <p:nvPr/>
        </p:nvSpPr>
        <p:spPr>
          <a:xfrm>
            <a:off x="8839504" y="4828031"/>
            <a:ext cx="2514600" cy="960120"/>
          </a:xfrm>
          <a:prstGeom prst="rect">
            <a:avLst/>
          </a:prstGeom>
          <a:noFill/>
        </p:spPr>
        <p:txBody>
          <a:bodyPr wrap="square" lIns="0" rIns="0" tIns="0" bIns="0" anchor="t">
            <a:noAutofit/>
          </a:bodyPr>
          <a:lstStyle/>
          <a:p>
            <a:pPr algn="l">
              <a:lnSpc>
                <a:spcPct val="138000"/>
              </a:lnSpc>
            </a:pPr>
            <a:r>
              <a:rPr sz="1300" b="0">
                <a:solidFill>
                  <a:srgbClr val="6E6E73"/>
                </a:solidFill>
                <a:latin typeface="Inter"/>
                <a:cs typeface="Inter"/>
                <a:ea typeface="Inter"/>
              </a:rPr>
              <a:t>Piece table past 100K lines · QTest suite · cross-platform build</a:t>
            </a:r>
          </a:p>
        </p:txBody>
      </p:sp>
      <p:sp>
        <p:nvSpPr>
          <p:cNvPr id="54" name="TextBox 53"/>
          <p:cNvSpPr txBox="1"/>
          <p:nvPr/>
        </p:nvSpPr>
        <p:spPr>
          <a:xfrm>
            <a:off x="609904" y="5961888"/>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the piece table has a measured trigger, not a hunch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00">
        <p159:morph option="byObject"/>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/docs/conclusion.md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15 / 17      0 errors</a:t>
            </a:r>
          </a:p>
        </p:txBody>
      </p:sp>
      <p:sp>
        <p:nvSpPr>
          <p:cNvPr id="8" name="TextBox 7"/>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Conclusion</a:t>
            </a:r>
          </a:p>
        </p:txBody>
      </p:sp>
      <p:sp>
        <p:nvSpPr>
          <p:cNvPr id="9" name="!!axis"/>
          <p:cNvSpPr/>
          <p:nvPr/>
        </p:nvSpPr>
        <p:spPr>
          <a:xfrm>
            <a:off x="609904" y="182880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9904" y="1993392"/>
            <a:ext cx="18288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objectives</a:t>
            </a:r>
          </a:p>
        </p:txBody>
      </p:sp>
      <p:sp>
        <p:nvSpPr>
          <p:cNvPr id="11" name="TextBox 10"/>
          <p:cNvSpPr txBox="1"/>
          <p:nvPr/>
        </p:nvSpPr>
        <p:spPr>
          <a:xfrm>
            <a:off x="609904" y="2340864"/>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O1</a:t>
            </a:r>
          </a:p>
        </p:txBody>
      </p:sp>
      <p:sp>
        <p:nvSpPr>
          <p:cNvPr id="12" name="TextBox 11"/>
          <p:cNvSpPr txBox="1"/>
          <p:nvPr/>
        </p:nvSpPr>
        <p:spPr>
          <a:xfrm>
            <a:off x="1158544" y="2340864"/>
            <a:ext cx="173736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 50 MB</a:t>
            </a:r>
          </a:p>
        </p:txBody>
      </p:sp>
      <p:sp>
        <p:nvSpPr>
          <p:cNvPr id="13" name="TextBox 12"/>
          <p:cNvSpPr txBox="1"/>
          <p:nvPr/>
        </p:nvSpPr>
        <p:spPr>
          <a:xfrm>
            <a:off x="3078784" y="2340864"/>
            <a:ext cx="1645920" cy="314325"/>
          </a:xfrm>
          <a:prstGeom prst="rect">
            <a:avLst/>
          </a:prstGeom>
          <a:noFill/>
        </p:spPr>
        <p:txBody>
          <a:bodyPr wrap="none" lIns="0" rIns="0" tIns="0" bIns="0" anchor="t">
            <a:noAutofit/>
          </a:bodyPr>
          <a:lstStyle/>
          <a:p>
            <a:pPr algn="l">
              <a:lnSpc>
                <a:spcPct val="135000"/>
              </a:lnSpc>
            </a:pPr>
            <a:r>
              <a:rPr sz="1300" b="1">
                <a:solidFill>
                  <a:srgbClr val="1D1D1F"/>
                </a:solidFill>
                <a:latin typeface="JetBrains Mono"/>
                <a:cs typeface="JetBrains Mono"/>
                <a:ea typeface="JetBrains Mono"/>
              </a:rPr>
              <a:t>15–25 MB</a:t>
            </a:r>
          </a:p>
        </p:txBody>
      </p:sp>
      <p:sp>
        <p:nvSpPr>
          <p:cNvPr id="14" name="TextBox 13"/>
          <p:cNvSpPr txBox="1"/>
          <p:nvPr/>
        </p:nvSpPr>
        <p:spPr>
          <a:xfrm>
            <a:off x="4816144" y="2340864"/>
            <a:ext cx="822960" cy="314325"/>
          </a:xfrm>
          <a:prstGeom prst="rect">
            <a:avLst/>
          </a:prstGeom>
          <a:noFill/>
        </p:spPr>
        <p:txBody>
          <a:bodyPr wrap="none" lIns="0" rIns="0" tIns="0" bIns="0" anchor="t">
            <a:noAutofit/>
          </a:bodyPr>
          <a:lstStyle/>
          <a:p>
            <a:pPr algn="l">
              <a:lnSpc>
                <a:spcPct val="135000"/>
              </a:lnSpc>
            </a:pPr>
            <a:r>
              <a:rPr sz="1300" b="1">
                <a:solidFill>
                  <a:srgbClr val="146B2C"/>
                </a:solidFill>
                <a:latin typeface="JetBrains Mono"/>
                <a:cs typeface="JetBrains Mono"/>
                <a:ea typeface="JetBrains Mono"/>
              </a:rPr>
              <a:t>pass</a:t>
            </a:r>
          </a:p>
        </p:txBody>
      </p:sp>
      <p:sp>
        <p:nvSpPr>
          <p:cNvPr id="15" name="TextBox 14"/>
          <p:cNvSpPr txBox="1"/>
          <p:nvPr/>
        </p:nvSpPr>
        <p:spPr>
          <a:xfrm>
            <a:off x="609904" y="2752344"/>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O2</a:t>
            </a:r>
          </a:p>
        </p:txBody>
      </p:sp>
      <p:sp>
        <p:nvSpPr>
          <p:cNvPr id="16" name="TextBox 15"/>
          <p:cNvSpPr txBox="1"/>
          <p:nvPr/>
        </p:nvSpPr>
        <p:spPr>
          <a:xfrm>
            <a:off x="1158544" y="2752344"/>
            <a:ext cx="173736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 100 ms</a:t>
            </a:r>
          </a:p>
        </p:txBody>
      </p:sp>
      <p:sp>
        <p:nvSpPr>
          <p:cNvPr id="17" name="TextBox 16"/>
          <p:cNvSpPr txBox="1"/>
          <p:nvPr/>
        </p:nvSpPr>
        <p:spPr>
          <a:xfrm>
            <a:off x="3078784" y="2752344"/>
            <a:ext cx="1645920" cy="314325"/>
          </a:xfrm>
          <a:prstGeom prst="rect">
            <a:avLst/>
          </a:prstGeom>
          <a:noFill/>
        </p:spPr>
        <p:txBody>
          <a:bodyPr wrap="none" lIns="0" rIns="0" tIns="0" bIns="0" anchor="t">
            <a:noAutofit/>
          </a:bodyPr>
          <a:lstStyle/>
          <a:p>
            <a:pPr algn="l">
              <a:lnSpc>
                <a:spcPct val="135000"/>
              </a:lnSpc>
            </a:pPr>
            <a:r>
              <a:rPr sz="1300" b="1">
                <a:solidFill>
                  <a:srgbClr val="1D1D1F"/>
                </a:solidFill>
                <a:latin typeface="JetBrains Mono"/>
                <a:cs typeface="JetBrains Mono"/>
                <a:ea typeface="JetBrains Mono"/>
              </a:rPr>
              <a:t>&lt; 100 ms</a:t>
            </a:r>
          </a:p>
        </p:txBody>
      </p:sp>
      <p:sp>
        <p:nvSpPr>
          <p:cNvPr id="18" name="TextBox 17"/>
          <p:cNvSpPr txBox="1"/>
          <p:nvPr/>
        </p:nvSpPr>
        <p:spPr>
          <a:xfrm>
            <a:off x="4816144" y="2752344"/>
            <a:ext cx="822960" cy="314325"/>
          </a:xfrm>
          <a:prstGeom prst="rect">
            <a:avLst/>
          </a:prstGeom>
          <a:noFill/>
        </p:spPr>
        <p:txBody>
          <a:bodyPr wrap="none" lIns="0" rIns="0" tIns="0" bIns="0" anchor="t">
            <a:noAutofit/>
          </a:bodyPr>
          <a:lstStyle/>
          <a:p>
            <a:pPr algn="l">
              <a:lnSpc>
                <a:spcPct val="135000"/>
              </a:lnSpc>
            </a:pPr>
            <a:r>
              <a:rPr sz="1300" b="1">
                <a:solidFill>
                  <a:srgbClr val="146B2C"/>
                </a:solidFill>
                <a:latin typeface="JetBrains Mono"/>
                <a:cs typeface="JetBrains Mono"/>
                <a:ea typeface="JetBrains Mono"/>
              </a:rPr>
              <a:t>pass</a:t>
            </a:r>
          </a:p>
        </p:txBody>
      </p:sp>
      <p:sp>
        <p:nvSpPr>
          <p:cNvPr id="19" name="TextBox 18"/>
          <p:cNvSpPr txBox="1"/>
          <p:nvPr/>
        </p:nvSpPr>
        <p:spPr>
          <a:xfrm>
            <a:off x="609904" y="3163824"/>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O3</a:t>
            </a:r>
          </a:p>
        </p:txBody>
      </p:sp>
      <p:sp>
        <p:nvSpPr>
          <p:cNvPr id="20" name="TextBox 19"/>
          <p:cNvSpPr txBox="1"/>
          <p:nvPr/>
        </p:nvSpPr>
        <p:spPr>
          <a:xfrm>
            <a:off x="1158544" y="3163824"/>
            <a:ext cx="173736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 16.6 ms</a:t>
            </a:r>
          </a:p>
        </p:txBody>
      </p:sp>
      <p:sp>
        <p:nvSpPr>
          <p:cNvPr id="21" name="TextBox 20"/>
          <p:cNvSpPr txBox="1"/>
          <p:nvPr/>
        </p:nvSpPr>
        <p:spPr>
          <a:xfrm>
            <a:off x="3078784" y="3163824"/>
            <a:ext cx="1645920" cy="314325"/>
          </a:xfrm>
          <a:prstGeom prst="rect">
            <a:avLst/>
          </a:prstGeom>
          <a:noFill/>
        </p:spPr>
        <p:txBody>
          <a:bodyPr wrap="none" lIns="0" rIns="0" tIns="0" bIns="0" anchor="t">
            <a:noAutofit/>
          </a:bodyPr>
          <a:lstStyle/>
          <a:p>
            <a:pPr algn="l">
              <a:lnSpc>
                <a:spcPct val="135000"/>
              </a:lnSpc>
            </a:pPr>
            <a:r>
              <a:rPr sz="1300" b="1">
                <a:solidFill>
                  <a:srgbClr val="1D1D1F"/>
                </a:solidFill>
                <a:latin typeface="JetBrains Mono"/>
                <a:cs typeface="JetBrains Mono"/>
                <a:ea typeface="JetBrains Mono"/>
              </a:rPr>
              <a:t>6.21 ms</a:t>
            </a:r>
          </a:p>
        </p:txBody>
      </p:sp>
      <p:sp>
        <p:nvSpPr>
          <p:cNvPr id="22" name="TextBox 21"/>
          <p:cNvSpPr txBox="1"/>
          <p:nvPr/>
        </p:nvSpPr>
        <p:spPr>
          <a:xfrm>
            <a:off x="4816144" y="3163824"/>
            <a:ext cx="822960" cy="314325"/>
          </a:xfrm>
          <a:prstGeom prst="rect">
            <a:avLst/>
          </a:prstGeom>
          <a:noFill/>
        </p:spPr>
        <p:txBody>
          <a:bodyPr wrap="none" lIns="0" rIns="0" tIns="0" bIns="0" anchor="t">
            <a:noAutofit/>
          </a:bodyPr>
          <a:lstStyle/>
          <a:p>
            <a:pPr algn="l">
              <a:lnSpc>
                <a:spcPct val="135000"/>
              </a:lnSpc>
            </a:pPr>
            <a:r>
              <a:rPr sz="1300" b="1">
                <a:solidFill>
                  <a:srgbClr val="146B2C"/>
                </a:solidFill>
                <a:latin typeface="JetBrains Mono"/>
                <a:cs typeface="JetBrains Mono"/>
                <a:ea typeface="JetBrains Mono"/>
              </a:rPr>
              <a:t>pass</a:t>
            </a:r>
          </a:p>
        </p:txBody>
      </p:sp>
      <p:sp>
        <p:nvSpPr>
          <p:cNvPr id="23" name="TextBox 22"/>
          <p:cNvSpPr txBox="1"/>
          <p:nvPr/>
        </p:nvSpPr>
        <p:spPr>
          <a:xfrm>
            <a:off x="609904" y="3575304"/>
            <a:ext cx="54864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O4</a:t>
            </a:r>
          </a:p>
        </p:txBody>
      </p:sp>
      <p:sp>
        <p:nvSpPr>
          <p:cNvPr id="24" name="TextBox 23"/>
          <p:cNvSpPr txBox="1"/>
          <p:nvPr/>
        </p:nvSpPr>
        <p:spPr>
          <a:xfrm>
            <a:off x="1158544" y="3575304"/>
            <a:ext cx="1737360" cy="314325"/>
          </a:xfrm>
          <a:prstGeom prst="rect">
            <a:avLst/>
          </a:prstGeom>
          <a:noFill/>
        </p:spPr>
        <p:txBody>
          <a:bodyPr wrap="none" lIns="0" rIns="0" tIns="0" bIns="0" anchor="t">
            <a:noAutofit/>
          </a:bodyPr>
          <a:lstStyle/>
          <a:p>
            <a:pPr algn="l">
              <a:lnSpc>
                <a:spcPct val="135000"/>
              </a:lnSpc>
            </a:pPr>
            <a:r>
              <a:rPr sz="1300" b="0">
                <a:solidFill>
                  <a:srgbClr val="6E6E73"/>
                </a:solidFill>
                <a:latin typeface="JetBrains Mono"/>
                <a:cs typeface="JetBrains Mono"/>
                <a:ea typeface="JetBrains Mono"/>
              </a:rPr>
              <a:t>O(V), not O(N)</a:t>
            </a:r>
          </a:p>
        </p:txBody>
      </p:sp>
      <p:sp>
        <p:nvSpPr>
          <p:cNvPr id="25" name="TextBox 24"/>
          <p:cNvSpPr txBox="1"/>
          <p:nvPr/>
        </p:nvSpPr>
        <p:spPr>
          <a:xfrm>
            <a:off x="3078784" y="3575304"/>
            <a:ext cx="1645920" cy="314325"/>
          </a:xfrm>
          <a:prstGeom prst="rect">
            <a:avLst/>
          </a:prstGeom>
          <a:noFill/>
        </p:spPr>
        <p:txBody>
          <a:bodyPr wrap="none" lIns="0" rIns="0" tIns="0" bIns="0" anchor="t">
            <a:noAutofit/>
          </a:bodyPr>
          <a:lstStyle/>
          <a:p>
            <a:pPr algn="l">
              <a:lnSpc>
                <a:spcPct val="135000"/>
              </a:lnSpc>
            </a:pPr>
            <a:r>
              <a:rPr sz="1300" b="1">
                <a:solidFill>
                  <a:srgbClr val="1D1D1F"/>
                </a:solidFill>
                <a:latin typeface="JetBrains Mono"/>
                <a:cs typeface="JetBrains Mono"/>
                <a:ea typeface="JetBrains Mono"/>
              </a:rPr>
              <a:t>O(V) confirmed</a:t>
            </a:r>
          </a:p>
        </p:txBody>
      </p:sp>
      <p:sp>
        <p:nvSpPr>
          <p:cNvPr id="26" name="TextBox 25"/>
          <p:cNvSpPr txBox="1"/>
          <p:nvPr/>
        </p:nvSpPr>
        <p:spPr>
          <a:xfrm>
            <a:off x="4816144" y="3575304"/>
            <a:ext cx="822960" cy="314325"/>
          </a:xfrm>
          <a:prstGeom prst="rect">
            <a:avLst/>
          </a:prstGeom>
          <a:noFill/>
        </p:spPr>
        <p:txBody>
          <a:bodyPr wrap="none" lIns="0" rIns="0" tIns="0" bIns="0" anchor="t">
            <a:noAutofit/>
          </a:bodyPr>
          <a:lstStyle/>
          <a:p>
            <a:pPr algn="l">
              <a:lnSpc>
                <a:spcPct val="135000"/>
              </a:lnSpc>
            </a:pPr>
            <a:r>
              <a:rPr sz="1300" b="1">
                <a:solidFill>
                  <a:srgbClr val="146B2C"/>
                </a:solidFill>
                <a:latin typeface="JetBrains Mono"/>
                <a:cs typeface="JetBrains Mono"/>
                <a:ea typeface="JetBrains Mono"/>
              </a:rPr>
              <a:t>pass</a:t>
            </a:r>
          </a:p>
        </p:txBody>
      </p:sp>
      <p:sp>
        <p:nvSpPr>
          <p:cNvPr id="27" name="TextBox 26"/>
          <p:cNvSpPr txBox="1"/>
          <p:nvPr/>
        </p:nvSpPr>
        <p:spPr>
          <a:xfrm>
            <a:off x="6279184" y="1993392"/>
            <a:ext cx="2286000" cy="280035"/>
          </a:xfrm>
          <a:prstGeom prst="rect">
            <a:avLst/>
          </a:prstGeom>
          <a:noFill/>
        </p:spPr>
        <p:txBody>
          <a:bodyPr wrap="none" lIns="0" rIns="0" tIns="0" bIns="0" anchor="t">
            <a:noAutofit/>
          </a:bodyPr>
          <a:lstStyle/>
          <a:p>
            <a:pPr algn="l">
              <a:lnSpc>
                <a:spcPct val="135000"/>
              </a:lnSpc>
            </a:pPr>
            <a:r>
              <a:rPr sz="1100" b="0">
                <a:solidFill>
                  <a:srgbClr val="A1A1A6"/>
                </a:solidFill>
                <a:latin typeface="JetBrains Mono"/>
                <a:cs typeface="JetBrains Mono"/>
                <a:ea typeface="JetBrains Mono"/>
              </a:rPr>
              <a:t>contributions</a:t>
            </a:r>
          </a:p>
        </p:txBody>
      </p:sp>
      <p:sp>
        <p:nvSpPr>
          <p:cNvPr id="28" name="TextBox 27"/>
          <p:cNvSpPr txBox="1"/>
          <p:nvPr/>
        </p:nvSpPr>
        <p:spPr>
          <a:xfrm>
            <a:off x="6279184" y="2322576"/>
            <a:ext cx="5212080" cy="1554480"/>
          </a:xfrm>
          <a:prstGeom prst="rect">
            <a:avLst/>
          </a:prstGeom>
          <a:noFill/>
        </p:spPr>
        <p:txBody>
          <a:bodyPr wrap="none" lIns="0" rIns="0" tIns="0" bIns="0" anchor="t">
            <a:noAutofit/>
          </a:bodyPr>
          <a:lstStyle/>
          <a:p>
            <a:pPr algn="l">
              <a:lnSpc>
                <a:spcPct val="138000"/>
              </a:lnSpc>
              <a:spcAft>
                <a:spcPts val="900"/>
              </a:spcAft>
            </a:pPr>
            <a:r>
              <a:rPr sz="1500" b="0">
                <a:solidFill>
                  <a:srgbClr val="3A3A3C"/>
                </a:solidFill>
                <a:latin typeface="Inter"/>
                <a:cs typeface="Inter"/>
                <a:ea typeface="Inter"/>
              </a:rPr>
              <a:t>A text buffer chosen on measured access patterns.</a:t>
            </a:r>
          </a:p>
          <a:p>
            <a:pPr algn="l">
              <a:lnSpc>
                <a:spcPct val="138000"/>
              </a:lnSpc>
              <a:spcAft>
                <a:spcPts val="900"/>
              </a:spcAft>
            </a:pPr>
            <a:r>
              <a:rPr sz="1500" b="0">
                <a:solidFill>
                  <a:srgbClr val="3A3A3C"/>
                </a:solidFill>
                <a:latin typeface="Inter"/>
                <a:cs typeface="Inter"/>
                <a:ea typeface="Inter"/>
              </a:rPr>
              <a:t>A paint loop independent of document size.</a:t>
            </a:r>
          </a:p>
          <a:p>
            <a:pPr algn="l">
              <a:lnSpc>
                <a:spcPct val="138000"/>
              </a:lnSpc>
              <a:spcAft>
                <a:spcPts val="900"/>
              </a:spcAft>
            </a:pPr>
            <a:r>
              <a:rPr sz="1500" b="0">
                <a:solidFill>
                  <a:srgbClr val="3A3A3C"/>
                </a:solidFill>
                <a:latin typeface="Inter"/>
                <a:cs typeface="Inter"/>
                <a:ea typeface="Inter"/>
              </a:rPr>
              <a:t>An undo engine bounded by edits, not file size.</a:t>
            </a:r>
          </a:p>
          <a:p>
            <a:pPr algn="l">
              <a:lnSpc>
                <a:spcPct val="138000"/>
              </a:lnSpc>
              <a:spcAft>
                <a:spcPts val="900"/>
              </a:spcAft>
            </a:pPr>
            <a:r>
              <a:rPr sz="1500" b="0">
                <a:solidFill>
                  <a:srgbClr val="3A3A3C"/>
                </a:solidFill>
                <a:latin typeface="Inter"/>
                <a:cs typeface="Inter"/>
                <a:ea typeface="Inter"/>
              </a:rPr>
              <a:t>A 22-file editor with no runtime and no dependency.</a:t>
            </a:r>
          </a:p>
        </p:txBody>
      </p:sp>
      <p:sp>
        <p:nvSpPr>
          <p:cNvPr id="29" name="Rectangle 28"/>
          <p:cNvSpPr/>
          <p:nvPr/>
        </p:nvSpPr>
        <p:spPr>
          <a:xfrm>
            <a:off x="609904" y="4096512"/>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9904" y="4297680"/>
            <a:ext cx="10698480" cy="777240"/>
          </a:xfrm>
          <a:prstGeom prst="rect">
            <a:avLst/>
          </a:prstGeom>
          <a:noFill/>
        </p:spPr>
        <p:txBody>
          <a:bodyPr wrap="square" lIns="0" rIns="0" tIns="0" bIns="0" anchor="t">
            <a:noAutofit/>
          </a:bodyPr>
          <a:lstStyle/>
          <a:p>
            <a:pPr algn="l">
              <a:lnSpc>
                <a:spcPct val="150000"/>
              </a:lnSpc>
            </a:pPr>
            <a:r>
              <a:rPr sz="1900" b="0">
                <a:solidFill>
                  <a:srgbClr val="1D1D1F"/>
                </a:solidFill>
                <a:latin typeface="Inter"/>
                <a:cs typeface="Inter"/>
                <a:ea typeface="Inter"/>
              </a:rPr>
              <a:t>Valence is not fast because it is written in C++. It is fast because four layers were removed and the ones that remained were measured.</a:t>
            </a:r>
          </a:p>
        </p:txBody>
      </p:sp>
      <p:sp>
        <p:nvSpPr>
          <p:cNvPr id="31" name="TextBox 30"/>
          <p:cNvSpPr txBox="1"/>
          <p:nvPr/>
        </p:nvSpPr>
        <p:spPr>
          <a:xfrm>
            <a:off x="609904" y="5330952"/>
            <a:ext cx="10698480" cy="320040"/>
          </a:xfrm>
          <a:prstGeom prst="rect">
            <a:avLst/>
          </a:prstGeom>
          <a:noFill/>
        </p:spPr>
        <p:txBody>
          <a:bodyPr wrap="none" lIns="0" rIns="0" tIns="0" bIns="0" anchor="t">
            <a:noAutofit/>
          </a:bodyPr>
          <a:lstStyle/>
          <a:p>
            <a:pPr algn="l">
              <a:lnSpc>
                <a:spcPct val="100000"/>
              </a:lnSpc>
            </a:pPr>
            <a:r>
              <a:rPr sz="1500" b="0">
                <a:solidFill>
                  <a:srgbClr val="6E6E73"/>
                </a:solidFill>
                <a:latin typeface="Inter"/>
                <a:cs typeface="Inter"/>
                <a:ea typeface="Inter"/>
              </a:rPr>
              <a:t>Every number in this presentation is reproducible from a clean clone of the repository.</a:t>
            </a:r>
          </a:p>
        </p:txBody>
      </p:sp>
      <p:sp>
        <p:nvSpPr>
          <p:cNvPr id="32" name="TextBox 31"/>
          <p:cNvSpPr txBox="1"/>
          <p:nvPr/>
        </p:nvSpPr>
        <p:spPr>
          <a:xfrm>
            <a:off x="609904" y="5852160"/>
            <a:ext cx="5486400" cy="331470"/>
          </a:xfrm>
          <a:prstGeom prst="rect">
            <a:avLst/>
          </a:prstGeom>
          <a:noFill/>
        </p:spPr>
        <p:txBody>
          <a:bodyPr wrap="none" lIns="0" rIns="0" tIns="0" bIns="0" anchor="t">
            <a:noAutofit/>
          </a:bodyPr>
          <a:lstStyle/>
          <a:p>
            <a:pPr algn="l">
              <a:lnSpc>
                <a:spcPct val="135000"/>
              </a:lnSpc>
            </a:pPr>
            <a:r>
              <a:rPr sz="1400" b="0">
                <a:solidFill>
                  <a:srgbClr val="6E6E73"/>
                </a:solidFill>
                <a:latin typeface="JetBrains Mono"/>
                <a:cs typeface="JetBrains Mono"/>
                <a:ea typeface="JetBrains Mono"/>
              </a:rPr>
              <a:t>$ </a:t>
            </a:r>
            <a:r>
              <a:rPr sz="1400" b="0">
                <a:solidFill>
                  <a:srgbClr val="6E6E73"/>
                </a:solidFill>
                <a:latin typeface="JetBrains Mono"/>
                <a:cs typeface="JetBrains Mono"/>
                <a:ea typeface="JetBrains Mono"/>
              </a:rPr>
              <a:t>./valence</a:t>
            </a:r>
            <a:r>
              <a:rPr sz="1400" b="1">
                <a:solidFill>
                  <a:srgbClr val="146B2C"/>
                </a:solidFill>
                <a:latin typeface="JetBrains Mono"/>
                <a:cs typeface="JetBrains Mono"/>
                <a:ea typeface="JetBrains Mono"/>
              </a:rPr>
              <a:t>        exit 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550">
        <p159:morph option="byObject"/>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ordmark"/>
          <p:cNvSpPr txBox="1"/>
          <p:nvPr/>
        </p:nvSpPr>
        <p:spPr>
          <a:xfrm>
            <a:off x="609904" y="6455664"/>
            <a:ext cx="6858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valence</a:t>
            </a:r>
          </a:p>
        </p:txBody>
      </p:sp>
      <p:sp>
        <p:nvSpPr>
          <p:cNvPr id="6" name="TextBox 5"/>
          <p:cNvSpPr txBox="1"/>
          <p:nvPr/>
        </p:nvSpPr>
        <p:spPr>
          <a:xfrm>
            <a:off x="1249984" y="6455664"/>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/docs/references.md</a:t>
            </a:r>
          </a:p>
        </p:txBody>
      </p:sp>
      <p:sp>
        <p:nvSpPr>
          <p:cNvPr id="7" name="TextBox 6"/>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16 / 17      0 errors</a:t>
            </a:r>
          </a:p>
        </p:txBody>
      </p:sp>
      <p:sp>
        <p:nvSpPr>
          <p:cNvPr id="8" name="TextBox 7"/>
          <p:cNvSpPr txBox="1"/>
          <p:nvPr/>
        </p:nvSpPr>
        <p:spPr>
          <a:xfrm>
            <a:off x="609904" y="1051560"/>
            <a:ext cx="10058400" cy="779526"/>
          </a:xfrm>
          <a:prstGeom prst="rect">
            <a:avLst/>
          </a:prstGeom>
          <a:noFill/>
        </p:spPr>
        <p:txBody>
          <a:bodyPr wrap="none" lIns="0" rIns="0" tIns="0" bIns="0" anchor="t">
            <a:noAutofit/>
          </a:bodyPr>
          <a:lstStyle/>
          <a:p>
            <a:pPr algn="l">
              <a:lnSpc>
                <a:spcPct val="100000"/>
              </a:lnSpc>
            </a:pPr>
            <a:r>
              <a:rPr sz="3800" b="1">
                <a:solidFill>
                  <a:srgbClr val="1D1D1F"/>
                </a:solidFill>
                <a:latin typeface="Inter"/>
                <a:cs typeface="Inter"/>
                <a:ea typeface="Inter"/>
              </a:rPr>
              <a:t>References</a:t>
            </a:r>
          </a:p>
        </p:txBody>
      </p:sp>
      <p:sp>
        <p:nvSpPr>
          <p:cNvPr id="9" name="TextBox 8"/>
          <p:cNvSpPr txBox="1"/>
          <p:nvPr/>
        </p:nvSpPr>
        <p:spPr>
          <a:xfrm>
            <a:off x="609904" y="1892807"/>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[1]</a:t>
            </a:r>
          </a:p>
        </p:txBody>
      </p:sp>
      <p:sp>
        <p:nvSpPr>
          <p:cNvPr id="10" name="TextBox 9"/>
          <p:cNvSpPr txBox="1"/>
          <p:nvPr/>
        </p:nvSpPr>
        <p:spPr>
          <a:xfrm>
            <a:off x="1249984" y="1874519"/>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Boehm, H., Atkinson, R., &amp; Plass, M. (1995). Ropes: An Alternative to Strings. Software: Practice and Experience, 25(12), 1315–1330.</a:t>
            </a:r>
          </a:p>
        </p:txBody>
      </p:sp>
      <p:sp>
        <p:nvSpPr>
          <p:cNvPr id="11" name="TextBox 10"/>
          <p:cNvSpPr txBox="1"/>
          <p:nvPr/>
        </p:nvSpPr>
        <p:spPr>
          <a:xfrm>
            <a:off x="609904" y="2377440"/>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[2]</a:t>
            </a:r>
          </a:p>
        </p:txBody>
      </p:sp>
      <p:sp>
        <p:nvSpPr>
          <p:cNvPr id="12" name="TextBox 11"/>
          <p:cNvSpPr txBox="1"/>
          <p:nvPr/>
        </p:nvSpPr>
        <p:spPr>
          <a:xfrm>
            <a:off x="1249984" y="2359152"/>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Crowley, C. (1998). Data Structures for Text Sequences. Department of Computer Science, University of New Mexico.</a:t>
            </a:r>
          </a:p>
        </p:txBody>
      </p:sp>
      <p:sp>
        <p:nvSpPr>
          <p:cNvPr id="13" name="TextBox 12"/>
          <p:cNvSpPr txBox="1"/>
          <p:nvPr/>
        </p:nvSpPr>
        <p:spPr>
          <a:xfrm>
            <a:off x="609904" y="2862072"/>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[3]</a:t>
            </a:r>
          </a:p>
        </p:txBody>
      </p:sp>
      <p:sp>
        <p:nvSpPr>
          <p:cNvPr id="14" name="TextBox 13"/>
          <p:cNvSpPr txBox="1"/>
          <p:nvPr/>
        </p:nvSpPr>
        <p:spPr>
          <a:xfrm>
            <a:off x="1249984" y="2843784"/>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Finseth, C. A. (1991). The Craft of Text Editing: Emacs for the Modern World. Springer-Verlag.</a:t>
            </a:r>
          </a:p>
        </p:txBody>
      </p:sp>
      <p:sp>
        <p:nvSpPr>
          <p:cNvPr id="15" name="TextBox 14"/>
          <p:cNvSpPr txBox="1"/>
          <p:nvPr/>
        </p:nvSpPr>
        <p:spPr>
          <a:xfrm>
            <a:off x="609904" y="3346704"/>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[4]</a:t>
            </a:r>
          </a:p>
        </p:txBody>
      </p:sp>
      <p:sp>
        <p:nvSpPr>
          <p:cNvPr id="16" name="TextBox 15"/>
          <p:cNvSpPr txBox="1"/>
          <p:nvPr/>
        </p:nvSpPr>
        <p:spPr>
          <a:xfrm>
            <a:off x="1249984" y="3328416"/>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Gamma, E., Helm, R., Johnson, R., &amp; Vlissides, J. (1994). Design Patterns: Elements of Reusable Object-Oriented Software. Addison-Wesley. — Command pattern.</a:t>
            </a:r>
          </a:p>
        </p:txBody>
      </p:sp>
      <p:sp>
        <p:nvSpPr>
          <p:cNvPr id="17" name="TextBox 16"/>
          <p:cNvSpPr txBox="1"/>
          <p:nvPr/>
        </p:nvSpPr>
        <p:spPr>
          <a:xfrm>
            <a:off x="609904" y="3831336"/>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[5]</a:t>
            </a:r>
          </a:p>
        </p:txBody>
      </p:sp>
      <p:sp>
        <p:nvSpPr>
          <p:cNvPr id="18" name="TextBox 17"/>
          <p:cNvSpPr txBox="1"/>
          <p:nvPr/>
        </p:nvSpPr>
        <p:spPr>
          <a:xfrm>
            <a:off x="1249984" y="3813048"/>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Lyu, P. (2018). Text Buffer Reimplementation. Visual Studio Code engineering blog, Microsoft.</a:t>
            </a:r>
          </a:p>
        </p:txBody>
      </p:sp>
      <p:sp>
        <p:nvSpPr>
          <p:cNvPr id="19" name="TextBox 18"/>
          <p:cNvSpPr txBox="1"/>
          <p:nvPr/>
        </p:nvSpPr>
        <p:spPr>
          <a:xfrm>
            <a:off x="609904" y="4315968"/>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[6]</a:t>
            </a:r>
          </a:p>
        </p:txBody>
      </p:sp>
      <p:sp>
        <p:nvSpPr>
          <p:cNvPr id="20" name="TextBox 19"/>
          <p:cNvSpPr txBox="1"/>
          <p:nvPr/>
        </p:nvSpPr>
        <p:spPr>
          <a:xfrm>
            <a:off x="1249984" y="4297680"/>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ISO/IEC 14882:2017. Programming languages — C++. International Organization for Standardization.</a:t>
            </a:r>
          </a:p>
        </p:txBody>
      </p:sp>
      <p:sp>
        <p:nvSpPr>
          <p:cNvPr id="21" name="TextBox 20"/>
          <p:cNvSpPr txBox="1"/>
          <p:nvPr/>
        </p:nvSpPr>
        <p:spPr>
          <a:xfrm>
            <a:off x="609904" y="4800600"/>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[7]</a:t>
            </a:r>
          </a:p>
        </p:txBody>
      </p:sp>
      <p:sp>
        <p:nvSpPr>
          <p:cNvPr id="22" name="TextBox 21"/>
          <p:cNvSpPr txBox="1"/>
          <p:nvPr/>
        </p:nvSpPr>
        <p:spPr>
          <a:xfrm>
            <a:off x="1249984" y="4782312"/>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The Qt Company. Qt 6 Documentation — QPainter, QWidget and QProcess class references.</a:t>
            </a:r>
          </a:p>
        </p:txBody>
      </p:sp>
      <p:sp>
        <p:nvSpPr>
          <p:cNvPr id="23" name="TextBox 22"/>
          <p:cNvSpPr txBox="1"/>
          <p:nvPr/>
        </p:nvSpPr>
        <p:spPr>
          <a:xfrm>
            <a:off x="609904" y="5285232"/>
            <a:ext cx="50292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[8]</a:t>
            </a:r>
          </a:p>
        </p:txBody>
      </p:sp>
      <p:sp>
        <p:nvSpPr>
          <p:cNvPr id="24" name="TextBox 23"/>
          <p:cNvSpPr txBox="1"/>
          <p:nvPr/>
        </p:nvSpPr>
        <p:spPr>
          <a:xfrm>
            <a:off x="1249984" y="5266944"/>
            <a:ext cx="10241280" cy="548640"/>
          </a:xfrm>
          <a:prstGeom prst="rect">
            <a:avLst/>
          </a:prstGeom>
          <a:noFill/>
        </p:spPr>
        <p:txBody>
          <a:bodyPr wrap="square" lIns="0" rIns="0" tIns="0" bIns="0" anchor="t">
            <a:noAutofit/>
          </a:bodyPr>
          <a:lstStyle/>
          <a:p>
            <a:pPr algn="l">
              <a:lnSpc>
                <a:spcPct val="138000"/>
              </a:lnSpc>
            </a:pPr>
            <a:r>
              <a:rPr sz="1300" b="0">
                <a:solidFill>
                  <a:srgbClr val="3A3A3C"/>
                </a:solidFill>
                <a:latin typeface="Inter"/>
                <a:cs typeface="Inter"/>
                <a:ea typeface="Inter"/>
              </a:rPr>
              <a:t>Aho, A. V., Lam, M. S., Sethi, R., &amp; Ullman, J. D. (2006). Compilers: Principles, Techniques, and Tools (2nd ed.). Pearson. — Lexical analysis, Ch. 3.</a:t>
            </a:r>
          </a:p>
        </p:txBody>
      </p:sp>
      <p:sp>
        <p:nvSpPr>
          <p:cNvPr id="25" name="TextBox 24"/>
          <p:cNvSpPr txBox="1"/>
          <p:nvPr/>
        </p:nvSpPr>
        <p:spPr>
          <a:xfrm>
            <a:off x="609904" y="5925312"/>
            <a:ext cx="10058400" cy="314325"/>
          </a:xfrm>
          <a:prstGeom prst="rect">
            <a:avLst/>
          </a:prstGeom>
          <a:noFill/>
        </p:spPr>
        <p:txBody>
          <a:bodyPr wrap="none" lIns="0" rIns="0" tIns="0" bIns="0" anchor="t">
            <a:noAutofit/>
          </a:bodyPr>
          <a:lstStyle/>
          <a:p>
            <a:pPr algn="l">
              <a:lnSpc>
                <a:spcPct val="135000"/>
              </a:lnSpc>
            </a:pPr>
            <a:r>
              <a:rPr sz="1300" b="0">
                <a:solidFill>
                  <a:srgbClr val="A1A1A6"/>
                </a:solidFill>
                <a:latin typeface="JetBrains Mono"/>
                <a:cs typeface="JetBrains Mono"/>
                <a:ea typeface="JetBrains Mono"/>
              </a:rPr>
              <a:t>// [1][2][8] shaped the buffer and lexer  ·  [4] the undo engine  ·  [5] the comparison on slide 04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450">
        <p159:morph option="byObject"/>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BEBED"/>
        </a:solidFill>
        <a:effectLst/>
      </p:bgPr>
    </p:bg>
    <p:spTree>
      <p:nvGrpSpPr>
        <p:cNvPr id="1" name=""/>
        <p:cNvGrpSpPr/>
        <p:nvPr/>
      </p:nvGrpSpPr>
      <p:grpSpPr/>
      <p:pic>
        <p:nvPicPr>
          <p:cNvPr id="2" name="!!logo" descr="niet_logo.png"/>
          <p:cNvPicPr>
            <a:picLocks noChangeAspect="1"/>
          </p:cNvPicPr>
          <p:nvPr/>
        </p:nvPicPr>
        <p:blipFill>
          <a:blip r:embed="rId2"/>
          <a:stretch>
            <a:fillRect/>
          </a:stretch>
        </p:blipFill>
        <p:spPr>
          <a:xfrm>
            <a:off x="10622987" y="374904"/>
            <a:ext cx="959717" cy="365760"/>
          </a:xfrm>
          <a:prstGeom prst="rect">
            <a:avLst/>
          </a:prstGeom>
        </p:spPr>
      </p:pic>
      <p:sp>
        <p:nvSpPr>
          <p:cNvPr id="3" name="TextBox 2"/>
          <p:cNvSpPr txBox="1"/>
          <p:nvPr/>
        </p:nvSpPr>
        <p:spPr>
          <a:xfrm>
            <a:off x="609904" y="457200"/>
            <a:ext cx="5486400" cy="297180"/>
          </a:xfrm>
          <a:prstGeom prst="rect">
            <a:avLst/>
          </a:prstGeom>
          <a:noFill/>
        </p:spPr>
        <p:txBody>
          <a:bodyPr wrap="none" lIns="0" rIns="0" tIns="0" bIns="0" anchor="t">
            <a:noAutofit/>
          </a:bodyPr>
          <a:lstStyle/>
          <a:p>
            <a:pPr algn="l">
              <a:lnSpc>
                <a:spcPct val="135000"/>
              </a:lnSpc>
            </a:pPr>
            <a:r>
              <a:rPr sz="1200" b="0">
                <a:solidFill>
                  <a:srgbClr val="A1A1A6"/>
                </a:solidFill>
                <a:latin typeface="JetBrains Mono"/>
                <a:cs typeface="JetBrains Mono"/>
                <a:ea typeface="JetBrains Mono"/>
              </a:rPr>
              <a:t>capstone  ·  b.tech aiml  ·  2026</a:t>
            </a:r>
          </a:p>
        </p:txBody>
      </p:sp>
      <p:sp>
        <p:nvSpPr>
          <p:cNvPr id="4" name="Rectangle 3"/>
          <p:cNvSpPr/>
          <p:nvPr/>
        </p:nvSpPr>
        <p:spPr>
          <a:xfrm>
            <a:off x="609904" y="630936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925104" y="6455664"/>
            <a:ext cx="3657600" cy="297180"/>
          </a:xfrm>
          <a:prstGeom prst="rect">
            <a:avLst/>
          </a:prstGeom>
          <a:noFill/>
        </p:spPr>
        <p:txBody>
          <a:bodyPr wrap="none" lIns="0" rIns="0" tIns="0" bIns="0" anchor="t">
            <a:noAutofit/>
          </a:bodyPr>
          <a:lstStyle/>
          <a:p>
            <a:pPr algn="r">
              <a:lnSpc>
                <a:spcPct val="135000"/>
              </a:lnSpc>
            </a:pPr>
            <a:r>
              <a:rPr sz="1200" b="0">
                <a:solidFill>
                  <a:srgbClr val="A1A1A6"/>
                </a:solidFill>
                <a:latin typeface="JetBrains Mono"/>
                <a:cs typeface="JetBrains Mono"/>
                <a:ea typeface="JetBrains Mono"/>
              </a:rPr>
              <a:t>17 / 17      0 errors</a:t>
            </a:r>
          </a:p>
        </p:txBody>
      </p:sp>
      <p:sp>
        <p:nvSpPr>
          <p:cNvPr id="6" name="!!wordmark"/>
          <p:cNvSpPr txBox="1"/>
          <p:nvPr/>
        </p:nvSpPr>
        <p:spPr>
          <a:xfrm>
            <a:off x="609904" y="1280160"/>
            <a:ext cx="7772400" cy="1097280"/>
          </a:xfrm>
          <a:prstGeom prst="rect">
            <a:avLst/>
          </a:prstGeom>
          <a:noFill/>
        </p:spPr>
        <p:txBody>
          <a:bodyPr wrap="none" lIns="0" rIns="0" tIns="0" bIns="0" anchor="t">
            <a:noAutofit/>
          </a:bodyPr>
          <a:lstStyle/>
          <a:p>
            <a:pPr algn="l">
              <a:lnSpc>
                <a:spcPct val="100000"/>
              </a:lnSpc>
            </a:pPr>
            <a:r>
              <a:rPr sz="7200" b="1">
                <a:solidFill>
                  <a:srgbClr val="1D1D1F"/>
                </a:solidFill>
                <a:latin typeface="JetBrains Mono"/>
                <a:cs typeface="JetBrains Mono"/>
                <a:ea typeface="JetBrains Mono"/>
              </a:rPr>
              <a:t>VALENCE</a:t>
            </a:r>
          </a:p>
        </p:txBody>
      </p:sp>
      <p:sp>
        <p:nvSpPr>
          <p:cNvPr id="7" name="TextBox 6"/>
          <p:cNvSpPr txBox="1"/>
          <p:nvPr/>
        </p:nvSpPr>
        <p:spPr>
          <a:xfrm>
            <a:off x="609904" y="2788920"/>
            <a:ext cx="7315200" cy="685800"/>
          </a:xfrm>
          <a:prstGeom prst="rect">
            <a:avLst/>
          </a:prstGeom>
          <a:noFill/>
        </p:spPr>
        <p:txBody>
          <a:bodyPr wrap="none" lIns="0" rIns="0" tIns="0" bIns="0" anchor="t">
            <a:noAutofit/>
          </a:bodyPr>
          <a:lstStyle/>
          <a:p>
            <a:pPr algn="l">
              <a:lnSpc>
                <a:spcPct val="100000"/>
              </a:lnSpc>
            </a:pPr>
            <a:r>
              <a:rPr sz="4400" b="0">
                <a:solidFill>
                  <a:srgbClr val="1D1D1F"/>
                </a:solidFill>
                <a:latin typeface="Inter"/>
                <a:cs typeface="Inter"/>
                <a:ea typeface="Inter"/>
              </a:rPr>
              <a:t>Thank you.</a:t>
            </a:r>
          </a:p>
        </p:txBody>
      </p:sp>
      <p:sp>
        <p:nvSpPr>
          <p:cNvPr id="8" name="Rectangle 7"/>
          <p:cNvSpPr/>
          <p:nvPr/>
        </p:nvSpPr>
        <p:spPr>
          <a:xfrm>
            <a:off x="609904" y="3840480"/>
            <a:ext cx="10972800" cy="6858"/>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904" y="4114800"/>
            <a:ext cx="5486400" cy="1122680"/>
          </a:xfrm>
          <a:prstGeom prst="rect">
            <a:avLst/>
          </a:prstGeom>
          <a:noFill/>
        </p:spPr>
        <p:txBody>
          <a:bodyPr wrap="none" lIns="0" rIns="0" tIns="0" bIns="0" anchor="t">
            <a:noAutofit/>
          </a:bodyPr>
          <a:lstStyle/>
          <a:p>
            <a:pPr algn="l">
              <a:lnSpc>
                <a:spcPct val="145000"/>
              </a:lnSpc>
            </a:pPr>
            <a:r>
              <a:rPr sz="1400" b="0">
                <a:solidFill>
                  <a:srgbClr val="A1A1A6"/>
                </a:solidFill>
                <a:latin typeface="JetBrains Mono"/>
                <a:cs typeface="JetBrains Mono"/>
                <a:ea typeface="JetBrains Mono"/>
              </a:rPr>
              <a:t>author    </a:t>
            </a:r>
            <a:r>
              <a:rPr sz="1400" b="0">
                <a:solidFill>
                  <a:srgbClr val="1D1D1F"/>
                </a:solidFill>
                <a:latin typeface="JetBrains Mono"/>
                <a:cs typeface="JetBrains Mono"/>
                <a:ea typeface="JetBrains Mono"/>
              </a:rPr>
              <a:t>Sudhanshu Shukla</a:t>
            </a:r>
          </a:p>
          <a:p>
            <a:pPr algn="l">
              <a:lnSpc>
                <a:spcPct val="145000"/>
              </a:lnSpc>
            </a:pPr>
            <a:r>
              <a:rPr sz="1400" b="0">
                <a:solidFill>
                  <a:srgbClr val="A1A1A6"/>
                </a:solidFill>
                <a:latin typeface="JetBrains Mono"/>
                <a:cs typeface="JetBrains Mono"/>
                <a:ea typeface="JetBrains Mono"/>
              </a:rPr>
              <a:t>roll_no   </a:t>
            </a:r>
            <a:r>
              <a:rPr sz="1400" b="0">
                <a:solidFill>
                  <a:srgbClr val="1D1D1F"/>
                </a:solidFill>
                <a:latin typeface="JetBrains Mono"/>
                <a:cs typeface="JetBrains Mono"/>
                <a:ea typeface="JetBrains Mono"/>
              </a:rPr>
              <a:t>2301331530176</a:t>
            </a:r>
          </a:p>
          <a:p>
            <a:pPr algn="l">
              <a:lnSpc>
                <a:spcPct val="145000"/>
              </a:lnSpc>
            </a:pPr>
            <a:r>
              <a:rPr sz="1400" b="0">
                <a:solidFill>
                  <a:srgbClr val="A1A1A6"/>
                </a:solidFill>
                <a:latin typeface="JetBrains Mono"/>
                <a:cs typeface="JetBrains Mono"/>
                <a:ea typeface="JetBrains Mono"/>
              </a:rPr>
              <a:t>branch    </a:t>
            </a:r>
            <a:r>
              <a:rPr sz="1400" b="0">
                <a:solidFill>
                  <a:srgbClr val="1D1D1F"/>
                </a:solidFill>
                <a:latin typeface="JetBrains Mono"/>
                <a:cs typeface="JetBrains Mono"/>
                <a:ea typeface="JetBrains Mono"/>
              </a:rPr>
              <a:t>AIML C</a:t>
            </a:r>
          </a:p>
          <a:p>
            <a:pPr algn="l">
              <a:lnSpc>
                <a:spcPct val="145000"/>
              </a:lnSpc>
            </a:pPr>
            <a:r>
              <a:rPr sz="1400" b="0">
                <a:solidFill>
                  <a:srgbClr val="A1A1A6"/>
                </a:solidFill>
                <a:latin typeface="JetBrains Mono"/>
                <a:cs typeface="JetBrains Mono"/>
                <a:ea typeface="JetBrains Mono"/>
              </a:rPr>
              <a:t>mentor    </a:t>
            </a:r>
            <a:r>
              <a:rPr sz="1400" b="0">
                <a:solidFill>
                  <a:srgbClr val="1D1D1F"/>
                </a:solidFill>
                <a:latin typeface="JetBrains Mono"/>
                <a:cs typeface="JetBrains Mono"/>
                <a:ea typeface="JetBrains Mono"/>
              </a:rPr>
              <a:t>Mr. Faizan Ahmad</a:t>
            </a:r>
          </a:p>
        </p:txBody>
      </p:sp>
      <p:sp>
        <p:nvSpPr>
          <p:cNvPr id="10" name="TextBox 9"/>
          <p:cNvSpPr txBox="1"/>
          <p:nvPr/>
        </p:nvSpPr>
        <p:spPr>
          <a:xfrm>
            <a:off x="7010704" y="4114800"/>
            <a:ext cx="4572000" cy="502920"/>
          </a:xfrm>
          <a:prstGeom prst="rect">
            <a:avLst/>
          </a:prstGeom>
          <a:noFill/>
        </p:spPr>
        <p:txBody>
          <a:bodyPr wrap="none" lIns="0" rIns="0" tIns="0" bIns="0" anchor="t">
            <a:noAutofit/>
          </a:bodyPr>
          <a:lstStyle/>
          <a:p>
            <a:pPr algn="r">
              <a:lnSpc>
                <a:spcPct val="100000"/>
              </a:lnSpc>
            </a:pPr>
            <a:r>
              <a:rPr sz="2800" b="0">
                <a:solidFill>
                  <a:srgbClr val="6E6E73"/>
                </a:solidFill>
                <a:latin typeface="Inter"/>
                <a:cs typeface="Inter"/>
                <a:ea typeface="Inter"/>
              </a:rPr>
              <a:t>Questions.</a:t>
            </a:r>
          </a:p>
        </p:txBody>
      </p:sp>
      <p:sp>
        <p:nvSpPr>
          <p:cNvPr id="11" name="TextBox 10"/>
          <p:cNvSpPr txBox="1"/>
          <p:nvPr/>
        </p:nvSpPr>
        <p:spPr>
          <a:xfrm>
            <a:off x="7010704" y="4736592"/>
            <a:ext cx="4572000" cy="834390"/>
          </a:xfrm>
          <a:prstGeom prst="rect">
            <a:avLst/>
          </a:prstGeom>
          <a:noFill/>
        </p:spPr>
        <p:txBody>
          <a:bodyPr wrap="none" lIns="0" rIns="0" tIns="0" bIns="0" anchor="t">
            <a:noAutofit/>
          </a:bodyPr>
          <a:lstStyle/>
          <a:p>
            <a:pPr algn="r">
              <a:lnSpc>
                <a:spcPct val="150000"/>
              </a:lnSpc>
            </a:pPr>
            <a:r>
              <a:rPr sz="1300" b="0">
                <a:solidFill>
                  <a:srgbClr val="A1A1A6"/>
                </a:solidFill>
                <a:latin typeface="JetBrains Mono"/>
                <a:cs typeface="JetBrains Mono"/>
                <a:ea typeface="JetBrains Mono"/>
              </a:rPr>
              <a:t>ask me about the buffer choice,</a:t>
            </a:r>
          </a:p>
          <a:p>
            <a:pPr algn="r">
              <a:lnSpc>
                <a:spcPct val="150000"/>
              </a:lnSpc>
            </a:pPr>
            <a:r>
              <a:rPr sz="1300" b="0">
                <a:solidFill>
                  <a:srgbClr val="A1A1A6"/>
                </a:solidFill>
                <a:latin typeface="JetBrains Mono"/>
                <a:cs typeface="JetBrains Mono"/>
                <a:ea typeface="JetBrains Mono"/>
              </a:rPr>
              <a:t>the 400 ms undo window,</a:t>
            </a:r>
          </a:p>
          <a:p>
            <a:pPr algn="r">
              <a:lnSpc>
                <a:spcPct val="150000"/>
              </a:lnSpc>
            </a:pPr>
            <a:r>
              <a:rPr sz="1300" b="0">
                <a:solidFill>
                  <a:srgbClr val="A1A1A6"/>
                </a:solidFill>
                <a:latin typeface="JetBrains Mono"/>
                <a:cs typeface="JetBrains Mono"/>
                <a:ea typeface="JetBrains Mono"/>
              </a:rPr>
              <a:t>or the QAction recursion bug</a:t>
            </a:r>
          </a:p>
        </p:txBody>
      </p:sp>
      <p:sp>
        <p:nvSpPr>
          <p:cNvPr id="12" name="TextBox 11"/>
          <p:cNvSpPr txBox="1"/>
          <p:nvPr/>
        </p:nvSpPr>
        <p:spPr>
          <a:xfrm>
            <a:off x="609904" y="5852160"/>
            <a:ext cx="5486400" cy="331470"/>
          </a:xfrm>
          <a:prstGeom prst="rect">
            <a:avLst/>
          </a:prstGeom>
          <a:noFill/>
        </p:spPr>
        <p:txBody>
          <a:bodyPr wrap="none" lIns="0" rIns="0" tIns="0" bIns="0" anchor="t">
            <a:noAutofit/>
          </a:bodyPr>
          <a:lstStyle/>
          <a:p>
            <a:pPr algn="l">
              <a:lnSpc>
                <a:spcPct val="135000"/>
              </a:lnSpc>
            </a:pPr>
            <a:r>
              <a:rPr sz="1400" b="0">
                <a:solidFill>
                  <a:srgbClr val="6E6E73"/>
                </a:solidFill>
                <a:latin typeface="JetBrains Mono"/>
                <a:cs typeface="JetBrains Mono"/>
                <a:ea typeface="JetBrains Mono"/>
              </a:rPr>
              <a:t>$ </a:t>
            </a:r>
            <a:r>
              <a:rPr sz="1400" b="0">
                <a:solidFill>
                  <a:srgbClr val="6E6E73"/>
                </a:solidFill>
                <a:latin typeface="JetBrains Mono"/>
                <a:cs typeface="JetBrains Mono"/>
                <a:ea typeface="JetBrains Mono"/>
              </a:rPr>
              <a:t>./valence</a:t>
            </a:r>
            <a:r>
              <a:rPr sz="1400" b="1">
                <a:solidFill>
                  <a:srgbClr val="146B2C"/>
                </a:solidFill>
                <a:latin typeface="JetBrains Mono"/>
                <a:cs typeface="JetBrains Mono"/>
                <a:ea typeface="JetBrains Mono"/>
              </a:rPr>
              <a:t>        exit 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